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8" r:id="rId19"/>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Synthetic data (~20% churn)</c:v>
                </c:pt>
              </c:strCache>
            </c:strRef>
          </c:tx>
          <c:spPr>
            <a:solidFill>
              <a:srgbClr val="5A6372"/>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Sheet1!$B$2:$B$3</c:f>
              <c:numCache>
                <c:formatCode>General</c:formatCode>
                <c:ptCount val="2"/>
                <c:pt idx="0">
                  <c:v>0.674</c:v>
                </c:pt>
                <c:pt idx="1">
                  <c:v>0.345</c:v>
                </c:pt>
              </c:numCache>
            </c:numRef>
          </c:val>
        </c:ser>
        <c:ser>
          <c:idx val="1"/>
          <c:order val="1"/>
          <c:tx>
            <c:strRef>
              <c:f>Sheet1!$C$1</c:f>
              <c:strCache>
                <c:ptCount val="1"/>
                <c:pt idx="0">
                  <c:v>Real KKBox (1.5% churn)</c:v>
                </c:pt>
              </c:strCache>
            </c:strRef>
          </c:tx>
          <c:spPr>
            <a:solidFill>
              <a:srgbClr val="3ED6C0"/>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Sheet1!$C$2:$C$3</c:f>
              <c:numCache>
                <c:formatCode>General</c:formatCode>
                <c:ptCount val="2"/>
                <c:pt idx="0">
                  <c:v>0.835</c:v>
                </c:pt>
                <c:pt idx="1">
                  <c:v>0.073</c:v>
                </c:pt>
              </c:numCache>
            </c:numRef>
          </c:val>
        </c:ser>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F4F6F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22272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396"/>
                </a:solidFill>
                <a:latin typeface="Arial"/>
              </a:defRPr>
            </a:pPr>
            <a:endParaRPr lang="en-US"/>
          </a:p>
        </c:txPr>
        <c:crossAx val="2094734554"/>
        <c:crosses val="autoZero"/>
        <c:crossBetween val="between"/>
      </c:valAx>
      <c:spPr>
        <a:solidFill>
          <a:srgbClr val="08090B"/>
        </a:solidFill>
        <a:ln>
          <a:noFill/>
        </a:ln>
        <a:effectLst/>
      </c:spPr>
    </c:plotArea>
    <c:legend>
      <c:legendPos val="b"/>
      <c:overlay val="0"/>
      <c:txPr>
        <a:bodyPr/>
        <a:lstStyle/>
        <a:p>
          <a:pPr>
            <a:defRPr sz="1300">
              <a:solidFill>
                <a:srgbClr val="A9B2B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Subscription businesses lose revenue when people cancel. If you can spot who is about to cancel, you can act while they are still a customer. This system predicts that for a real music-streaming service - but the model is a small part. Most of the work is what keeps a model trustworthy in production: that is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about 1.5% of subscribers cancel in a 30-day window, so a model that says nobody churns is 98.5% accurate and useless. That single fact drives the metric choices later. The system has three jobs: predict, explain, operate.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raw data is validated and cleaned into a Postgres warehouse; point-in-time features train a model that only reaches production through a PR-AUC gate in the MLflow registry; the champion serves through an API and a Kafka stream scorer; Prometheus, Alertmanager and Grafana watch it. Prefect runs the nightly pipeline and GitHub Actions tests and publishes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TablePlus: query 1 (82.8M rows), the subscribers table (44-character anonymised IDs), query 4 (one subscriber's full history, instant thanks to indexes), query 5 (the cleaning log). The key decision: 2.66 million transactions belonged to subscribers missing from the members file, and they were dropped rather than given invented signup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cutoff date T, features use only the 30 days before T; the label is whether the subscriber cancels in the 30 days after. The windows never overlap, so the model cannot see the answer. The split is by time, never random: a random split mixes the future into training and measures memory rather than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moment of the talk. When the project moved from synthetic data to real KKBox data, ROC-AUC went up from 0.674 to 0.835 while PR-AUC fell from 0.345 to 0.073. ROC-AUC would have said things improved when the problem had become much harder. That is why the promotion gate uses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MLflow: Model training, Experiments, subscriber-dropout, the latest run; then Models, subscriber-dropout-classifier. The live model is whichever version holds the @champion alias. A new model is only promoted if it beats the champion on PR-AUC by at least 0.005 - the margin stops near-identical models swapping on noise. CI proves an identical challenger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Score tab: it has already scored the at-risk example at 60%, high risk. Point at the SHAP drivers, then at What would change it. Click Healthy, then Borderline, and let it re-score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Monitoring tab: the drift test has already run and ranks exactly the two shifted features. Then Grafana: model loaded, traffic, drift verdict STABLE from a real check on Feb 2017 data. Raise the fairness failure yourself before anyone asks. Then Prometheus alerts: FairnessDisparity is firing,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GitHub Actions page and click into the latest green run. Beyond unit tests, CI proves the system behaves: it trains on SQLite and on Postgres, runs the pipeline twice and checks nothing changes, checks an identical challenger is rejected, injects drift and checks it is detected, sends broken messages to the streaming scorer, and on main publishes the image to GitHub's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the first to say the model is modest: about 5 times better than guessing, because the data lacks strong signals. The fairness audit fails for one plan. The cost numbers are placeholders - the audit prefers 0.43, the served 0.05 is the best F1 on validation. And it runs locally, not on a public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briefly, then invite questions: happy to go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dashboard Overview. Click Run 1 Jan 2017 and talk over the stages as they light up; point at Go live and the header, which now names the live model. Then Run 31 Jan 2017: rejected by the gate. Run 28 Feb 2017 after showing MLflow. Press Restore before the Score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463040"/>
            <a:ext cx="9144000" cy="320040"/>
          </a:xfrm>
          <a:prstGeom prst="rect">
            <a:avLst/>
          </a:prstGeom>
          <a:noFill/>
          <a:ln/>
        </p:spPr>
        <p:txBody>
          <a:bodyPr wrap="square" lIns="0" tIns="0" rIns="0" bIns="0" rtlCol="0" anchor="ctr"/>
          <a:lstStyle/>
          <a:p>
            <a:pPr indent="0" marL="0">
              <a:buNone/>
            </a:pPr>
            <a:r>
              <a:rPr lang="en-US" sz="1300" b="1" spc="400" kern="0" dirty="0">
                <a:solidFill>
                  <a:srgbClr val="3ED6C0"/>
                </a:solidFill>
                <a:latin typeface="Arial" pitchFamily="34" charset="0"/>
                <a:ea typeface="Arial" pitchFamily="34" charset="-122"/>
                <a:cs typeface="Arial" pitchFamily="34" charset="-120"/>
              </a:rPr>
              <a:t>MLOPS · CHURN PREDICTION · REAL DATA</a:t>
            </a:r>
            <a:endParaRPr lang="en-US" sz="1300" dirty="0"/>
          </a:p>
        </p:txBody>
      </p:sp>
      <p:sp>
        <p:nvSpPr>
          <p:cNvPr id="3" name="Text 1"/>
          <p:cNvSpPr txBox="1"/>
          <p:nvPr/>
        </p:nvSpPr>
        <p:spPr>
          <a:xfrm>
            <a:off x="548640" y="1874520"/>
            <a:ext cx="10972800" cy="118872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Subscriber Dropout Detection</a:t>
            </a:r>
            <a:endParaRPr lang="en-US" sz="5400" dirty="0"/>
          </a:p>
        </p:txBody>
      </p:sp>
      <p:sp>
        <p:nvSpPr>
          <p:cNvPr id="4" name="Text 2"/>
          <p:cNvSpPr txBox="1"/>
          <p:nvPr/>
        </p:nvSpPr>
        <p:spPr>
          <a:xfrm>
            <a:off x="548640" y="3154680"/>
            <a:ext cx="8412480" cy="914400"/>
          </a:xfrm>
          <a:prstGeom prst="rect">
            <a:avLst/>
          </a:prstGeom>
          <a:noFill/>
          <a:ln/>
        </p:spPr>
        <p:txBody>
          <a:bodyPr wrap="square" lIns="0" tIns="0" rIns="0" bIns="0" rtlCol="0" anchor="ctr"/>
          <a:lstStyle/>
          <a:p>
            <a:pPr indent="0" marL="0">
              <a:buNone/>
            </a:pPr>
            <a:r>
              <a:rPr lang="en-US" sz="2000" dirty="0">
                <a:solidFill>
                  <a:srgbClr val="A9B2BE"/>
                </a:solidFill>
                <a:latin typeface="Arial" pitchFamily="34" charset="0"/>
                <a:ea typeface="Arial" pitchFamily="34" charset="-122"/>
                <a:cs typeface="Arial" pitchFamily="34" charset="-120"/>
              </a:rPr>
              <a:t>A system that predicts which subscribers are about to cancel, explains why, and keeps itself honest in production.</a:t>
            </a:r>
            <a:endParaRPr lang="en-US" sz="2000" dirty="0"/>
          </a:p>
        </p:txBody>
      </p:sp>
      <p:sp>
        <p:nvSpPr>
          <p:cNvPr id="5" name="Text 3"/>
          <p:cNvSpPr txBox="1"/>
          <p:nvPr/>
        </p:nvSpPr>
        <p:spPr>
          <a:xfrm>
            <a:off x="54864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82.8M</a:t>
            </a:r>
            <a:endParaRPr lang="en-US" sz="3600" dirty="0"/>
          </a:p>
        </p:txBody>
      </p:sp>
      <p:sp>
        <p:nvSpPr>
          <p:cNvPr id="6" name="Text 4"/>
          <p:cNvSpPr txBox="1"/>
          <p:nvPr/>
        </p:nvSpPr>
        <p:spPr>
          <a:xfrm>
            <a:off x="54864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events in a Postgres warehouse</a:t>
            </a:r>
            <a:endParaRPr lang="en-US" sz="1300" dirty="0"/>
          </a:p>
        </p:txBody>
      </p:sp>
      <p:sp>
        <p:nvSpPr>
          <p:cNvPr id="7" name="Text 5"/>
          <p:cNvSpPr txBox="1"/>
          <p:nvPr/>
        </p:nvSpPr>
        <p:spPr>
          <a:xfrm>
            <a:off x="365760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a:t>
            </a:r>
            <a:endParaRPr lang="en-US" sz="3600" dirty="0"/>
          </a:p>
        </p:txBody>
      </p:sp>
      <p:sp>
        <p:nvSpPr>
          <p:cNvPr id="8" name="Text 6"/>
          <p:cNvSpPr txBox="1"/>
          <p:nvPr/>
        </p:nvSpPr>
        <p:spPr>
          <a:xfrm>
            <a:off x="365760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services, one command</a:t>
            </a:r>
            <a:endParaRPr lang="en-US" sz="1300" dirty="0"/>
          </a:p>
        </p:txBody>
      </p:sp>
      <p:sp>
        <p:nvSpPr>
          <p:cNvPr id="9" name="Text 7"/>
          <p:cNvSpPr txBox="1"/>
          <p:nvPr/>
        </p:nvSpPr>
        <p:spPr>
          <a:xfrm>
            <a:off x="676656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456</a:t>
            </a:r>
            <a:endParaRPr lang="en-US" sz="3600" dirty="0"/>
          </a:p>
        </p:txBody>
      </p:sp>
      <p:sp>
        <p:nvSpPr>
          <p:cNvPr id="10" name="Text 8"/>
          <p:cNvSpPr txBox="1"/>
          <p:nvPr/>
        </p:nvSpPr>
        <p:spPr>
          <a:xfrm>
            <a:off x="676656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tests · 7 CI/CD jobs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Why this is hard: churn is rare</a:t>
            </a:r>
            <a:endParaRPr lang="en-US" sz="3200" dirty="0"/>
          </a:p>
        </p:txBody>
      </p:sp>
      <p:sp>
        <p:nvSpPr>
          <p:cNvPr id="4" name="Shape 2"/>
          <p:cNvSpPr/>
          <p:nvPr/>
        </p:nvSpPr>
        <p:spPr>
          <a:xfrm>
            <a:off x="548640" y="1737360"/>
            <a:ext cx="5120640" cy="4480560"/>
          </a:xfrm>
          <a:prstGeom prst="roundRect">
            <a:avLst>
              <a:gd name="adj" fmla="val 244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920240"/>
            <a:ext cx="4389120" cy="868680"/>
          </a:xfrm>
          <a:prstGeom prst="rect">
            <a:avLst/>
          </a:prstGeom>
          <a:noFill/>
          <a:ln/>
        </p:spPr>
        <p:txBody>
          <a:bodyPr wrap="square" lIns="0" tIns="0" rIns="0" bIns="0" rtlCol="0" anchor="b"/>
          <a:lstStyle/>
          <a:p>
            <a:pPr indent="0" marL="0">
              <a:buNone/>
            </a:pPr>
            <a:r>
              <a:rPr lang="en-US" sz="4800" dirty="0">
                <a:solidFill>
                  <a:srgbClr val="FF6A5A"/>
                </a:solidFill>
                <a:latin typeface="Georgia" pitchFamily="34" charset="0"/>
                <a:ea typeface="Georgia" pitchFamily="34" charset="-122"/>
                <a:cs typeface="Georgia" pitchFamily="34" charset="-120"/>
              </a:rPr>
              <a:t>1.5%</a:t>
            </a:r>
            <a:endParaRPr lang="en-US" sz="4800" dirty="0"/>
          </a:p>
        </p:txBody>
      </p:sp>
      <p:sp>
        <p:nvSpPr>
          <p:cNvPr id="6" name="Text 4"/>
          <p:cNvSpPr txBox="1"/>
          <p:nvPr/>
        </p:nvSpPr>
        <p:spPr>
          <a:xfrm>
            <a:off x="914400" y="283464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subscribers cancel in any 30-day window</a:t>
            </a:r>
            <a:endParaRPr lang="en-US" sz="1300" dirty="0"/>
          </a:p>
        </p:txBody>
      </p:sp>
      <p:sp>
        <p:nvSpPr>
          <p:cNvPr id="7" name="Text 5"/>
          <p:cNvSpPr txBox="1"/>
          <p:nvPr/>
        </p:nvSpPr>
        <p:spPr>
          <a:xfrm>
            <a:off x="914400" y="3840480"/>
            <a:ext cx="438912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98.5%</a:t>
            </a:r>
            <a:endParaRPr lang="en-US" sz="4800" dirty="0"/>
          </a:p>
        </p:txBody>
      </p:sp>
      <p:sp>
        <p:nvSpPr>
          <p:cNvPr id="8" name="Text 6"/>
          <p:cNvSpPr txBox="1"/>
          <p:nvPr/>
        </p:nvSpPr>
        <p:spPr>
          <a:xfrm>
            <a:off x="914400" y="475488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accuracy from a "model" that says nobody ever churns. Accuracy is useless here.</a:t>
            </a:r>
            <a:endParaRPr lang="en-US" sz="1300" dirty="0"/>
          </a:p>
        </p:txBody>
      </p:sp>
      <p:sp>
        <p:nvSpPr>
          <p:cNvPr id="9" name="Shape 7"/>
          <p:cNvSpPr/>
          <p:nvPr/>
        </p:nvSpPr>
        <p:spPr>
          <a:xfrm>
            <a:off x="6400800" y="1828800"/>
            <a:ext cx="420624" cy="420624"/>
          </a:xfrm>
          <a:prstGeom prst="ellipse">
            <a:avLst/>
          </a:prstGeom>
          <a:solidFill>
            <a:srgbClr val="123F3A"/>
          </a:solidFill>
          <a:ln w="15875">
            <a:solidFill>
              <a:srgbClr val="3ED6C0"/>
            </a:solidFill>
            <a:prstDash val="solid"/>
          </a:ln>
        </p:spPr>
      </p:sp>
      <p:sp>
        <p:nvSpPr>
          <p:cNvPr id="10" name="Text 8"/>
          <p:cNvSpPr txBox="1"/>
          <p:nvPr/>
        </p:nvSpPr>
        <p:spPr>
          <a:xfrm>
            <a:off x="6400800" y="182880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7040880" y="178308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Predict</a:t>
            </a:r>
            <a:endParaRPr lang="en-US" sz="2200" dirty="0"/>
          </a:p>
        </p:txBody>
      </p:sp>
      <p:sp>
        <p:nvSpPr>
          <p:cNvPr id="12" name="Text 10"/>
          <p:cNvSpPr txBox="1"/>
          <p:nvPr/>
        </p:nvSpPr>
        <p:spPr>
          <a:xfrm>
            <a:off x="7040880" y="224028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the probability each subscriber cancels in the next 30 days</a:t>
            </a:r>
            <a:endParaRPr lang="en-US" sz="1500" dirty="0"/>
          </a:p>
        </p:txBody>
      </p:sp>
      <p:sp>
        <p:nvSpPr>
          <p:cNvPr id="13" name="Shape 11"/>
          <p:cNvSpPr/>
          <p:nvPr/>
        </p:nvSpPr>
        <p:spPr>
          <a:xfrm>
            <a:off x="6400800" y="3246120"/>
            <a:ext cx="420624" cy="420624"/>
          </a:xfrm>
          <a:prstGeom prst="ellipse">
            <a:avLst/>
          </a:prstGeom>
          <a:solidFill>
            <a:srgbClr val="123F3A"/>
          </a:solidFill>
          <a:ln w="15875">
            <a:solidFill>
              <a:srgbClr val="3ED6C0"/>
            </a:solidFill>
            <a:prstDash val="solid"/>
          </a:ln>
        </p:spPr>
      </p:sp>
      <p:sp>
        <p:nvSpPr>
          <p:cNvPr id="14" name="Text 12"/>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7040880" y="320040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Explain</a:t>
            </a:r>
            <a:endParaRPr lang="en-US" sz="2200" dirty="0"/>
          </a:p>
        </p:txBody>
      </p:sp>
      <p:sp>
        <p:nvSpPr>
          <p:cNvPr id="16" name="Text 14"/>
          <p:cNvSpPr txBox="1"/>
          <p:nvPr/>
        </p:nvSpPr>
        <p:spPr>
          <a:xfrm>
            <a:off x="7040880" y="365760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why, per subscriber, with numbers that add up to the prediction</a:t>
            </a:r>
            <a:endParaRPr lang="en-US" sz="1500" dirty="0"/>
          </a:p>
        </p:txBody>
      </p:sp>
      <p:sp>
        <p:nvSpPr>
          <p:cNvPr id="17" name="Shape 15"/>
          <p:cNvSpPr/>
          <p:nvPr/>
        </p:nvSpPr>
        <p:spPr>
          <a:xfrm>
            <a:off x="6400800" y="466344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00800" y="466344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7040880" y="461772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Operate</a:t>
            </a:r>
            <a:endParaRPr lang="en-US" sz="2200" dirty="0"/>
          </a:p>
        </p:txBody>
      </p:sp>
      <p:sp>
        <p:nvSpPr>
          <p:cNvPr id="20" name="Text 18"/>
          <p:cNvSpPr txBox="1"/>
          <p:nvPr/>
        </p:nvSpPr>
        <p:spPr>
          <a:xfrm>
            <a:off x="7040880" y="507492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serve it, monitor it, retrain it, and refuse worse models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ARCHITECTURE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Four stages, one pipeline</a:t>
            </a:r>
            <a:endParaRPr lang="en-US" sz="3200" dirty="0"/>
          </a:p>
        </p:txBody>
      </p:sp>
      <p:sp>
        <p:nvSpPr>
          <p:cNvPr id="4" name="Shape 2"/>
          <p:cNvSpPr/>
          <p:nvPr/>
        </p:nvSpPr>
        <p:spPr>
          <a:xfrm>
            <a:off x="457200" y="1691640"/>
            <a:ext cx="11277295" cy="2926080"/>
          </a:xfrm>
          <a:prstGeom prst="roundRect">
            <a:avLst>
              <a:gd name="adj" fmla="val 3750"/>
            </a:avLst>
          </a:prstGeom>
          <a:solidFill>
            <a:srgbClr val="FFFFFF"/>
          </a:solidFill>
          <a:ln w="12700">
            <a:solidFill>
              <a:srgbClr val="2A303A"/>
            </a:solidFill>
            <a:prstDash val="solid"/>
          </a:ln>
        </p:spPr>
      </p:sp>
      <p:pic>
        <p:nvPicPr>
          <p:cNvPr id="5" name="Image 0" descr="/private/tmp/claude-501/-Users-satya-03-subscriber-dropout-detection/e6feba3e-4854-4bf1-8325-ba9c654b27ec/scratchpad/deck/img/architecture.png">    </p:cNvPr>
          <p:cNvPicPr>
            <a:picLocks noChangeAspect="1"/>
          </p:cNvPicPr>
          <p:nvPr/>
        </p:nvPicPr>
        <p:blipFill>
          <a:blip r:embed="rId1"/>
          <a:stretch>
            <a:fillRect/>
          </a:stretch>
        </p:blipFill>
        <p:spPr>
          <a:xfrm>
            <a:off x="594360" y="1874520"/>
            <a:ext cx="11002975" cy="2373989"/>
          </a:xfrm>
          <a:prstGeom prst="rect">
            <a:avLst/>
          </a:prstGeom>
        </p:spPr>
      </p:pic>
      <p:sp>
        <p:nvSpPr>
          <p:cNvPr id="6" name="Shape 3"/>
          <p:cNvSpPr/>
          <p:nvPr/>
        </p:nvSpPr>
        <p:spPr>
          <a:xfrm>
            <a:off x="548640" y="4983480"/>
            <a:ext cx="384048" cy="384048"/>
          </a:xfrm>
          <a:prstGeom prst="ellipse">
            <a:avLst/>
          </a:prstGeom>
          <a:solidFill>
            <a:srgbClr val="123F3A"/>
          </a:solidFill>
          <a:ln w="15875">
            <a:solidFill>
              <a:srgbClr val="3ED6C0"/>
            </a:solidFill>
            <a:prstDash val="solid"/>
          </a:ln>
        </p:spPr>
      </p:sp>
      <p:sp>
        <p:nvSpPr>
          <p:cNvPr id="7" name="Text 4"/>
          <p:cNvSpPr txBox="1"/>
          <p:nvPr/>
        </p:nvSpPr>
        <p:spPr>
          <a:xfrm>
            <a:off x="548640"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8" name="Text 5"/>
          <p:cNvSpPr txBox="1"/>
          <p:nvPr/>
        </p:nvSpPr>
        <p:spPr>
          <a:xfrm>
            <a:off x="1051560"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Data</a:t>
            </a:r>
            <a:endParaRPr lang="en-US" sz="1800" dirty="0"/>
          </a:p>
        </p:txBody>
      </p:sp>
      <p:sp>
        <p:nvSpPr>
          <p:cNvPr id="9" name="Text 6"/>
          <p:cNvSpPr txBox="1"/>
          <p:nvPr/>
        </p:nvSpPr>
        <p:spPr>
          <a:xfrm>
            <a:off x="1051560"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31.3 GB raw → cleaned → Postgres</a:t>
            </a:r>
            <a:endParaRPr lang="en-US" sz="1300" dirty="0"/>
          </a:p>
        </p:txBody>
      </p:sp>
      <p:sp>
        <p:nvSpPr>
          <p:cNvPr id="10" name="Shape 7"/>
          <p:cNvSpPr/>
          <p:nvPr/>
        </p:nvSpPr>
        <p:spPr>
          <a:xfrm>
            <a:off x="3355848" y="4983480"/>
            <a:ext cx="384048" cy="384048"/>
          </a:xfrm>
          <a:prstGeom prst="ellipse">
            <a:avLst/>
          </a:prstGeom>
          <a:solidFill>
            <a:srgbClr val="123F3A"/>
          </a:solidFill>
          <a:ln w="15875">
            <a:solidFill>
              <a:srgbClr val="3ED6C0"/>
            </a:solidFill>
            <a:prstDash val="solid"/>
          </a:ln>
        </p:spPr>
      </p:sp>
      <p:sp>
        <p:nvSpPr>
          <p:cNvPr id="11" name="Text 8"/>
          <p:cNvSpPr txBox="1"/>
          <p:nvPr/>
        </p:nvSpPr>
        <p:spPr>
          <a:xfrm>
            <a:off x="3355848"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9"/>
          <p:cNvSpPr txBox="1"/>
          <p:nvPr/>
        </p:nvSpPr>
        <p:spPr>
          <a:xfrm>
            <a:off x="3858768"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Model</a:t>
            </a:r>
            <a:endParaRPr lang="en-US" sz="1800" dirty="0"/>
          </a:p>
        </p:txBody>
      </p:sp>
      <p:sp>
        <p:nvSpPr>
          <p:cNvPr id="13" name="Text 10"/>
          <p:cNvSpPr txBox="1"/>
          <p:nvPr/>
        </p:nvSpPr>
        <p:spPr>
          <a:xfrm>
            <a:off x="3858768"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leak-free features, gated promotion</a:t>
            </a:r>
            <a:endParaRPr lang="en-US" sz="1300" dirty="0"/>
          </a:p>
        </p:txBody>
      </p:sp>
      <p:sp>
        <p:nvSpPr>
          <p:cNvPr id="14" name="Shape 11"/>
          <p:cNvSpPr/>
          <p:nvPr/>
        </p:nvSpPr>
        <p:spPr>
          <a:xfrm>
            <a:off x="6163056" y="4983480"/>
            <a:ext cx="384048" cy="384048"/>
          </a:xfrm>
          <a:prstGeom prst="ellipse">
            <a:avLst/>
          </a:prstGeom>
          <a:solidFill>
            <a:srgbClr val="123F3A"/>
          </a:solidFill>
          <a:ln w="15875">
            <a:solidFill>
              <a:srgbClr val="3ED6C0"/>
            </a:solidFill>
            <a:prstDash val="solid"/>
          </a:ln>
        </p:spPr>
      </p:sp>
      <p:sp>
        <p:nvSpPr>
          <p:cNvPr id="15" name="Text 12"/>
          <p:cNvSpPr txBox="1"/>
          <p:nvPr/>
        </p:nvSpPr>
        <p:spPr>
          <a:xfrm>
            <a:off x="6163056"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6" name="Text 13"/>
          <p:cNvSpPr txBox="1"/>
          <p:nvPr/>
        </p:nvSpPr>
        <p:spPr>
          <a:xfrm>
            <a:off x="6665976"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Serve</a:t>
            </a:r>
            <a:endParaRPr lang="en-US" sz="1800" dirty="0"/>
          </a:p>
        </p:txBody>
      </p:sp>
      <p:sp>
        <p:nvSpPr>
          <p:cNvPr id="17" name="Text 14"/>
          <p:cNvSpPr txBox="1"/>
          <p:nvPr/>
        </p:nvSpPr>
        <p:spPr>
          <a:xfrm>
            <a:off x="6665976"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API + SHAP, Kafka streaming</a:t>
            </a:r>
            <a:endParaRPr lang="en-US" sz="1300" dirty="0"/>
          </a:p>
        </p:txBody>
      </p:sp>
      <p:sp>
        <p:nvSpPr>
          <p:cNvPr id="18" name="Shape 15"/>
          <p:cNvSpPr/>
          <p:nvPr/>
        </p:nvSpPr>
        <p:spPr>
          <a:xfrm>
            <a:off x="8970264" y="4983480"/>
            <a:ext cx="384048" cy="384048"/>
          </a:xfrm>
          <a:prstGeom prst="ellipse">
            <a:avLst/>
          </a:prstGeom>
          <a:solidFill>
            <a:srgbClr val="123F3A"/>
          </a:solidFill>
          <a:ln w="15875">
            <a:solidFill>
              <a:srgbClr val="3ED6C0"/>
            </a:solidFill>
            <a:prstDash val="solid"/>
          </a:ln>
        </p:spPr>
      </p:sp>
      <p:sp>
        <p:nvSpPr>
          <p:cNvPr id="19" name="Text 16"/>
          <p:cNvSpPr txBox="1"/>
          <p:nvPr/>
        </p:nvSpPr>
        <p:spPr>
          <a:xfrm>
            <a:off x="8970264"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0" name="Text 17"/>
          <p:cNvSpPr txBox="1"/>
          <p:nvPr/>
        </p:nvSpPr>
        <p:spPr>
          <a:xfrm>
            <a:off x="9473184"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Watch</a:t>
            </a:r>
            <a:endParaRPr lang="en-US" sz="1800" dirty="0"/>
          </a:p>
        </p:txBody>
      </p:sp>
      <p:sp>
        <p:nvSpPr>
          <p:cNvPr id="21" name="Text 18"/>
          <p:cNvSpPr txBox="1"/>
          <p:nvPr/>
        </p:nvSpPr>
        <p:spPr>
          <a:xfrm>
            <a:off x="9473184"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drift, 15 alert rules, Grafana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DATA · KKBOX MUSIC STREAMING</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Real data, cleaned on purpose</a:t>
            </a:r>
            <a:endParaRPr lang="en-US" sz="3200" dirty="0"/>
          </a:p>
        </p:txBody>
      </p:sp>
      <p:sp>
        <p:nvSpPr>
          <p:cNvPr id="4" name="Shape 2"/>
          <p:cNvSpPr/>
          <p:nvPr/>
        </p:nvSpPr>
        <p:spPr>
          <a:xfrm>
            <a:off x="548640" y="1737360"/>
            <a:ext cx="4206240" cy="4480560"/>
          </a:xfrm>
          <a:prstGeom prst="roundRect">
            <a:avLst>
              <a:gd name="adj" fmla="val 260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874520"/>
            <a:ext cx="356616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31.3 GB</a:t>
            </a:r>
            <a:endParaRPr lang="en-US" sz="4800" dirty="0"/>
          </a:p>
        </p:txBody>
      </p:sp>
      <p:sp>
        <p:nvSpPr>
          <p:cNvPr id="6" name="Text 4"/>
          <p:cNvSpPr txBox="1"/>
          <p:nvPr/>
        </p:nvSpPr>
        <p:spPr>
          <a:xfrm>
            <a:off x="914400" y="278892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raw CSV: members, transactions, daily listening logs</a:t>
            </a:r>
            <a:endParaRPr lang="en-US" sz="1300" dirty="0"/>
          </a:p>
        </p:txBody>
      </p:sp>
      <p:sp>
        <p:nvSpPr>
          <p:cNvPr id="7" name="Text 5"/>
          <p:cNvSpPr txBox="1"/>
          <p:nvPr/>
        </p:nvSpPr>
        <p:spPr>
          <a:xfrm>
            <a:off x="914400" y="3749040"/>
            <a:ext cx="356616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82.8M</a:t>
            </a:r>
            <a:endParaRPr lang="en-US" sz="4800" dirty="0"/>
          </a:p>
        </p:txBody>
      </p:sp>
      <p:sp>
        <p:nvSpPr>
          <p:cNvPr id="8" name="Text 6"/>
          <p:cNvSpPr txBox="1"/>
          <p:nvPr/>
        </p:nvSpPr>
        <p:spPr>
          <a:xfrm>
            <a:off x="914400" y="466344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rows in Postgres: 6.8M subscribers, 38.2M sessions</a:t>
            </a:r>
            <a:endParaRPr lang="en-US" sz="1300" dirty="0"/>
          </a:p>
        </p:txBody>
      </p:sp>
      <p:sp>
        <p:nvSpPr>
          <p:cNvPr id="9" name="Shape 7"/>
          <p:cNvSpPr/>
          <p:nvPr/>
        </p:nvSpPr>
        <p:spPr>
          <a:xfrm>
            <a:off x="5166360" y="1783080"/>
            <a:ext cx="420624" cy="420624"/>
          </a:xfrm>
          <a:prstGeom prst="ellipse">
            <a:avLst/>
          </a:prstGeom>
          <a:solidFill>
            <a:srgbClr val="123F3A"/>
          </a:solidFill>
          <a:ln w="15875">
            <a:solidFill>
              <a:srgbClr val="3ED6C0"/>
            </a:solidFill>
            <a:prstDash val="solid"/>
          </a:ln>
        </p:spPr>
      </p:sp>
      <p:sp>
        <p:nvSpPr>
          <p:cNvPr id="10" name="Text 8"/>
          <p:cNvSpPr txBox="1"/>
          <p:nvPr/>
        </p:nvSpPr>
        <p:spPr>
          <a:xfrm>
            <a:off x="516636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5760720" y="1737360"/>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Dropped 2.66M orphan rows</a:t>
            </a:r>
            <a:endParaRPr lang="en-US" sz="1700" dirty="0"/>
          </a:p>
        </p:txBody>
      </p:sp>
      <p:sp>
        <p:nvSpPr>
          <p:cNvPr id="12" name="Text 10"/>
          <p:cNvSpPr txBox="1"/>
          <p:nvPr/>
        </p:nvSpPr>
        <p:spPr>
          <a:xfrm>
            <a:off x="5760720" y="2130552"/>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not invented: a made-up signup date makes old customers look new, and "new" reads as risky</a:t>
            </a:r>
            <a:endParaRPr lang="en-US" sz="1350" dirty="0"/>
          </a:p>
        </p:txBody>
      </p:sp>
      <p:sp>
        <p:nvSpPr>
          <p:cNvPr id="13" name="Shape 11"/>
          <p:cNvSpPr/>
          <p:nvPr/>
        </p:nvSpPr>
        <p:spPr>
          <a:xfrm>
            <a:off x="5166360" y="2898648"/>
            <a:ext cx="420624" cy="420624"/>
          </a:xfrm>
          <a:prstGeom prst="ellipse">
            <a:avLst/>
          </a:prstGeom>
          <a:solidFill>
            <a:srgbClr val="123F3A"/>
          </a:solidFill>
          <a:ln w="15875">
            <a:solidFill>
              <a:srgbClr val="3ED6C0"/>
            </a:solidFill>
            <a:prstDash val="solid"/>
          </a:ln>
        </p:spPr>
      </p:sp>
      <p:sp>
        <p:nvSpPr>
          <p:cNvPr id="14" name="Text 12"/>
          <p:cNvSpPr txBox="1"/>
          <p:nvPr/>
        </p:nvSpPr>
        <p:spPr>
          <a:xfrm>
            <a:off x="5166360" y="289864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5760720" y="2852928"/>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Widened IDs 32 → 64 chars</a:t>
            </a:r>
            <a:endParaRPr lang="en-US" sz="1700" dirty="0"/>
          </a:p>
        </p:txBody>
      </p:sp>
      <p:sp>
        <p:nvSpPr>
          <p:cNvPr id="16" name="Text 14"/>
          <p:cNvSpPr txBox="1"/>
          <p:nvPr/>
        </p:nvSpPr>
        <p:spPr>
          <a:xfrm>
            <a:off x="5760720" y="3246120"/>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IDs are 44 characters; SQLite ignored it, Postgres would have rejected every row</a:t>
            </a:r>
            <a:endParaRPr lang="en-US" sz="1350" dirty="0"/>
          </a:p>
        </p:txBody>
      </p:sp>
      <p:sp>
        <p:nvSpPr>
          <p:cNvPr id="17" name="Shape 15"/>
          <p:cNvSpPr/>
          <p:nvPr/>
        </p:nvSpPr>
        <p:spPr>
          <a:xfrm>
            <a:off x="5166360" y="4014216"/>
            <a:ext cx="420624" cy="420624"/>
          </a:xfrm>
          <a:prstGeom prst="ellipse">
            <a:avLst/>
          </a:prstGeom>
          <a:solidFill>
            <a:srgbClr val="123F3A"/>
          </a:solidFill>
          <a:ln w="15875">
            <a:solidFill>
              <a:srgbClr val="3ED6C0"/>
            </a:solidFill>
            <a:prstDash val="solid"/>
          </a:ln>
        </p:spPr>
      </p:sp>
      <p:sp>
        <p:nvSpPr>
          <p:cNvPr id="18" name="Text 16"/>
          <p:cNvSpPr txBox="1"/>
          <p:nvPr/>
        </p:nvSpPr>
        <p:spPr>
          <a:xfrm>
            <a:off x="5166360" y="401421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5760720" y="3968496"/>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Normalised prices to monthly</a:t>
            </a:r>
            <a:endParaRPr lang="en-US" sz="1700" dirty="0"/>
          </a:p>
        </p:txBody>
      </p:sp>
      <p:sp>
        <p:nvSpPr>
          <p:cNvPr id="20" name="Text 18"/>
          <p:cNvSpPr txBox="1"/>
          <p:nvPr/>
        </p:nvSpPr>
        <p:spPr>
          <a:xfrm>
            <a:off x="5760720" y="4361688"/>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plans run 7 to 410 days, so raw prices were not comparable</a:t>
            </a:r>
            <a:endParaRPr lang="en-US" sz="1350" dirty="0"/>
          </a:p>
        </p:txBody>
      </p:sp>
      <p:sp>
        <p:nvSpPr>
          <p:cNvPr id="21" name="Shape 19"/>
          <p:cNvSpPr/>
          <p:nvPr/>
        </p:nvSpPr>
        <p:spPr>
          <a:xfrm>
            <a:off x="5166360" y="5129784"/>
            <a:ext cx="420624" cy="420624"/>
          </a:xfrm>
          <a:prstGeom prst="ellipse">
            <a:avLst/>
          </a:prstGeom>
          <a:solidFill>
            <a:srgbClr val="123F3A"/>
          </a:solidFill>
          <a:ln w="15875">
            <a:solidFill>
              <a:srgbClr val="3ED6C0"/>
            </a:solidFill>
            <a:prstDash val="solid"/>
          </a:ln>
        </p:spPr>
      </p:sp>
      <p:sp>
        <p:nvSpPr>
          <p:cNvPr id="22" name="Text 20"/>
          <p:cNvSpPr txBox="1"/>
          <p:nvPr/>
        </p:nvSpPr>
        <p:spPr>
          <a:xfrm>
            <a:off x="5166360" y="5129784"/>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3" name="Text 21"/>
          <p:cNvSpPr txBox="1"/>
          <p:nvPr/>
        </p:nvSpPr>
        <p:spPr>
          <a:xfrm>
            <a:off x="5760720" y="5084064"/>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Stored events, not totals</a:t>
            </a:r>
            <a:endParaRPr lang="en-US" sz="1700" dirty="0"/>
          </a:p>
        </p:txBody>
      </p:sp>
      <p:sp>
        <p:nvSpPr>
          <p:cNvPr id="24" name="Text 22"/>
          <p:cNvSpPr txBox="1"/>
          <p:nvPr/>
        </p:nvSpPr>
        <p:spPr>
          <a:xfrm>
            <a:off x="5760720" y="5477256"/>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so any past date can be rebuilt exactly, which is what prevents leakage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FEATURES · POINT-IN-TIME CORRECTNESS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The model never sees the future</a:t>
            </a:r>
            <a:endParaRPr lang="en-US" sz="3200" dirty="0"/>
          </a:p>
        </p:txBody>
      </p:sp>
      <p:sp>
        <p:nvSpPr>
          <p:cNvPr id="4" name="Shape 2"/>
          <p:cNvSpPr/>
          <p:nvPr/>
        </p:nvSpPr>
        <p:spPr>
          <a:xfrm>
            <a:off x="822960" y="2743200"/>
            <a:ext cx="10607040" cy="0"/>
          </a:xfrm>
          <a:prstGeom prst="line">
            <a:avLst/>
          </a:prstGeom>
          <a:noFill/>
          <a:ln w="25400">
            <a:solidFill>
              <a:srgbClr val="2A303A"/>
            </a:solidFill>
            <a:prstDash val="solid"/>
          </a:ln>
        </p:spPr>
      </p:sp>
      <p:sp>
        <p:nvSpPr>
          <p:cNvPr id="5" name="Shape 3"/>
          <p:cNvSpPr/>
          <p:nvPr/>
        </p:nvSpPr>
        <p:spPr>
          <a:xfrm>
            <a:off x="1371600" y="2331720"/>
            <a:ext cx="4389120" cy="822960"/>
          </a:xfrm>
          <a:prstGeom prst="roundRect">
            <a:avLst>
              <a:gd name="adj" fmla="val 11111"/>
            </a:avLst>
          </a:prstGeom>
          <a:solidFill>
            <a:srgbClr val="123F3A"/>
          </a:solidFill>
          <a:ln w="12700">
            <a:solidFill>
              <a:srgbClr val="3ED6C0"/>
            </a:solidFill>
            <a:prstDash val="solid"/>
          </a:ln>
        </p:spPr>
      </p:sp>
      <p:sp>
        <p:nvSpPr>
          <p:cNvPr id="6" name="Text 4"/>
          <p:cNvSpPr txBox="1"/>
          <p:nvPr/>
        </p:nvSpPr>
        <p:spPr>
          <a:xfrm>
            <a:off x="1371600" y="2331720"/>
            <a:ext cx="4389120" cy="822960"/>
          </a:xfrm>
          <a:prstGeom prst="rect">
            <a:avLst/>
          </a:prstGeom>
          <a:noFill/>
          <a:ln/>
        </p:spPr>
        <p:txBody>
          <a:bodyPr wrap="square" lIns="0" tIns="0" rIns="0" bIns="0" rtlCol="0" anchor="ctr"/>
          <a:lstStyle/>
          <a:p>
            <a:pPr algn="ctr" indent="0" marL="0">
              <a:buNone/>
            </a:pPr>
            <a:r>
              <a:rPr lang="en-US" sz="1700" b="1" dirty="0">
                <a:solidFill>
                  <a:srgbClr val="3ED6C0"/>
                </a:solidFill>
                <a:latin typeface="Arial" pitchFamily="34" charset="0"/>
                <a:ea typeface="Arial" pitchFamily="34" charset="-122"/>
                <a:cs typeface="Arial" pitchFamily="34" charset="-120"/>
              </a:rPr>
              <a:t>Features: 30 days before T</a:t>
            </a:r>
            <a:endParaRPr lang="en-US" sz="1700" dirty="0"/>
          </a:p>
        </p:txBody>
      </p:sp>
      <p:sp>
        <p:nvSpPr>
          <p:cNvPr id="7" name="Shape 5"/>
          <p:cNvSpPr/>
          <p:nvPr/>
        </p:nvSpPr>
        <p:spPr>
          <a:xfrm>
            <a:off x="6492240" y="2331720"/>
            <a:ext cx="4389120" cy="822960"/>
          </a:xfrm>
          <a:prstGeom prst="roundRect">
            <a:avLst>
              <a:gd name="adj" fmla="val 11111"/>
            </a:avLst>
          </a:prstGeom>
          <a:solidFill>
            <a:srgbClr val="3A1C19"/>
          </a:solidFill>
          <a:ln w="12700">
            <a:solidFill>
              <a:srgbClr val="FF6A5A"/>
            </a:solidFill>
            <a:prstDash val="solid"/>
          </a:ln>
        </p:spPr>
      </p:sp>
      <p:sp>
        <p:nvSpPr>
          <p:cNvPr id="8" name="Text 6"/>
          <p:cNvSpPr txBox="1"/>
          <p:nvPr/>
        </p:nvSpPr>
        <p:spPr>
          <a:xfrm>
            <a:off x="6492240" y="2331720"/>
            <a:ext cx="4389120" cy="822960"/>
          </a:xfrm>
          <a:prstGeom prst="rect">
            <a:avLst/>
          </a:prstGeom>
          <a:noFill/>
          <a:ln/>
        </p:spPr>
        <p:txBody>
          <a:bodyPr wrap="square" lIns="0" tIns="0" rIns="0" bIns="0" rtlCol="0" anchor="ctr"/>
          <a:lstStyle/>
          <a:p>
            <a:pPr algn="ctr" indent="0" marL="0">
              <a:buNone/>
            </a:pPr>
            <a:r>
              <a:rPr lang="en-US" sz="1700" b="1" dirty="0">
                <a:solidFill>
                  <a:srgbClr val="FF6A5A"/>
                </a:solidFill>
                <a:latin typeface="Arial" pitchFamily="34" charset="0"/>
                <a:ea typeface="Arial" pitchFamily="34" charset="-122"/>
                <a:cs typeface="Arial" pitchFamily="34" charset="-120"/>
              </a:rPr>
              <a:t>Label: cancels in 30 days after T?</a:t>
            </a:r>
            <a:endParaRPr lang="en-US" sz="1700" dirty="0"/>
          </a:p>
        </p:txBody>
      </p:sp>
      <p:sp>
        <p:nvSpPr>
          <p:cNvPr id="9" name="Shape 7"/>
          <p:cNvSpPr/>
          <p:nvPr/>
        </p:nvSpPr>
        <p:spPr>
          <a:xfrm>
            <a:off x="6126480" y="2011680"/>
            <a:ext cx="0" cy="1463040"/>
          </a:xfrm>
          <a:prstGeom prst="line">
            <a:avLst/>
          </a:prstGeom>
          <a:noFill/>
          <a:ln w="31750">
            <a:solidFill>
              <a:srgbClr val="E8DFCE"/>
            </a:solidFill>
            <a:prstDash val="solid"/>
          </a:ln>
        </p:spPr>
      </p:sp>
      <p:sp>
        <p:nvSpPr>
          <p:cNvPr id="10" name="Text 8"/>
          <p:cNvSpPr txBox="1"/>
          <p:nvPr/>
        </p:nvSpPr>
        <p:spPr>
          <a:xfrm>
            <a:off x="5669280" y="3520440"/>
            <a:ext cx="914400" cy="365760"/>
          </a:xfrm>
          <a:prstGeom prst="rect">
            <a:avLst/>
          </a:prstGeom>
          <a:noFill/>
          <a:ln/>
        </p:spPr>
        <p:txBody>
          <a:bodyPr wrap="square" lIns="0" tIns="0" rIns="0" bIns="0" rtlCol="0" anchor="ctr"/>
          <a:lstStyle/>
          <a:p>
            <a:pPr algn="ctr" indent="0" marL="0">
              <a:buNone/>
            </a:pPr>
            <a:r>
              <a:rPr lang="en-US" sz="1400" b="1" dirty="0">
                <a:solidFill>
                  <a:srgbClr val="E8DFCE"/>
                </a:solidFill>
                <a:latin typeface="Arial" pitchFamily="34" charset="0"/>
                <a:ea typeface="Arial" pitchFamily="34" charset="-122"/>
                <a:cs typeface="Arial" pitchFamily="34" charset="-120"/>
              </a:rPr>
              <a:t>cutoff T</a:t>
            </a:r>
            <a:endParaRPr lang="en-US" sz="1400" dirty="0"/>
          </a:p>
        </p:txBody>
      </p:sp>
      <p:sp>
        <p:nvSpPr>
          <p:cNvPr id="11" name="Text 9"/>
          <p:cNvSpPr txBox="1"/>
          <p:nvPr/>
        </p:nvSpPr>
        <p:spPr>
          <a:xfrm>
            <a:off x="548640" y="3931920"/>
            <a:ext cx="10972800" cy="411480"/>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two windows never overlap, so nothing after T can reach a feature.</a:t>
            </a:r>
            <a:endParaRPr lang="en-US" sz="1700" dirty="0"/>
          </a:p>
        </p:txBody>
      </p:sp>
      <p:sp>
        <p:nvSpPr>
          <p:cNvPr id="12" name="Shape 10"/>
          <p:cNvSpPr/>
          <p:nvPr/>
        </p:nvSpPr>
        <p:spPr>
          <a:xfrm>
            <a:off x="54864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3" name="Text 11"/>
          <p:cNvSpPr txBox="1"/>
          <p:nvPr/>
        </p:nvSpPr>
        <p:spPr>
          <a:xfrm>
            <a:off x="822960" y="4709160"/>
            <a:ext cx="2926080" cy="457200"/>
          </a:xfrm>
          <a:prstGeom prst="rect">
            <a:avLst/>
          </a:prstGeom>
          <a:noFill/>
          <a:ln/>
        </p:spPr>
        <p:txBody>
          <a:bodyPr wrap="square" lIns="0" tIns="0" rIns="0" bIns="0" rtlCol="0" anchor="ctr"/>
          <a:lstStyle/>
          <a:p>
            <a:pPr indent="0" marL="0">
              <a:buNone/>
            </a:pPr>
            <a:r>
              <a:rPr lang="en-US" sz="2200" dirty="0">
                <a:solidFill>
                  <a:srgbClr val="3ED6C0"/>
                </a:solidFill>
                <a:latin typeface="Georgia" pitchFamily="34" charset="0"/>
                <a:ea typeface="Georgia" pitchFamily="34" charset="-122"/>
                <a:cs typeface="Georgia" pitchFamily="34" charset="-120"/>
              </a:rPr>
              <a:t>Train</a:t>
            </a:r>
            <a:endParaRPr lang="en-US" sz="2200" dirty="0"/>
          </a:p>
        </p:txBody>
      </p:sp>
      <p:sp>
        <p:nvSpPr>
          <p:cNvPr id="14" name="Text 12"/>
          <p:cNvSpPr txBox="1"/>
          <p:nvPr/>
        </p:nvSpPr>
        <p:spPr>
          <a:xfrm>
            <a:off x="82296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cutoffs Nov + Dec 2016</a:t>
            </a:r>
            <a:endParaRPr lang="en-US" sz="1500" dirty="0"/>
          </a:p>
        </p:txBody>
      </p:sp>
      <p:sp>
        <p:nvSpPr>
          <p:cNvPr id="15" name="Shape 13"/>
          <p:cNvSpPr/>
          <p:nvPr/>
        </p:nvSpPr>
        <p:spPr>
          <a:xfrm>
            <a:off x="429768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6" name="Text 14"/>
          <p:cNvSpPr txBox="1"/>
          <p:nvPr/>
        </p:nvSpPr>
        <p:spPr>
          <a:xfrm>
            <a:off x="4572000" y="4709160"/>
            <a:ext cx="2926080" cy="457200"/>
          </a:xfrm>
          <a:prstGeom prst="rect">
            <a:avLst/>
          </a:prstGeom>
          <a:noFill/>
          <a:ln/>
        </p:spPr>
        <p:txBody>
          <a:bodyPr wrap="square" lIns="0" tIns="0" rIns="0" bIns="0" rtlCol="0" anchor="ctr"/>
          <a:lstStyle/>
          <a:p>
            <a:pPr indent="0" marL="0">
              <a:buNone/>
            </a:pPr>
            <a:r>
              <a:rPr lang="en-US" sz="2200" dirty="0">
                <a:solidFill>
                  <a:srgbClr val="F0A94A"/>
                </a:solidFill>
                <a:latin typeface="Georgia" pitchFamily="34" charset="0"/>
                <a:ea typeface="Georgia" pitchFamily="34" charset="-122"/>
                <a:cs typeface="Georgia" pitchFamily="34" charset="-120"/>
              </a:rPr>
              <a:t>Validate</a:t>
            </a:r>
            <a:endParaRPr lang="en-US" sz="2200" dirty="0"/>
          </a:p>
        </p:txBody>
      </p:sp>
      <p:sp>
        <p:nvSpPr>
          <p:cNvPr id="17" name="Text 15"/>
          <p:cNvSpPr txBox="1"/>
          <p:nvPr/>
        </p:nvSpPr>
        <p:spPr>
          <a:xfrm>
            <a:off x="457200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31 Dec 2016</a:t>
            </a:r>
            <a:endParaRPr lang="en-US" sz="1500" dirty="0"/>
          </a:p>
        </p:txBody>
      </p:sp>
      <p:sp>
        <p:nvSpPr>
          <p:cNvPr id="18" name="Shape 16"/>
          <p:cNvSpPr/>
          <p:nvPr/>
        </p:nvSpPr>
        <p:spPr>
          <a:xfrm>
            <a:off x="804672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9" name="Text 17"/>
          <p:cNvSpPr txBox="1"/>
          <p:nvPr/>
        </p:nvSpPr>
        <p:spPr>
          <a:xfrm>
            <a:off x="8321040" y="4709160"/>
            <a:ext cx="2926080" cy="457200"/>
          </a:xfrm>
          <a:prstGeom prst="rect">
            <a:avLst/>
          </a:prstGeom>
          <a:noFill/>
          <a:ln/>
        </p:spPr>
        <p:txBody>
          <a:bodyPr wrap="square" lIns="0" tIns="0" rIns="0" bIns="0" rtlCol="0" anchor="ctr"/>
          <a:lstStyle/>
          <a:p>
            <a:pPr indent="0" marL="0">
              <a:buNone/>
            </a:pPr>
            <a:r>
              <a:rPr lang="en-US" sz="2200" dirty="0">
                <a:solidFill>
                  <a:srgbClr val="FF6A5A"/>
                </a:solidFill>
                <a:latin typeface="Georgia" pitchFamily="34" charset="0"/>
                <a:ea typeface="Georgia" pitchFamily="34" charset="-122"/>
                <a:cs typeface="Georgia" pitchFamily="34" charset="-120"/>
              </a:rPr>
              <a:t>Test</a:t>
            </a:r>
            <a:endParaRPr lang="en-US" sz="2200" dirty="0"/>
          </a:p>
        </p:txBody>
      </p:sp>
      <p:sp>
        <p:nvSpPr>
          <p:cNvPr id="20" name="Text 18"/>
          <p:cNvSpPr txBox="1"/>
          <p:nvPr/>
        </p:nvSpPr>
        <p:spPr>
          <a:xfrm>
            <a:off x="832104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29 Jan 2017</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METRICS · WHY THE GATE USES PR-AUC</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ROC-AUC went up. The model got harder to use.</a:t>
            </a:r>
            <a:endParaRPr lang="en-US" sz="3200" dirty="0"/>
          </a:p>
        </p:txBody>
      </p:sp>
      <p:graphicFrame>
        <p:nvGraphicFramePr>
          <p:cNvPr id="4" name="Chart 0" descr=""/>
          <p:cNvGraphicFramePr/>
          <p:nvPr/>
        </p:nvGraphicFramePr>
        <p:xfrm>
          <a:off x="548640" y="164592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783080"/>
            <a:ext cx="4069080" cy="4434840"/>
          </a:xfrm>
          <a:prstGeom prst="roundRect">
            <a:avLst>
              <a:gd name="adj" fmla="val 2697"/>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6" name="Text 3"/>
          <p:cNvSpPr txBox="1"/>
          <p:nvPr/>
        </p:nvSpPr>
        <p:spPr>
          <a:xfrm>
            <a:off x="7909560" y="2011680"/>
            <a:ext cx="3474720" cy="41148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The finding</a:t>
            </a:r>
            <a:endParaRPr lang="en-US" sz="2200" dirty="0"/>
          </a:p>
        </p:txBody>
      </p:sp>
      <p:sp>
        <p:nvSpPr>
          <p:cNvPr id="7" name="Text 4"/>
          <p:cNvSpPr txBox="1"/>
          <p:nvPr/>
        </p:nvSpPr>
        <p:spPr>
          <a:xfrm>
            <a:off x="7909560" y="2560320"/>
            <a:ext cx="3474720" cy="3474720"/>
          </a:xfrm>
          <a:prstGeom prst="rect">
            <a:avLst/>
          </a:prstGeom>
          <a:noFill/>
          <a:ln/>
        </p:spPr>
        <p:txBody>
          <a:bodyPr wrap="square" lIns="0" tIns="0" rIns="0" bIns="0" rtlCol="0" anchor="t"/>
          <a:lstStyle/>
          <a:p>
            <a:pPr indent="0" marL="0">
              <a:spcAft>
                <a:spcPts val="1000"/>
              </a:spcAft>
              <a:buNone/>
            </a:pPr>
            <a:r>
              <a:rPr lang="en-US" sz="1500" dirty="0">
                <a:solidFill>
                  <a:srgbClr val="A9B2BE"/>
                </a:solidFill>
                <a:latin typeface="Arial" pitchFamily="34" charset="0"/>
                <a:ea typeface="Arial" pitchFamily="34" charset="-122"/>
                <a:cs typeface="Arial" pitchFamily="34" charset="-120"/>
              </a:rPr>
              <a:t>Moving to real data, ROC-AUC rose from 0.67 to 0.84 while PR-AUC fell from 0.35 to 0.07.</a:t>
            </a:r>
            <a:endParaRPr lang="en-US" sz="1500" dirty="0"/>
          </a:p>
          <a:p>
            <a:pPr indent="0" marL="0">
              <a:spcAft>
                <a:spcPts val="1000"/>
              </a:spcAft>
              <a:buNone/>
            </a:pPr>
            <a:r>
              <a:rPr lang="en-US" sz="1500" dirty="0">
                <a:solidFill>
                  <a:srgbClr val="A9B2BE"/>
                </a:solidFill>
                <a:latin typeface="Arial" pitchFamily="34" charset="0"/>
                <a:ea typeface="Arial" pitchFamily="34" charset="-122"/>
                <a:cs typeface="Arial" pitchFamily="34" charset="-120"/>
              </a:rPr>
              <a:t>ROC-AUC barely notices how rare churn is. PR-AUC is dominated by it.</a:t>
            </a:r>
            <a:endParaRPr lang="en-US" sz="1500" dirty="0"/>
          </a:p>
          <a:p>
            <a:pPr indent="0" marL="0">
              <a:buNone/>
            </a:pPr>
            <a:r>
              <a:rPr lang="en-US" sz="1500" dirty="0">
                <a:solidFill>
                  <a:srgbClr val="3ED6C0"/>
                </a:solidFill>
                <a:latin typeface="Arial" pitchFamily="34" charset="0"/>
                <a:ea typeface="Arial" pitchFamily="34" charset="-122"/>
                <a:cs typeface="Arial" pitchFamily="34" charset="-120"/>
              </a:rPr>
              <a:t>A gate on ROC-AUC would have reported an improvement. So the gate uses PR-AUC, with a 0.005 margin.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REGISTRY · MLFLOW + PROMOTION GATE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No model reaches production by accident</a:t>
            </a:r>
            <a:endParaRPr lang="en-US" sz="3200" dirty="0"/>
          </a:p>
        </p:txBody>
      </p:sp>
      <p:sp>
        <p:nvSpPr>
          <p:cNvPr id="4" name="Shape 2"/>
          <p:cNvSpPr/>
          <p:nvPr/>
        </p:nvSpPr>
        <p:spPr>
          <a:xfrm>
            <a:off x="548640"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420624" cy="420624"/>
          </a:xfrm>
          <a:prstGeom prst="ellipse">
            <a:avLst/>
          </a:prstGeom>
          <a:solidFill>
            <a:srgbClr val="123F3A"/>
          </a:solidFill>
          <a:ln w="15875">
            <a:solidFill>
              <a:srgbClr val="3ED6C0"/>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60320"/>
            <a:ext cx="2103120" cy="502920"/>
          </a:xfrm>
          <a:prstGeom prst="rect">
            <a:avLst/>
          </a:prstGeom>
          <a:noFill/>
          <a:ln/>
        </p:spPr>
        <p:txBody>
          <a:bodyPr wrap="square" lIns="0" tIns="0" rIns="0" bIns="0" rtlCol="0" anchor="ctr"/>
          <a:lstStyle/>
          <a:p>
            <a:pPr indent="0" marL="0">
              <a:buNone/>
            </a:pPr>
            <a:r>
              <a:rPr lang="en-US" sz="2100" dirty="0">
                <a:solidFill>
                  <a:srgbClr val="A9B2BE"/>
                </a:solidFill>
                <a:latin typeface="Georgia" pitchFamily="34" charset="0"/>
                <a:ea typeface="Georgia" pitchFamily="34" charset="-122"/>
                <a:cs typeface="Georgia" pitchFamily="34" charset="-120"/>
              </a:rPr>
              <a:t>Train</a:t>
            </a:r>
            <a:endParaRPr lang="en-US" sz="2100" dirty="0"/>
          </a:p>
        </p:txBody>
      </p:sp>
      <p:sp>
        <p:nvSpPr>
          <p:cNvPr id="8" name="Text 6"/>
          <p:cNvSpPr txBox="1"/>
          <p:nvPr/>
        </p:nvSpPr>
        <p:spPr>
          <a:xfrm>
            <a:off x="777240"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every run logged: params, metrics, model</a:t>
            </a:r>
            <a:endParaRPr lang="en-US" sz="1350" dirty="0"/>
          </a:p>
        </p:txBody>
      </p:sp>
      <p:sp>
        <p:nvSpPr>
          <p:cNvPr id="9" name="Text 7"/>
          <p:cNvSpPr txBox="1"/>
          <p:nvPr/>
        </p:nvSpPr>
        <p:spPr>
          <a:xfrm>
            <a:off x="3063240"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3401568"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Shape 9"/>
          <p:cNvSpPr/>
          <p:nvPr/>
        </p:nvSpPr>
        <p:spPr>
          <a:xfrm>
            <a:off x="3630168" y="2011680"/>
            <a:ext cx="420624" cy="420624"/>
          </a:xfrm>
          <a:prstGeom prst="ellipse">
            <a:avLst/>
          </a:prstGeom>
          <a:solidFill>
            <a:srgbClr val="123F3A"/>
          </a:solidFill>
          <a:ln w="15875">
            <a:solidFill>
              <a:srgbClr val="3ED6C0"/>
            </a:solidFill>
            <a:prstDash val="solid"/>
          </a:ln>
        </p:spPr>
      </p:sp>
      <p:sp>
        <p:nvSpPr>
          <p:cNvPr id="12" name="Text 10"/>
          <p:cNvSpPr txBox="1"/>
          <p:nvPr/>
        </p:nvSpPr>
        <p:spPr>
          <a:xfrm>
            <a:off x="3630168"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3630168" y="2560320"/>
            <a:ext cx="2103120" cy="502920"/>
          </a:xfrm>
          <a:prstGeom prst="rect">
            <a:avLst/>
          </a:prstGeom>
          <a:noFill/>
          <a:ln/>
        </p:spPr>
        <p:txBody>
          <a:bodyPr wrap="square" lIns="0" tIns="0" rIns="0" bIns="0" rtlCol="0" anchor="ctr"/>
          <a:lstStyle/>
          <a:p>
            <a:pPr indent="0" marL="0">
              <a:buNone/>
            </a:pPr>
            <a:r>
              <a:rPr lang="en-US" sz="2100" dirty="0">
                <a:solidFill>
                  <a:srgbClr val="F0A94A"/>
                </a:solidFill>
                <a:latin typeface="Georgia" pitchFamily="34" charset="0"/>
                <a:ea typeface="Georgia" pitchFamily="34" charset="-122"/>
                <a:cs typeface="Georgia" pitchFamily="34" charset="-120"/>
              </a:rPr>
              <a:t>@challenger</a:t>
            </a:r>
            <a:endParaRPr lang="en-US" sz="2100" dirty="0"/>
          </a:p>
        </p:txBody>
      </p:sp>
      <p:sp>
        <p:nvSpPr>
          <p:cNvPr id="14" name="Text 12"/>
          <p:cNvSpPr txBox="1"/>
          <p:nvPr/>
        </p:nvSpPr>
        <p:spPr>
          <a:xfrm>
            <a:off x="3630168"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registered as a candidate</a:t>
            </a:r>
            <a:endParaRPr lang="en-US" sz="1350" dirty="0"/>
          </a:p>
        </p:txBody>
      </p:sp>
      <p:sp>
        <p:nvSpPr>
          <p:cNvPr id="15" name="Text 13"/>
          <p:cNvSpPr txBox="1"/>
          <p:nvPr/>
        </p:nvSpPr>
        <p:spPr>
          <a:xfrm>
            <a:off x="5916168"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6254496"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7" name="Shape 15"/>
          <p:cNvSpPr/>
          <p:nvPr/>
        </p:nvSpPr>
        <p:spPr>
          <a:xfrm>
            <a:off x="6483096" y="201168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83096"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6483096" y="2560320"/>
            <a:ext cx="2103120" cy="502920"/>
          </a:xfrm>
          <a:prstGeom prst="rect">
            <a:avLst/>
          </a:prstGeom>
          <a:noFill/>
          <a:ln/>
        </p:spPr>
        <p:txBody>
          <a:bodyPr wrap="square" lIns="0" tIns="0" rIns="0" bIns="0" rtlCol="0" anchor="ctr"/>
          <a:lstStyle/>
          <a:p>
            <a:pPr indent="0" marL="0">
              <a:buNone/>
            </a:pPr>
            <a:r>
              <a:rPr lang="en-US" sz="2100" dirty="0">
                <a:solidFill>
                  <a:srgbClr val="E8DFCE"/>
                </a:solidFill>
                <a:latin typeface="Georgia" pitchFamily="34" charset="0"/>
                <a:ea typeface="Georgia" pitchFamily="34" charset="-122"/>
                <a:cs typeface="Georgia" pitchFamily="34" charset="-120"/>
              </a:rPr>
              <a:t>Gate</a:t>
            </a:r>
            <a:endParaRPr lang="en-US" sz="2100" dirty="0"/>
          </a:p>
        </p:txBody>
      </p:sp>
      <p:sp>
        <p:nvSpPr>
          <p:cNvPr id="20" name="Text 18"/>
          <p:cNvSpPr txBox="1"/>
          <p:nvPr/>
        </p:nvSpPr>
        <p:spPr>
          <a:xfrm>
            <a:off x="6483096"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beats @champion on PR-AUC by ≥ 0.005?</a:t>
            </a:r>
            <a:endParaRPr lang="en-US" sz="1350" dirty="0"/>
          </a:p>
        </p:txBody>
      </p:sp>
      <p:sp>
        <p:nvSpPr>
          <p:cNvPr id="21" name="Text 19"/>
          <p:cNvSpPr txBox="1"/>
          <p:nvPr/>
        </p:nvSpPr>
        <p:spPr>
          <a:xfrm>
            <a:off x="8769096"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22" name="Shape 20"/>
          <p:cNvSpPr/>
          <p:nvPr/>
        </p:nvSpPr>
        <p:spPr>
          <a:xfrm>
            <a:off x="9107424"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3" name="Shape 21"/>
          <p:cNvSpPr/>
          <p:nvPr/>
        </p:nvSpPr>
        <p:spPr>
          <a:xfrm>
            <a:off x="9336024" y="2011680"/>
            <a:ext cx="420624" cy="420624"/>
          </a:xfrm>
          <a:prstGeom prst="ellipse">
            <a:avLst/>
          </a:prstGeom>
          <a:solidFill>
            <a:srgbClr val="123F3A"/>
          </a:solidFill>
          <a:ln w="15875">
            <a:solidFill>
              <a:srgbClr val="3ED6C0"/>
            </a:solidFill>
            <a:prstDash val="solid"/>
          </a:ln>
        </p:spPr>
      </p:sp>
      <p:sp>
        <p:nvSpPr>
          <p:cNvPr id="24" name="Text 22"/>
          <p:cNvSpPr txBox="1"/>
          <p:nvPr/>
        </p:nvSpPr>
        <p:spPr>
          <a:xfrm>
            <a:off x="9336024"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9336024" y="2560320"/>
            <a:ext cx="2103120" cy="502920"/>
          </a:xfrm>
          <a:prstGeom prst="rect">
            <a:avLst/>
          </a:prstGeom>
          <a:noFill/>
          <a:ln/>
        </p:spPr>
        <p:txBody>
          <a:bodyPr wrap="square" lIns="0" tIns="0" rIns="0" bIns="0" rtlCol="0" anchor="ctr"/>
          <a:lstStyle/>
          <a:p>
            <a:pPr indent="0" marL="0">
              <a:buNone/>
            </a:pPr>
            <a:r>
              <a:rPr lang="en-US" sz="2100" dirty="0">
                <a:solidFill>
                  <a:srgbClr val="3ED6C0"/>
                </a:solidFill>
                <a:latin typeface="Georgia" pitchFamily="34" charset="0"/>
                <a:ea typeface="Georgia" pitchFamily="34" charset="-122"/>
                <a:cs typeface="Georgia" pitchFamily="34" charset="-120"/>
              </a:rPr>
              <a:t>@champion</a:t>
            </a:r>
            <a:endParaRPr lang="en-US" sz="2100" dirty="0"/>
          </a:p>
        </p:txBody>
      </p:sp>
      <p:sp>
        <p:nvSpPr>
          <p:cNvPr id="26" name="Text 24"/>
          <p:cNvSpPr txBox="1"/>
          <p:nvPr/>
        </p:nvSpPr>
        <p:spPr>
          <a:xfrm>
            <a:off x="9336024"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moves the alias; serving follows</a:t>
            </a:r>
            <a:endParaRPr lang="en-US" sz="1350" dirty="0"/>
          </a:p>
        </p:txBody>
      </p:sp>
      <p:sp>
        <p:nvSpPr>
          <p:cNvPr id="27" name="Shape 25"/>
          <p:cNvSpPr/>
          <p:nvPr/>
        </p:nvSpPr>
        <p:spPr>
          <a:xfrm>
            <a:off x="594360" y="4343400"/>
            <a:ext cx="164592" cy="164592"/>
          </a:xfrm>
          <a:prstGeom prst="ellipse">
            <a:avLst/>
          </a:prstGeom>
          <a:solidFill>
            <a:srgbClr val="3ED6C0"/>
          </a:solidFill>
          <a:ln w="12700">
            <a:solidFill>
              <a:srgbClr val="3ED6C0"/>
            </a:solidFill>
            <a:prstDash val="solid"/>
          </a:ln>
        </p:spPr>
      </p:sp>
      <p:sp>
        <p:nvSpPr>
          <p:cNvPr id="28" name="Text 26"/>
          <p:cNvSpPr txBox="1"/>
          <p:nvPr/>
        </p:nvSpPr>
        <p:spPr>
          <a:xfrm>
            <a:off x="960120" y="4251960"/>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Identical challenger → rejected</a:t>
            </a:r>
            <a:endParaRPr lang="en-US" sz="1600" dirty="0"/>
          </a:p>
        </p:txBody>
      </p:sp>
      <p:sp>
        <p:nvSpPr>
          <p:cNvPr id="29" name="Text 27"/>
          <p:cNvSpPr txBox="1"/>
          <p:nvPr/>
        </p:nvSpPr>
        <p:spPr>
          <a:xfrm>
            <a:off x="5212080" y="4251960"/>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CI trains the same model twice; the second must fail the gate</a:t>
            </a:r>
            <a:endParaRPr lang="en-US" sz="1500" dirty="0"/>
          </a:p>
        </p:txBody>
      </p:sp>
      <p:sp>
        <p:nvSpPr>
          <p:cNvPr id="30" name="Shape 28"/>
          <p:cNvSpPr/>
          <p:nvPr/>
        </p:nvSpPr>
        <p:spPr>
          <a:xfrm>
            <a:off x="594360" y="5001768"/>
            <a:ext cx="164592" cy="164592"/>
          </a:xfrm>
          <a:prstGeom prst="ellipse">
            <a:avLst/>
          </a:prstGeom>
          <a:solidFill>
            <a:srgbClr val="3ED6C0"/>
          </a:solidFill>
          <a:ln w="12700">
            <a:solidFill>
              <a:srgbClr val="3ED6C0"/>
            </a:solidFill>
            <a:prstDash val="solid"/>
          </a:ln>
        </p:spPr>
      </p:sp>
      <p:sp>
        <p:nvSpPr>
          <p:cNvPr id="31" name="Text 29"/>
          <p:cNvSpPr txBox="1"/>
          <p:nvPr/>
        </p:nvSpPr>
        <p:spPr>
          <a:xfrm>
            <a:off x="960120" y="4910328"/>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Shadow scoring</a:t>
            </a:r>
            <a:endParaRPr lang="en-US" sz="1600" dirty="0"/>
          </a:p>
        </p:txBody>
      </p:sp>
      <p:sp>
        <p:nvSpPr>
          <p:cNvPr id="32" name="Text 30"/>
          <p:cNvSpPr txBox="1"/>
          <p:nvPr/>
        </p:nvSpPr>
        <p:spPr>
          <a:xfrm>
            <a:off x="5212080" y="4910328"/>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a challenger scores live traffic silently before it can answer anyone</a:t>
            </a:r>
            <a:endParaRPr lang="en-US" sz="1500" dirty="0"/>
          </a:p>
        </p:txBody>
      </p:sp>
      <p:sp>
        <p:nvSpPr>
          <p:cNvPr id="33" name="Shape 31"/>
          <p:cNvSpPr/>
          <p:nvPr/>
        </p:nvSpPr>
        <p:spPr>
          <a:xfrm>
            <a:off x="594360" y="5660136"/>
            <a:ext cx="164592" cy="164592"/>
          </a:xfrm>
          <a:prstGeom prst="ellipse">
            <a:avLst/>
          </a:prstGeom>
          <a:solidFill>
            <a:srgbClr val="3ED6C0"/>
          </a:solidFill>
          <a:ln w="12700">
            <a:solidFill>
              <a:srgbClr val="3ED6C0"/>
            </a:solidFill>
            <a:prstDash val="solid"/>
          </a:ln>
        </p:spPr>
      </p:sp>
      <p:sp>
        <p:nvSpPr>
          <p:cNvPr id="34" name="Text 32"/>
          <p:cNvSpPr txBox="1"/>
          <p:nvPr/>
        </p:nvSpPr>
        <p:spPr>
          <a:xfrm>
            <a:off x="960120" y="5568696"/>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Idempotent pipeline</a:t>
            </a:r>
            <a:endParaRPr lang="en-US" sz="1600" dirty="0"/>
          </a:p>
        </p:txBody>
      </p:sp>
      <p:sp>
        <p:nvSpPr>
          <p:cNvPr id="35" name="Text 33"/>
          <p:cNvSpPr txBox="1"/>
          <p:nvPr/>
        </p:nvSpPr>
        <p:spPr>
          <a:xfrm>
            <a:off x="5212080" y="5568696"/>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running it twice changes nothing; a failed night can be re-run safely</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SERVING · FASTAPI + SHAP</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Every prediction explains itself</a:t>
            </a:r>
            <a:endParaRPr lang="en-US" sz="3200" dirty="0"/>
          </a:p>
        </p:txBody>
      </p:sp>
      <p:pic>
        <p:nvPicPr>
          <p:cNvPr id="4" name="Image 0" descr="/private/tmp/claude-501/-Users-satya-03-subscriber-dropout-detection/e6feba3e-4854-4bf1-8325-ba9c654b27ec/scratchpad/deck/img/score.png">    </p:cNvPr>
          <p:cNvPicPr>
            <a:picLocks noChangeAspect="1"/>
          </p:cNvPicPr>
          <p:nvPr/>
        </p:nvPicPr>
        <p:blipFill>
          <a:blip r:embed="rId1"/>
          <a:stretch>
            <a:fillRect/>
          </a:stretch>
        </p:blipFill>
        <p:spPr>
          <a:xfrm>
            <a:off x="548640" y="1691640"/>
            <a:ext cx="6309360" cy="4732020"/>
          </a:xfrm>
          <a:prstGeom prst="rect">
            <a:avLst/>
          </a:prstGeom>
        </p:spPr>
      </p:pic>
      <p:sp>
        <p:nvSpPr>
          <p:cNvPr id="5" name="Shape 2"/>
          <p:cNvSpPr/>
          <p:nvPr/>
        </p:nvSpPr>
        <p:spPr>
          <a:xfrm>
            <a:off x="7635240" y="1783080"/>
            <a:ext cx="420624" cy="420624"/>
          </a:xfrm>
          <a:prstGeom prst="ellipse">
            <a:avLst/>
          </a:prstGeom>
          <a:solidFill>
            <a:srgbClr val="123F3A"/>
          </a:solidFill>
          <a:ln w="15875">
            <a:solidFill>
              <a:srgbClr val="3ED6C0"/>
            </a:solidFill>
            <a:prstDash val="solid"/>
          </a:ln>
        </p:spPr>
      </p:sp>
      <p:sp>
        <p:nvSpPr>
          <p:cNvPr id="6" name="Text 3"/>
          <p:cNvSpPr txBox="1"/>
          <p:nvPr/>
        </p:nvSpPr>
        <p:spPr>
          <a:xfrm>
            <a:off x="763524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8229600" y="1737360"/>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SHAP drivers add up exactly</a:t>
            </a:r>
            <a:endParaRPr lang="en-US" sz="1600" dirty="0"/>
          </a:p>
        </p:txBody>
      </p:sp>
      <p:sp>
        <p:nvSpPr>
          <p:cNvPr id="8" name="Text 5"/>
          <p:cNvSpPr txBox="1"/>
          <p:nvPr/>
        </p:nvSpPr>
        <p:spPr>
          <a:xfrm>
            <a:off x="8229600" y="2167128"/>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to the prediction, so the reasons cannot disagree with the score</a:t>
            </a:r>
            <a:endParaRPr lang="en-US" sz="1350" dirty="0"/>
          </a:p>
        </p:txBody>
      </p:sp>
      <p:sp>
        <p:nvSpPr>
          <p:cNvPr id="9" name="Shape 6"/>
          <p:cNvSpPr/>
          <p:nvPr/>
        </p:nvSpPr>
        <p:spPr>
          <a:xfrm>
            <a:off x="7635240" y="3264408"/>
            <a:ext cx="420624" cy="420624"/>
          </a:xfrm>
          <a:prstGeom prst="ellipse">
            <a:avLst/>
          </a:prstGeom>
          <a:solidFill>
            <a:srgbClr val="123F3A"/>
          </a:solidFill>
          <a:ln w="15875">
            <a:solidFill>
              <a:srgbClr val="3ED6C0"/>
            </a:solidFill>
            <a:prstDash val="solid"/>
          </a:ln>
        </p:spPr>
      </p:sp>
      <p:sp>
        <p:nvSpPr>
          <p:cNvPr id="10" name="Text 7"/>
          <p:cNvSpPr txBox="1"/>
          <p:nvPr/>
        </p:nvSpPr>
        <p:spPr>
          <a:xfrm>
            <a:off x="7635240" y="326440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8229600" y="3218688"/>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"What would change it"</a:t>
            </a:r>
            <a:endParaRPr lang="en-US" sz="1600" dirty="0"/>
          </a:p>
        </p:txBody>
      </p:sp>
      <p:sp>
        <p:nvSpPr>
          <p:cNvPr id="12" name="Text 9"/>
          <p:cNvSpPr txBox="1"/>
          <p:nvPr/>
        </p:nvSpPr>
        <p:spPr>
          <a:xfrm>
            <a:off x="8229600" y="3648456"/>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each lever is a real second request with one field changed: auto-renew off takes 60% to under 1%</a:t>
            </a:r>
            <a:endParaRPr lang="en-US" sz="1350" dirty="0"/>
          </a:p>
        </p:txBody>
      </p:sp>
      <p:sp>
        <p:nvSpPr>
          <p:cNvPr id="13" name="Shape 10"/>
          <p:cNvSpPr/>
          <p:nvPr/>
        </p:nvSpPr>
        <p:spPr>
          <a:xfrm>
            <a:off x="7635240" y="4745736"/>
            <a:ext cx="420624" cy="420624"/>
          </a:xfrm>
          <a:prstGeom prst="ellipse">
            <a:avLst/>
          </a:prstGeom>
          <a:solidFill>
            <a:srgbClr val="123F3A"/>
          </a:solidFill>
          <a:ln w="15875">
            <a:solidFill>
              <a:srgbClr val="3ED6C0"/>
            </a:solidFill>
            <a:prstDash val="solid"/>
          </a:ln>
        </p:spPr>
      </p:sp>
      <p:sp>
        <p:nvSpPr>
          <p:cNvPr id="14" name="Text 11"/>
          <p:cNvSpPr txBox="1"/>
          <p:nvPr/>
        </p:nvSpPr>
        <p:spPr>
          <a:xfrm>
            <a:off x="7635240" y="474573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8229600" y="4700016"/>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Honest about surprises</a:t>
            </a:r>
            <a:endParaRPr lang="en-US" sz="1600" dirty="0"/>
          </a:p>
        </p:txBody>
      </p:sp>
      <p:sp>
        <p:nvSpPr>
          <p:cNvPr id="16" name="Text 13"/>
          <p:cNvSpPr txBox="1"/>
          <p:nvPr/>
        </p:nvSpPr>
        <p:spPr>
          <a:xfrm>
            <a:off x="8229600" y="5129784"/>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auto-renew raises risk on KKBox: it goes with the cheap short plans that churn most. An association, not a cause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MONITORING · PROMETHEUS, ALERTMANAGER, GRAFANA</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Watching the model after it ships</a:t>
            </a:r>
            <a:endParaRPr lang="en-US" sz="3200" dirty="0"/>
          </a:p>
        </p:txBody>
      </p:sp>
      <p:pic>
        <p:nvPicPr>
          <p:cNvPr id="4" name="Image 0" descr="/private/tmp/claude-501/-Users-satya-03-subscriber-dropout-detection/e6feba3e-4854-4bf1-8325-ba9c654b27ec/scratchpad/deck/img/grafana-drift.png">    </p:cNvPr>
          <p:cNvPicPr>
            <a:picLocks noChangeAspect="1"/>
          </p:cNvPicPr>
          <p:nvPr/>
        </p:nvPicPr>
        <p:blipFill>
          <a:blip r:embed="rId1"/>
          <a:stretch>
            <a:fillRect/>
          </a:stretch>
        </p:blipFill>
        <p:spPr>
          <a:xfrm>
            <a:off x="548640" y="1691640"/>
            <a:ext cx="6949440" cy="3648456"/>
          </a:xfrm>
          <a:prstGeom prst="rect">
            <a:avLst/>
          </a:prstGeom>
        </p:spPr>
      </p:pic>
      <p:sp>
        <p:nvSpPr>
          <p:cNvPr id="5" name="Text 2"/>
          <p:cNvSpPr txBox="1"/>
          <p:nvPr/>
        </p:nvSpPr>
        <p:spPr>
          <a:xfrm>
            <a:off x="7863840" y="1783080"/>
            <a:ext cx="3840480" cy="411480"/>
          </a:xfrm>
          <a:prstGeom prst="rect">
            <a:avLst/>
          </a:prstGeom>
          <a:noFill/>
          <a:ln/>
        </p:spPr>
        <p:txBody>
          <a:bodyPr wrap="square" lIns="0" tIns="0" rIns="0" bIns="0" rtlCol="0" anchor="ctr"/>
          <a:lstStyle/>
          <a:p>
            <a:pPr indent="0" marL="0">
              <a:buNone/>
            </a:pPr>
            <a:r>
              <a:rPr lang="en-US" sz="1900" dirty="0">
                <a:solidFill>
                  <a:srgbClr val="46C88A"/>
                </a:solidFill>
                <a:latin typeface="Georgia" pitchFamily="34" charset="0"/>
                <a:ea typeface="Georgia" pitchFamily="34" charset="-122"/>
                <a:cs typeface="Georgia" pitchFamily="34" charset="-120"/>
              </a:rPr>
              <a:t>Drift: STABLE</a:t>
            </a:r>
            <a:endParaRPr lang="en-US" sz="1900" dirty="0"/>
          </a:p>
        </p:txBody>
      </p:sp>
      <p:sp>
        <p:nvSpPr>
          <p:cNvPr id="6" name="Text 3"/>
          <p:cNvSpPr txBox="1"/>
          <p:nvPr/>
        </p:nvSpPr>
        <p:spPr>
          <a:xfrm>
            <a:off x="7863840" y="2221992"/>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February 2017 data through Postgres. Every feature's PSI is under 0.06 (significant is 0.25)</a:t>
            </a:r>
            <a:endParaRPr lang="en-US" sz="1350" dirty="0"/>
          </a:p>
        </p:txBody>
      </p:sp>
      <p:sp>
        <p:nvSpPr>
          <p:cNvPr id="7" name="Text 4"/>
          <p:cNvSpPr txBox="1"/>
          <p:nvPr/>
        </p:nvSpPr>
        <p:spPr>
          <a:xfrm>
            <a:off x="7863840" y="3264408"/>
            <a:ext cx="3840480" cy="411480"/>
          </a:xfrm>
          <a:prstGeom prst="rect">
            <a:avLst/>
          </a:prstGeom>
          <a:noFill/>
          <a:ln/>
        </p:spPr>
        <p:txBody>
          <a:bodyPr wrap="square" lIns="0" tIns="0" rIns="0" bIns="0" rtlCol="0" anchor="ctr"/>
          <a:lstStyle/>
          <a:p>
            <a:pPr indent="0" marL="0">
              <a:buNone/>
            </a:pPr>
            <a:r>
              <a:rPr lang="en-US" sz="1900" dirty="0">
                <a:solidFill>
                  <a:srgbClr val="3ED6C0"/>
                </a:solidFill>
                <a:latin typeface="Georgia" pitchFamily="34" charset="0"/>
                <a:ea typeface="Georgia" pitchFamily="34" charset="-122"/>
                <a:cs typeface="Georgia" pitchFamily="34" charset="-120"/>
              </a:rPr>
              <a:t>The detector works</a:t>
            </a:r>
            <a:endParaRPr lang="en-US" sz="1900" dirty="0"/>
          </a:p>
        </p:txBody>
      </p:sp>
      <p:sp>
        <p:nvSpPr>
          <p:cNvPr id="8" name="Text 5"/>
          <p:cNvSpPr txBox="1"/>
          <p:nvPr/>
        </p:nvSpPr>
        <p:spPr>
          <a:xfrm>
            <a:off x="7863840" y="3703320"/>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shift two features on purpose and it ranks exactly those two first</a:t>
            </a:r>
            <a:endParaRPr lang="en-US" sz="1350" dirty="0"/>
          </a:p>
        </p:txBody>
      </p:sp>
      <p:sp>
        <p:nvSpPr>
          <p:cNvPr id="9" name="Text 6"/>
          <p:cNvSpPr txBox="1"/>
          <p:nvPr/>
        </p:nvSpPr>
        <p:spPr>
          <a:xfrm>
            <a:off x="7863840" y="4745736"/>
            <a:ext cx="3840480" cy="411480"/>
          </a:xfrm>
          <a:prstGeom prst="rect">
            <a:avLst/>
          </a:prstGeom>
          <a:noFill/>
          <a:ln/>
        </p:spPr>
        <p:txBody>
          <a:bodyPr wrap="square" lIns="0" tIns="0" rIns="0" bIns="0" rtlCol="0" anchor="ctr"/>
          <a:lstStyle/>
          <a:p>
            <a:pPr indent="0" marL="0">
              <a:buNone/>
            </a:pPr>
            <a:r>
              <a:rPr lang="en-US" sz="1900" dirty="0">
                <a:solidFill>
                  <a:srgbClr val="F0A94A"/>
                </a:solidFill>
                <a:latin typeface="Georgia" pitchFamily="34" charset="0"/>
                <a:ea typeface="Georgia" pitchFamily="34" charset="-122"/>
                <a:cs typeface="Georgia" pitchFamily="34" charset="-120"/>
              </a:rPr>
              <a:t>Fairness: DISPARITY</a:t>
            </a:r>
            <a:endParaRPr lang="en-US" sz="1900" dirty="0"/>
          </a:p>
        </p:txBody>
      </p:sp>
      <p:sp>
        <p:nvSpPr>
          <p:cNvPr id="10" name="Text 7"/>
          <p:cNvSpPr txBox="1"/>
          <p:nvPr/>
        </p:nvSpPr>
        <p:spPr>
          <a:xfrm>
            <a:off x="7863840" y="5184648"/>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near-random on the standard plan (949 people). Reported and alerted, not hidden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AUTOMATION · 7 GITHUB ACTIONS JOBS ON EVERY PUSH</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CI tests the system, not just the code</a:t>
            </a:r>
            <a:endParaRPr lang="en-US" sz="3200" dirty="0"/>
          </a:p>
        </p:txBody>
      </p:sp>
      <p:sp>
        <p:nvSpPr>
          <p:cNvPr id="4" name="Shape 2"/>
          <p:cNvSpPr/>
          <p:nvPr/>
        </p:nvSpPr>
        <p:spPr>
          <a:xfrm>
            <a:off x="548640"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384048" cy="384048"/>
          </a:xfrm>
          <a:prstGeom prst="ellipse">
            <a:avLst/>
          </a:prstGeom>
          <a:solidFill>
            <a:srgbClr val="123F3A"/>
          </a:solidFill>
          <a:ln w="15875">
            <a:solidFill>
              <a:srgbClr val="3ED6C0"/>
            </a:solidFill>
            <a:prstDash val="solid"/>
          </a:ln>
        </p:spPr>
      </p:sp>
      <p:sp>
        <p:nvSpPr>
          <p:cNvPr id="6" name="Text 4"/>
          <p:cNvSpPr txBox="1"/>
          <p:nvPr/>
        </p:nvSpPr>
        <p:spPr>
          <a:xfrm>
            <a:off x="777240"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Lint + 456 tests</a:t>
            </a:r>
            <a:endParaRPr lang="en-US" sz="1600" dirty="0"/>
          </a:p>
        </p:txBody>
      </p:sp>
      <p:sp>
        <p:nvSpPr>
          <p:cNvPr id="8" name="Text 6"/>
          <p:cNvSpPr txBox="1"/>
          <p:nvPr/>
        </p:nvSpPr>
        <p:spPr>
          <a:xfrm>
            <a:off x="777240"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unit, API, leakage, metrics config</a:t>
            </a:r>
            <a:endParaRPr lang="en-US" sz="1250" dirty="0"/>
          </a:p>
        </p:txBody>
      </p:sp>
      <p:sp>
        <p:nvSpPr>
          <p:cNvPr id="9" name="Shape 7"/>
          <p:cNvSpPr/>
          <p:nvPr/>
        </p:nvSpPr>
        <p:spPr>
          <a:xfrm>
            <a:off x="3364992"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0" name="Shape 8"/>
          <p:cNvSpPr/>
          <p:nvPr/>
        </p:nvSpPr>
        <p:spPr>
          <a:xfrm>
            <a:off x="3593592" y="2011680"/>
            <a:ext cx="384048" cy="384048"/>
          </a:xfrm>
          <a:prstGeom prst="ellipse">
            <a:avLst/>
          </a:prstGeom>
          <a:solidFill>
            <a:srgbClr val="123F3A"/>
          </a:solidFill>
          <a:ln w="15875">
            <a:solidFill>
              <a:srgbClr val="3ED6C0"/>
            </a:solidFill>
            <a:prstDash val="solid"/>
          </a:ln>
        </p:spPr>
      </p:sp>
      <p:sp>
        <p:nvSpPr>
          <p:cNvPr id="11" name="Text 9"/>
          <p:cNvSpPr txBox="1"/>
          <p:nvPr/>
        </p:nvSpPr>
        <p:spPr>
          <a:xfrm>
            <a:off x="3593592"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593592"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SQLite</a:t>
            </a:r>
            <a:endParaRPr lang="en-US" sz="1600" dirty="0"/>
          </a:p>
        </p:txBody>
      </p:sp>
      <p:sp>
        <p:nvSpPr>
          <p:cNvPr id="13" name="Text 11"/>
          <p:cNvSpPr txBox="1"/>
          <p:nvPr/>
        </p:nvSpPr>
        <p:spPr>
          <a:xfrm>
            <a:off x="3593592"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temporal split, gate, serve, smoke-test</a:t>
            </a:r>
            <a:endParaRPr lang="en-US" sz="1250" dirty="0"/>
          </a:p>
        </p:txBody>
      </p:sp>
      <p:sp>
        <p:nvSpPr>
          <p:cNvPr id="14" name="Shape 12"/>
          <p:cNvSpPr/>
          <p:nvPr/>
        </p:nvSpPr>
        <p:spPr>
          <a:xfrm>
            <a:off x="6181344"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5" name="Shape 13"/>
          <p:cNvSpPr/>
          <p:nvPr/>
        </p:nvSpPr>
        <p:spPr>
          <a:xfrm>
            <a:off x="6409944" y="2011680"/>
            <a:ext cx="384048" cy="384048"/>
          </a:xfrm>
          <a:prstGeom prst="ellipse">
            <a:avLst/>
          </a:prstGeom>
          <a:solidFill>
            <a:srgbClr val="123F3A"/>
          </a:solidFill>
          <a:ln w="15875">
            <a:solidFill>
              <a:srgbClr val="3ED6C0"/>
            </a:solidFill>
            <a:prstDash val="solid"/>
          </a:ln>
        </p:spPr>
      </p:sp>
      <p:sp>
        <p:nvSpPr>
          <p:cNvPr id="16" name="Text 14"/>
          <p:cNvSpPr txBox="1"/>
          <p:nvPr/>
        </p:nvSpPr>
        <p:spPr>
          <a:xfrm>
            <a:off x="6409944"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09944"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Postgres</a:t>
            </a:r>
            <a:endParaRPr lang="en-US" sz="1600" dirty="0"/>
          </a:p>
        </p:txBody>
      </p:sp>
      <p:sp>
        <p:nvSpPr>
          <p:cNvPr id="18" name="Text 16"/>
          <p:cNvSpPr txBox="1"/>
          <p:nvPr/>
        </p:nvSpPr>
        <p:spPr>
          <a:xfrm>
            <a:off x="6409944"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same run on a real Postgres + all demo queries</a:t>
            </a:r>
            <a:endParaRPr lang="en-US" sz="1250" dirty="0"/>
          </a:p>
        </p:txBody>
      </p:sp>
      <p:sp>
        <p:nvSpPr>
          <p:cNvPr id="19" name="Shape 17"/>
          <p:cNvSpPr/>
          <p:nvPr/>
        </p:nvSpPr>
        <p:spPr>
          <a:xfrm>
            <a:off x="8997696"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0" name="Shape 18"/>
          <p:cNvSpPr/>
          <p:nvPr/>
        </p:nvSpPr>
        <p:spPr>
          <a:xfrm>
            <a:off x="9226296" y="2011680"/>
            <a:ext cx="384048" cy="384048"/>
          </a:xfrm>
          <a:prstGeom prst="ellipse">
            <a:avLst/>
          </a:prstGeom>
          <a:solidFill>
            <a:srgbClr val="123F3A"/>
          </a:solidFill>
          <a:ln w="15875">
            <a:solidFill>
              <a:srgbClr val="3ED6C0"/>
            </a:solidFill>
            <a:prstDash val="solid"/>
          </a:ln>
        </p:spPr>
      </p:sp>
      <p:sp>
        <p:nvSpPr>
          <p:cNvPr id="21" name="Text 19"/>
          <p:cNvSpPr txBox="1"/>
          <p:nvPr/>
        </p:nvSpPr>
        <p:spPr>
          <a:xfrm>
            <a:off x="9226296"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226296"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Full pipeline</a:t>
            </a:r>
            <a:endParaRPr lang="en-US" sz="1600" dirty="0"/>
          </a:p>
        </p:txBody>
      </p:sp>
      <p:sp>
        <p:nvSpPr>
          <p:cNvPr id="23" name="Text 21"/>
          <p:cNvSpPr txBox="1"/>
          <p:nvPr/>
        </p:nvSpPr>
        <p:spPr>
          <a:xfrm>
            <a:off x="9226296"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idempotent · identical challenger rejected · drift caught</a:t>
            </a:r>
            <a:endParaRPr lang="en-US" sz="1250" dirty="0"/>
          </a:p>
        </p:txBody>
      </p:sp>
      <p:sp>
        <p:nvSpPr>
          <p:cNvPr id="24" name="Shape 22"/>
          <p:cNvSpPr/>
          <p:nvPr/>
        </p:nvSpPr>
        <p:spPr>
          <a:xfrm>
            <a:off x="548640"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5" name="Shape 23"/>
          <p:cNvSpPr/>
          <p:nvPr/>
        </p:nvSpPr>
        <p:spPr>
          <a:xfrm>
            <a:off x="777240" y="4114800"/>
            <a:ext cx="384048" cy="384048"/>
          </a:xfrm>
          <a:prstGeom prst="ellipse">
            <a:avLst/>
          </a:prstGeom>
          <a:solidFill>
            <a:srgbClr val="123F3A"/>
          </a:solidFill>
          <a:ln w="15875">
            <a:solidFill>
              <a:srgbClr val="3ED6C0"/>
            </a:solidFill>
            <a:prstDash val="solid"/>
          </a:ln>
        </p:spPr>
      </p:sp>
      <p:sp>
        <p:nvSpPr>
          <p:cNvPr id="26" name="Text 2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777240"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Streaming</a:t>
            </a:r>
            <a:endParaRPr lang="en-US" sz="1600" dirty="0"/>
          </a:p>
        </p:txBody>
      </p:sp>
      <p:sp>
        <p:nvSpPr>
          <p:cNvPr id="28" name="Text 26"/>
          <p:cNvSpPr txBox="1"/>
          <p:nvPr/>
        </p:nvSpPr>
        <p:spPr>
          <a:xfrm>
            <a:off x="777240"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poison messages go to the dead-letter topic</a:t>
            </a:r>
            <a:endParaRPr lang="en-US" sz="1250" dirty="0"/>
          </a:p>
        </p:txBody>
      </p:sp>
      <p:sp>
        <p:nvSpPr>
          <p:cNvPr id="29" name="Shape 27"/>
          <p:cNvSpPr/>
          <p:nvPr/>
        </p:nvSpPr>
        <p:spPr>
          <a:xfrm>
            <a:off x="3364992"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0" name="Shape 28"/>
          <p:cNvSpPr/>
          <p:nvPr/>
        </p:nvSpPr>
        <p:spPr>
          <a:xfrm>
            <a:off x="3593592" y="4114800"/>
            <a:ext cx="384048" cy="384048"/>
          </a:xfrm>
          <a:prstGeom prst="ellipse">
            <a:avLst/>
          </a:prstGeom>
          <a:solidFill>
            <a:srgbClr val="123F3A"/>
          </a:solidFill>
          <a:ln w="15875">
            <a:solidFill>
              <a:srgbClr val="3ED6C0"/>
            </a:solidFill>
            <a:prstDash val="solid"/>
          </a:ln>
        </p:spPr>
      </p:sp>
      <p:sp>
        <p:nvSpPr>
          <p:cNvPr id="31" name="Text 29"/>
          <p:cNvSpPr txBox="1"/>
          <p:nvPr/>
        </p:nvSpPr>
        <p:spPr>
          <a:xfrm>
            <a:off x="3593592"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3593592"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Docker image</a:t>
            </a:r>
            <a:endParaRPr lang="en-US" sz="1600" dirty="0"/>
          </a:p>
        </p:txBody>
      </p:sp>
      <p:sp>
        <p:nvSpPr>
          <p:cNvPr id="33" name="Text 31"/>
          <p:cNvSpPr txBox="1"/>
          <p:nvPr/>
        </p:nvSpPr>
        <p:spPr>
          <a:xfrm>
            <a:off x="3593592"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built and smoke-tested</a:t>
            </a:r>
            <a:endParaRPr lang="en-US" sz="1250" dirty="0"/>
          </a:p>
        </p:txBody>
      </p:sp>
      <p:sp>
        <p:nvSpPr>
          <p:cNvPr id="34" name="Shape 32"/>
          <p:cNvSpPr/>
          <p:nvPr/>
        </p:nvSpPr>
        <p:spPr>
          <a:xfrm>
            <a:off x="6181344" y="3886200"/>
            <a:ext cx="2606040" cy="1828800"/>
          </a:xfrm>
          <a:prstGeom prst="roundRect">
            <a:avLst>
              <a:gd name="adj" fmla="val 6000"/>
            </a:avLst>
          </a:prstGeom>
          <a:solidFill>
            <a:srgbClr val="123F3A"/>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5" name="Shape 33"/>
          <p:cNvSpPr/>
          <p:nvPr/>
        </p:nvSpPr>
        <p:spPr>
          <a:xfrm>
            <a:off x="6409944" y="4114800"/>
            <a:ext cx="384048" cy="384048"/>
          </a:xfrm>
          <a:prstGeom prst="ellipse">
            <a:avLst/>
          </a:prstGeom>
          <a:solidFill>
            <a:srgbClr val="123F3A"/>
          </a:solidFill>
          <a:ln w="15875">
            <a:solidFill>
              <a:srgbClr val="3ED6C0"/>
            </a:solidFill>
            <a:prstDash val="solid"/>
          </a:ln>
        </p:spPr>
      </p:sp>
      <p:sp>
        <p:nvSpPr>
          <p:cNvPr id="36" name="Text 34"/>
          <p:cNvSpPr txBox="1"/>
          <p:nvPr/>
        </p:nvSpPr>
        <p:spPr>
          <a:xfrm>
            <a:off x="6409944"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7</a:t>
            </a:r>
            <a:endParaRPr lang="en-US" sz="1400" dirty="0"/>
          </a:p>
        </p:txBody>
      </p:sp>
      <p:sp>
        <p:nvSpPr>
          <p:cNvPr id="37" name="Text 35"/>
          <p:cNvSpPr txBox="1"/>
          <p:nvPr/>
        </p:nvSpPr>
        <p:spPr>
          <a:xfrm>
            <a:off x="6409944" y="4617720"/>
            <a:ext cx="2194560" cy="411480"/>
          </a:xfrm>
          <a:prstGeom prst="rect">
            <a:avLst/>
          </a:prstGeom>
          <a:noFill/>
          <a:ln/>
        </p:spPr>
        <p:txBody>
          <a:bodyPr wrap="square" lIns="0" tIns="0" rIns="0" bIns="0" rtlCol="0" anchor="ctr"/>
          <a:lstStyle/>
          <a:p>
            <a:pPr indent="0" marL="0">
              <a:buNone/>
            </a:pPr>
            <a:r>
              <a:rPr lang="en-US" sz="1600" b="1" dirty="0">
                <a:solidFill>
                  <a:srgbClr val="3ED6C0"/>
                </a:solidFill>
                <a:latin typeface="Arial" pitchFamily="34" charset="0"/>
                <a:ea typeface="Arial" pitchFamily="34" charset="-122"/>
                <a:cs typeface="Arial" pitchFamily="34" charset="-120"/>
              </a:rPr>
              <a:t>Publish (CD)</a:t>
            </a:r>
            <a:endParaRPr lang="en-US" sz="1600" dirty="0"/>
          </a:p>
        </p:txBody>
      </p:sp>
      <p:sp>
        <p:nvSpPr>
          <p:cNvPr id="38" name="Text 36"/>
          <p:cNvSpPr txBox="1"/>
          <p:nvPr/>
        </p:nvSpPr>
        <p:spPr>
          <a:xfrm>
            <a:off x="6409944"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on main: image to ghcr.io, tagged with the commit</a:t>
            </a:r>
            <a:endParaRPr lang="en-US" sz="1250" dirty="0"/>
          </a:p>
        </p:txBody>
      </p:sp>
      <p:sp>
        <p:nvSpPr>
          <p:cNvPr id="39" name="Text 37"/>
          <p:cNvSpPr txBox="1"/>
          <p:nvPr/>
        </p:nvSpPr>
        <p:spPr>
          <a:xfrm>
            <a:off x="8997696" y="4114800"/>
            <a:ext cx="2834640" cy="1737360"/>
          </a:xfrm>
          <a:prstGeom prst="rect">
            <a:avLst/>
          </a:prstGeom>
          <a:noFill/>
          <a:ln/>
        </p:spPr>
        <p:txBody>
          <a:bodyPr wrap="square" lIns="0" tIns="0" rIns="0" bIns="0" rtlCol="0" anchor="ctr"/>
          <a:lstStyle/>
          <a:p>
            <a:pPr indent="0" marL="0">
              <a:buNone/>
            </a:pPr>
            <a:r>
              <a:rPr lang="en-US" sz="1400" dirty="0">
                <a:solidFill>
                  <a:srgbClr val="7A8396"/>
                </a:solidFill>
                <a:latin typeface="Arial" pitchFamily="34" charset="0"/>
                <a:ea typeface="Arial" pitchFamily="34" charset="-122"/>
                <a:cs typeface="Arial" pitchFamily="34" charset="-120"/>
              </a:rPr>
              <a:t>Plus Prefect for the nightly retrain-and-gate flow, DVC for versioned data and parameters.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WHAT THE MODEL ACTUALLY ACHIEVES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Honest results</a:t>
            </a:r>
            <a:endParaRPr lang="en-US" sz="3200" dirty="0"/>
          </a:p>
        </p:txBody>
      </p:sp>
      <p:sp>
        <p:nvSpPr>
          <p:cNvPr id="4" name="Shape 2"/>
          <p:cNvSpPr/>
          <p:nvPr/>
        </p:nvSpPr>
        <p:spPr>
          <a:xfrm>
            <a:off x="54864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868680" y="1783080"/>
            <a:ext cx="292608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0.073</a:t>
            </a:r>
            <a:endParaRPr lang="en-US" sz="4800" dirty="0"/>
          </a:p>
        </p:txBody>
      </p:sp>
      <p:sp>
        <p:nvSpPr>
          <p:cNvPr id="6" name="Text 4"/>
          <p:cNvSpPr txBox="1"/>
          <p:nvPr/>
        </p:nvSpPr>
        <p:spPr>
          <a:xfrm>
            <a:off x="86868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PR-AUC: 4.8× better than guessing (0.015)</a:t>
            </a:r>
            <a:endParaRPr lang="en-US" sz="1300" dirty="0"/>
          </a:p>
        </p:txBody>
      </p:sp>
      <p:sp>
        <p:nvSpPr>
          <p:cNvPr id="7" name="Shape 5"/>
          <p:cNvSpPr/>
          <p:nvPr/>
        </p:nvSpPr>
        <p:spPr>
          <a:xfrm>
            <a:off x="429768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8" name="Text 6"/>
          <p:cNvSpPr txBox="1"/>
          <p:nvPr/>
        </p:nvSpPr>
        <p:spPr>
          <a:xfrm>
            <a:off x="4617720" y="1783080"/>
            <a:ext cx="292608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16.8%</a:t>
            </a:r>
            <a:endParaRPr lang="en-US" sz="4800" dirty="0"/>
          </a:p>
        </p:txBody>
      </p:sp>
      <p:sp>
        <p:nvSpPr>
          <p:cNvPr id="9" name="Text 7"/>
          <p:cNvSpPr txBox="1"/>
          <p:nvPr/>
        </p:nvSpPr>
        <p:spPr>
          <a:xfrm>
            <a:off x="461772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churners caught at the 0.05 threshold</a:t>
            </a:r>
            <a:endParaRPr lang="en-US" sz="1300" dirty="0"/>
          </a:p>
        </p:txBody>
      </p:sp>
      <p:sp>
        <p:nvSpPr>
          <p:cNvPr id="10" name="Shape 8"/>
          <p:cNvSpPr/>
          <p:nvPr/>
        </p:nvSpPr>
        <p:spPr>
          <a:xfrm>
            <a:off x="804672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Text 9"/>
          <p:cNvSpPr txBox="1"/>
          <p:nvPr/>
        </p:nvSpPr>
        <p:spPr>
          <a:xfrm>
            <a:off x="8366760" y="1783080"/>
            <a:ext cx="2926080" cy="868680"/>
          </a:xfrm>
          <a:prstGeom prst="rect">
            <a:avLst/>
          </a:prstGeom>
          <a:noFill/>
          <a:ln/>
        </p:spPr>
        <p:txBody>
          <a:bodyPr wrap="square" lIns="0" tIns="0" rIns="0" bIns="0" rtlCol="0" anchor="b"/>
          <a:lstStyle/>
          <a:p>
            <a:pPr indent="0" marL="0">
              <a:buNone/>
            </a:pPr>
            <a:r>
              <a:rPr lang="en-US" sz="4800" dirty="0">
                <a:solidFill>
                  <a:srgbClr val="46C88A"/>
                </a:solidFill>
                <a:latin typeface="Georgia" pitchFamily="34" charset="0"/>
                <a:ea typeface="Georgia" pitchFamily="34" charset="-122"/>
                <a:cs typeface="Georgia" pitchFamily="34" charset="-120"/>
              </a:rPr>
              <a:t>0.004</a:t>
            </a:r>
            <a:endParaRPr lang="en-US" sz="4800" dirty="0"/>
          </a:p>
        </p:txBody>
      </p:sp>
      <p:sp>
        <p:nvSpPr>
          <p:cNvPr id="12" name="Text 10"/>
          <p:cNvSpPr txBox="1"/>
          <p:nvPr/>
        </p:nvSpPr>
        <p:spPr>
          <a:xfrm>
            <a:off x="836676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calibration error: a predicted 5% means ~5%</a:t>
            </a:r>
            <a:endParaRPr lang="en-US" sz="1300" dirty="0"/>
          </a:p>
        </p:txBody>
      </p:sp>
      <p:sp>
        <p:nvSpPr>
          <p:cNvPr id="13" name="Text 11"/>
          <p:cNvSpPr txBox="1"/>
          <p:nvPr/>
        </p:nvSpPr>
        <p:spPr>
          <a:xfrm>
            <a:off x="548640" y="4160520"/>
            <a:ext cx="4572000" cy="45720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Limitations</a:t>
            </a:r>
            <a:endParaRPr lang="en-US" sz="2200" dirty="0"/>
          </a:p>
        </p:txBody>
      </p:sp>
      <p:sp>
        <p:nvSpPr>
          <p:cNvPr id="14" name="Shape 12"/>
          <p:cNvSpPr/>
          <p:nvPr/>
        </p:nvSpPr>
        <p:spPr>
          <a:xfrm>
            <a:off x="594360" y="4773168"/>
            <a:ext cx="128016" cy="128016"/>
          </a:xfrm>
          <a:prstGeom prst="ellipse">
            <a:avLst/>
          </a:prstGeom>
          <a:solidFill>
            <a:srgbClr val="3ED6C0"/>
          </a:solidFill>
          <a:ln w="12700">
            <a:solidFill>
              <a:srgbClr val="3ED6C0"/>
            </a:solidFill>
            <a:prstDash val="solid"/>
          </a:ln>
        </p:spPr>
      </p:sp>
      <p:sp>
        <p:nvSpPr>
          <p:cNvPr id="15" name="Text 13"/>
          <p:cNvSpPr txBox="1"/>
          <p:nvPr/>
        </p:nvSpPr>
        <p:spPr>
          <a:xfrm>
            <a:off x="914400" y="46634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Modest model: the data has no support or payment-failure signal</a:t>
            </a:r>
            <a:endParaRPr lang="en-US" sz="1500" dirty="0"/>
          </a:p>
        </p:txBody>
      </p:sp>
      <p:sp>
        <p:nvSpPr>
          <p:cNvPr id="16" name="Shape 14"/>
          <p:cNvSpPr/>
          <p:nvPr/>
        </p:nvSpPr>
        <p:spPr>
          <a:xfrm>
            <a:off x="594360" y="5230368"/>
            <a:ext cx="128016" cy="128016"/>
          </a:xfrm>
          <a:prstGeom prst="ellipse">
            <a:avLst/>
          </a:prstGeom>
          <a:solidFill>
            <a:srgbClr val="3ED6C0"/>
          </a:solidFill>
          <a:ln w="12700">
            <a:solidFill>
              <a:srgbClr val="3ED6C0"/>
            </a:solidFill>
            <a:prstDash val="solid"/>
          </a:ln>
        </p:spPr>
      </p:sp>
      <p:sp>
        <p:nvSpPr>
          <p:cNvPr id="17" name="Text 15"/>
          <p:cNvSpPr txBox="1"/>
          <p:nvPr/>
        </p:nvSpPr>
        <p:spPr>
          <a:xfrm>
            <a:off x="914400" y="51206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Fairness audit fails for the standard plan</a:t>
            </a:r>
            <a:endParaRPr lang="en-US" sz="1500" dirty="0"/>
          </a:p>
        </p:txBody>
      </p:sp>
      <p:sp>
        <p:nvSpPr>
          <p:cNvPr id="18" name="Shape 16"/>
          <p:cNvSpPr/>
          <p:nvPr/>
        </p:nvSpPr>
        <p:spPr>
          <a:xfrm>
            <a:off x="594360" y="5687568"/>
            <a:ext cx="128016" cy="128016"/>
          </a:xfrm>
          <a:prstGeom prst="ellipse">
            <a:avLst/>
          </a:prstGeom>
          <a:solidFill>
            <a:srgbClr val="3ED6C0"/>
          </a:solidFill>
          <a:ln w="12700">
            <a:solidFill>
              <a:srgbClr val="3ED6C0"/>
            </a:solidFill>
            <a:prstDash val="solid"/>
          </a:ln>
        </p:spPr>
      </p:sp>
      <p:sp>
        <p:nvSpPr>
          <p:cNvPr id="19" name="Text 17"/>
          <p:cNvSpPr txBox="1"/>
          <p:nvPr/>
        </p:nvSpPr>
        <p:spPr>
          <a:xfrm>
            <a:off x="914400" y="55778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Cost figures are placeholders; the cost audit recommends 0.43 over the F1-tuned 0.05</a:t>
            </a:r>
            <a:endParaRPr lang="en-US" sz="1500" dirty="0"/>
          </a:p>
        </p:txBody>
      </p:sp>
      <p:sp>
        <p:nvSpPr>
          <p:cNvPr id="20" name="Shape 18"/>
          <p:cNvSpPr/>
          <p:nvPr/>
        </p:nvSpPr>
        <p:spPr>
          <a:xfrm>
            <a:off x="594360" y="6144768"/>
            <a:ext cx="128016" cy="128016"/>
          </a:xfrm>
          <a:prstGeom prst="ellipse">
            <a:avLst/>
          </a:prstGeom>
          <a:solidFill>
            <a:srgbClr val="3ED6C0"/>
          </a:solidFill>
          <a:ln w="12700">
            <a:solidFill>
              <a:srgbClr val="3ED6C0"/>
            </a:solidFill>
            <a:prstDash val="solid"/>
          </a:ln>
        </p:spPr>
      </p:sp>
      <p:sp>
        <p:nvSpPr>
          <p:cNvPr id="21" name="Text 19"/>
          <p:cNvSpPr txBox="1"/>
          <p:nvPr/>
        </p:nvSpPr>
        <p:spPr>
          <a:xfrm>
            <a:off x="914400" y="60350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Runs on Docker locally: a 15 GB warehouse fits no free cloud tier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554480"/>
            <a:ext cx="10972800" cy="100584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Thank you</a:t>
            </a:r>
            <a:endParaRPr lang="en-US" sz="5400" dirty="0"/>
          </a:p>
        </p:txBody>
      </p:sp>
      <p:sp>
        <p:nvSpPr>
          <p:cNvPr id="3" name="Text 1"/>
          <p:cNvSpPr txBox="1"/>
          <p:nvPr/>
        </p:nvSpPr>
        <p:spPr>
          <a:xfrm>
            <a:off x="548640" y="2926080"/>
            <a:ext cx="5486400" cy="457200"/>
          </a:xfrm>
          <a:prstGeom prst="rect">
            <a:avLst/>
          </a:prstGeom>
          <a:noFill/>
          <a:ln/>
        </p:spPr>
        <p:txBody>
          <a:bodyPr wrap="square" lIns="0" tIns="0" rIns="0" bIns="0" rtlCol="0" anchor="ctr"/>
          <a:lstStyle/>
          <a:p>
            <a:pPr indent="0" marL="0">
              <a:buNone/>
            </a:pPr>
            <a:r>
              <a:rPr lang="en-US" sz="1400" b="1" spc="300" kern="0" dirty="0">
                <a:solidFill>
                  <a:srgbClr val="3ED6C0"/>
                </a:solidFill>
                <a:latin typeface="Arial" pitchFamily="34" charset="0"/>
                <a:ea typeface="Arial" pitchFamily="34" charset="-122"/>
                <a:cs typeface="Arial" pitchFamily="34" charset="-120"/>
              </a:rPr>
              <a:t>Next steps</a:t>
            </a:r>
            <a:endParaRPr lang="en-US" sz="1400" dirty="0"/>
          </a:p>
        </p:txBody>
      </p:sp>
      <p:sp>
        <p:nvSpPr>
          <p:cNvPr id="4" name="Shape 2"/>
          <p:cNvSpPr/>
          <p:nvPr/>
        </p:nvSpPr>
        <p:spPr>
          <a:xfrm>
            <a:off x="548640" y="3520440"/>
            <a:ext cx="384048" cy="384048"/>
          </a:xfrm>
          <a:prstGeom prst="ellipse">
            <a:avLst/>
          </a:prstGeom>
          <a:solidFill>
            <a:srgbClr val="123F3A"/>
          </a:solidFill>
          <a:ln w="15875">
            <a:solidFill>
              <a:srgbClr val="3ED6C0"/>
            </a:solidFill>
            <a:prstDash val="solid"/>
          </a:ln>
        </p:spPr>
      </p:sp>
      <p:sp>
        <p:nvSpPr>
          <p:cNvPr id="5" name="Text 3"/>
          <p:cNvSpPr txBox="1"/>
          <p:nvPr/>
        </p:nvSpPr>
        <p:spPr>
          <a:xfrm>
            <a:off x="548640" y="352044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43000" y="352044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Richer listening features from the full 392M-row logs</a:t>
            </a:r>
            <a:endParaRPr lang="en-US" sz="1700" dirty="0"/>
          </a:p>
        </p:txBody>
      </p:sp>
      <p:sp>
        <p:nvSpPr>
          <p:cNvPr id="7" name="Shape 5"/>
          <p:cNvSpPr/>
          <p:nvPr/>
        </p:nvSpPr>
        <p:spPr>
          <a:xfrm>
            <a:off x="548640" y="4160520"/>
            <a:ext cx="384048" cy="384048"/>
          </a:xfrm>
          <a:prstGeom prst="ellipse">
            <a:avLst/>
          </a:prstGeom>
          <a:solidFill>
            <a:srgbClr val="123F3A"/>
          </a:solidFill>
          <a:ln w="15875">
            <a:solidFill>
              <a:srgbClr val="3ED6C0"/>
            </a:solidFill>
            <a:prstDash val="solid"/>
          </a:ln>
        </p:spPr>
      </p:sp>
      <p:sp>
        <p:nvSpPr>
          <p:cNvPr id="8" name="Text 6"/>
          <p:cNvSpPr txBox="1"/>
          <p:nvPr/>
        </p:nvSpPr>
        <p:spPr>
          <a:xfrm>
            <a:off x="548640" y="416052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43000" y="416052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Real offer costs, so the threshold is set by money, not F1</a:t>
            </a:r>
            <a:endParaRPr lang="en-US" sz="1700" dirty="0"/>
          </a:p>
        </p:txBody>
      </p:sp>
      <p:sp>
        <p:nvSpPr>
          <p:cNvPr id="10" name="Shape 8"/>
          <p:cNvSpPr/>
          <p:nvPr/>
        </p:nvSpPr>
        <p:spPr>
          <a:xfrm>
            <a:off x="548640" y="4800600"/>
            <a:ext cx="384048" cy="384048"/>
          </a:xfrm>
          <a:prstGeom prst="ellipse">
            <a:avLst/>
          </a:prstGeom>
          <a:solidFill>
            <a:srgbClr val="123F3A"/>
          </a:solidFill>
          <a:ln w="15875">
            <a:solidFill>
              <a:srgbClr val="3ED6C0"/>
            </a:solidFill>
            <a:prstDash val="solid"/>
          </a:ln>
        </p:spPr>
      </p:sp>
      <p:sp>
        <p:nvSpPr>
          <p:cNvPr id="11" name="Text 9"/>
          <p:cNvSpPr txBox="1"/>
          <p:nvPr/>
        </p:nvSpPr>
        <p:spPr>
          <a:xfrm>
            <a:off x="548640" y="48006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43000" y="480060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competition's churn definition, alongside ours</a:t>
            </a:r>
            <a:endParaRPr lang="en-US" sz="1700" dirty="0"/>
          </a:p>
        </p:txBody>
      </p:sp>
      <p:sp>
        <p:nvSpPr>
          <p:cNvPr id="13" name="Shape 11"/>
          <p:cNvSpPr/>
          <p:nvPr/>
        </p:nvSpPr>
        <p:spPr>
          <a:xfrm>
            <a:off x="548640" y="5440680"/>
            <a:ext cx="384048" cy="384048"/>
          </a:xfrm>
          <a:prstGeom prst="ellipse">
            <a:avLst/>
          </a:prstGeom>
          <a:solidFill>
            <a:srgbClr val="123F3A"/>
          </a:solidFill>
          <a:ln w="15875">
            <a:solidFill>
              <a:srgbClr val="3ED6C0"/>
            </a:solidFill>
            <a:prstDash val="solid"/>
          </a:ln>
        </p:spPr>
      </p:sp>
      <p:sp>
        <p:nvSpPr>
          <p:cNvPr id="14" name="Text 12"/>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43000" y="544068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A managed Kubernetes deployment</a:t>
            </a:r>
            <a:endParaRPr lang="en-US" sz="1700" dirty="0"/>
          </a:p>
        </p:txBody>
      </p:sp>
      <p:sp>
        <p:nvSpPr>
          <p:cNvPr id="16" name="Text 14"/>
          <p:cNvSpPr txBox="1"/>
          <p:nvPr/>
        </p:nvSpPr>
        <p:spPr>
          <a:xfrm>
            <a:off x="548640" y="6172200"/>
            <a:ext cx="10972800" cy="320040"/>
          </a:xfrm>
          <a:prstGeom prst="rect">
            <a:avLst/>
          </a:prstGeom>
          <a:noFill/>
          <a:ln/>
        </p:spPr>
        <p:txBody>
          <a:bodyPr wrap="square" lIns="0" tIns="0" rIns="0" bIns="0" rtlCol="0" anchor="ctr"/>
          <a:lstStyle/>
          <a:p>
            <a:pPr indent="0" marL="0">
              <a:buNone/>
            </a:pPr>
            <a:r>
              <a:rPr lang="en-US" sz="1200" dirty="0">
                <a:solidFill>
                  <a:srgbClr val="7A8396"/>
                </a:solidFill>
                <a:latin typeface="Arial" pitchFamily="34" charset="0"/>
                <a:ea typeface="Arial" pitchFamily="34" charset="-122"/>
                <a:cs typeface="Arial" pitchFamily="34" charset="-120"/>
              </a:rPr>
              <a:t>github.com/markandeyavarma3-lab/subscriber-dropout-detection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LIVE PIPELINE · RETRAIN, GATE, DEPLOY</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Press Run: it retrains on real months</a:t>
            </a:r>
            <a:endParaRPr lang="en-US" sz="3200" dirty="0"/>
          </a:p>
        </p:txBody>
      </p:sp>
      <p:pic>
        <p:nvPicPr>
          <p:cNvPr id="4" name="Image 0" descr="Dashboard Overview: the live pipeline">    </p:cNvPr>
          <p:cNvPicPr>
            <a:picLocks noChangeAspect="1"/>
          </p:cNvPicPr>
          <p:nvPr/>
        </p:nvPicPr>
        <p:blipFill>
          <a:blip r:embed="rId1"/>
          <a:stretch>
            <a:fillRect/>
          </a:stretch>
        </p:blipFill>
        <p:spPr>
          <a:xfrm>
            <a:off x="548640" y="1691640"/>
            <a:ext cx="6309360" cy="4732020"/>
          </a:xfrm>
          <a:prstGeom prst="rect">
            <a:avLst/>
          </a:prstGeom>
        </p:spPr>
      </p:pic>
      <p:sp>
        <p:nvSpPr>
          <p:cNvPr id="5" name="Shape 2"/>
          <p:cNvSpPr/>
          <p:nvPr/>
        </p:nvSpPr>
        <p:spPr>
          <a:xfrm>
            <a:off x="7635240" y="1783080"/>
            <a:ext cx="420624" cy="420624"/>
          </a:xfrm>
          <a:prstGeom prst="ellipse">
            <a:avLst/>
          </a:prstGeom>
          <a:solidFill>
            <a:srgbClr val="123F3A"/>
          </a:solidFill>
          <a:ln w="15875">
            <a:solidFill>
              <a:srgbClr val="3ED6C0"/>
            </a:solidFill>
            <a:prstDash val="solid"/>
          </a:ln>
        </p:spPr>
      </p:sp>
      <p:sp>
        <p:nvSpPr>
          <p:cNvPr id="6" name="Text 3"/>
          <p:cNvSpPr txBox="1"/>
          <p:nvPr/>
        </p:nvSpPr>
        <p:spPr>
          <a:xfrm>
            <a:off x="763524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8229600" y="1737360"/>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Real data, the real pipeline</a:t>
            </a:r>
            <a:endParaRPr lang="en-US" sz="1600" dirty="0"/>
          </a:p>
        </p:txBody>
      </p:sp>
      <p:sp>
        <p:nvSpPr>
          <p:cNvPr id="8" name="Text 5"/>
          <p:cNvSpPr txBox="1"/>
          <p:nvPr/>
        </p:nvSpPr>
        <p:spPr>
          <a:xfrm>
            <a:off x="8229600" y="2167128"/>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each click replays a month of KKBox (Jan–Feb 2017) through features, validation, drift, training and evaluation</a:t>
            </a:r>
            <a:endParaRPr lang="en-US" sz="1350" dirty="0"/>
          </a:p>
        </p:txBody>
      </p:sp>
      <p:sp>
        <p:nvSpPr>
          <p:cNvPr id="9" name="Shape 6"/>
          <p:cNvSpPr/>
          <p:nvPr/>
        </p:nvSpPr>
        <p:spPr>
          <a:xfrm>
            <a:off x="7635240" y="3264408"/>
            <a:ext cx="420624" cy="420624"/>
          </a:xfrm>
          <a:prstGeom prst="ellipse">
            <a:avLst/>
          </a:prstGeom>
          <a:solidFill>
            <a:srgbClr val="123F3A"/>
          </a:solidFill>
          <a:ln w="15875">
            <a:solidFill>
              <a:srgbClr val="3ED6C0"/>
            </a:solidFill>
            <a:prstDash val="solid"/>
          </a:ln>
        </p:spPr>
      </p:sp>
      <p:sp>
        <p:nvSpPr>
          <p:cNvPr id="10" name="Text 7"/>
          <p:cNvSpPr txBox="1"/>
          <p:nvPr/>
        </p:nvSpPr>
        <p:spPr>
          <a:xfrm>
            <a:off x="7635240" y="326440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8229600" y="3218688"/>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The gate decides, live</a:t>
            </a:r>
            <a:endParaRPr lang="en-US" sz="1600" dirty="0"/>
          </a:p>
        </p:txBody>
      </p:sp>
      <p:sp>
        <p:nvSpPr>
          <p:cNvPr id="12" name="Text 9"/>
          <p:cNvSpPr txBox="1"/>
          <p:nvPr/>
        </p:nvSpPr>
        <p:spPr>
          <a:xfrm>
            <a:off x="8229600" y="3648456"/>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month 1 promoted; month 2 rejected (+0.0001, needs +0.005); month 3 promoted (0.0568 vs 0.0489)</a:t>
            </a:r>
            <a:endParaRPr lang="en-US" sz="1350" dirty="0"/>
          </a:p>
        </p:txBody>
      </p:sp>
      <p:sp>
        <p:nvSpPr>
          <p:cNvPr id="13" name="Shape 10"/>
          <p:cNvSpPr/>
          <p:nvPr/>
        </p:nvSpPr>
        <p:spPr>
          <a:xfrm>
            <a:off x="7635240" y="4745736"/>
            <a:ext cx="420624" cy="420624"/>
          </a:xfrm>
          <a:prstGeom prst="ellipse">
            <a:avLst/>
          </a:prstGeom>
          <a:solidFill>
            <a:srgbClr val="123F3A"/>
          </a:solidFill>
          <a:ln w="15875">
            <a:solidFill>
              <a:srgbClr val="3ED6C0"/>
            </a:solidFill>
            <a:prstDash val="solid"/>
          </a:ln>
        </p:spPr>
      </p:sp>
      <p:sp>
        <p:nvSpPr>
          <p:cNvPr id="14" name="Text 11"/>
          <p:cNvSpPr txBox="1"/>
          <p:nvPr/>
        </p:nvSpPr>
        <p:spPr>
          <a:xfrm>
            <a:off x="7635240" y="474573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8229600" y="4700016"/>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A win really deploys</a:t>
            </a:r>
            <a:endParaRPr lang="en-US" sz="1600" dirty="0"/>
          </a:p>
        </p:txBody>
      </p:sp>
      <p:sp>
        <p:nvSpPr>
          <p:cNvPr id="16" name="Text 13"/>
          <p:cNvSpPr txBox="1"/>
          <p:nvPr/>
        </p:nvSpPr>
        <p:spPr>
          <a:xfrm>
            <a:off x="8229600" y="5129784"/>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the API hot-loads the new model and MLflow moves @champion. Restore puts the tested model back</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Subscriber Dropout Detection</dc:title>
  <dc:subject>PptxGenJS Presentation</dc:subject>
  <dc:creator>PptxGenJS</dc:creator>
  <cp:lastModifiedBy>PptxGenJS</cp:lastModifiedBy>
  <cp:revision>1</cp:revision>
  <dcterms:created xsi:type="dcterms:W3CDTF">2026-09-23T16:35:26Z</dcterms:created>
  <dcterms:modified xsi:type="dcterms:W3CDTF">2026-09-23T16:35:26Z</dcterms:modified>
</cp:coreProperties>
</file>