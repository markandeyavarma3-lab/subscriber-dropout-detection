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3.xml" ContentType="application/vnd.openxmlformats-officedocument.presentationml.slide+xml"/>
  <Override PartName="/ppt/notesSlides/notesSlide13.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8" r:id="rId19"/>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Synthetic data (~20% churn)</c:v>
                </c:pt>
              </c:strCache>
            </c:strRef>
          </c:tx>
          <c:spPr>
            <a:solidFill>
              <a:srgbClr val="5A6372"/>
            </a:solidFill>
            <a:effectLst/>
          </c:spPr>
          <c:invertIfNegative val="0"/>
          <c:dLbls>
            <c:numFmt formatCode="0.000" sourceLinked="0"/>
            <c:txPr>
              <a:bodyPr/>
              <a:lstStyle/>
              <a:p>
                <a:pPr>
                  <a:defRPr b="0" i="0" strike="noStrike" sz="1400" u="none">
                    <a:solidFill>
                      <a:srgbClr val="F4F6F8"/>
                    </a:solidFill>
                    <a:latin typeface="Arial"/>
                  </a:defRPr>
                </a:pPr>
              </a:p>
            </c:txPr>
            <c:showLegendKey val="0"/>
            <c:showVal val="1"/>
            <c:showCatName val="0"/>
            <c:showSerName val="0"/>
            <c:showPercent val="0"/>
            <c:showBubbleSize val="0"/>
            <c:showLeaderLines val="0"/>
          </c:dLbls>
          <c:cat>
            <c:multiLvlStrRef>
              <c:f>Sheet1!$A$2:$A$3</c:f>
              <c:multiLvlStrCache>
                <c:ptCount val="2"/>
                <c:lvl>
                  <c:pt idx="0">
                    <c:v>ROC-AUC</c:v>
                  </c:pt>
                  <c:pt idx="1">
                    <c:v>PR-AUC</c:v>
                  </c:pt>
                </c:lvl>
              </c:multiLvlStrCache>
            </c:multiLvlStrRef>
          </c:cat>
          <c:val>
            <c:numRef>
              <c:f>Sheet1!$B$2:$B$3</c:f>
              <c:numCache>
                <c:formatCode>General</c:formatCode>
                <c:ptCount val="2"/>
                <c:pt idx="0">
                  <c:v>0.674</c:v>
                </c:pt>
                <c:pt idx="1">
                  <c:v>0.345</c:v>
                </c:pt>
              </c:numCache>
            </c:numRef>
          </c:val>
        </c:ser>
        <c:ser>
          <c:idx val="1"/>
          <c:order val="1"/>
          <c:tx>
            <c:strRef>
              <c:f>Sheet1!$C$1</c:f>
              <c:strCache>
                <c:ptCount val="1"/>
                <c:pt idx="0">
                  <c:v>Real KKBox (1.5% churn)</c:v>
                </c:pt>
              </c:strCache>
            </c:strRef>
          </c:tx>
          <c:spPr>
            <a:solidFill>
              <a:srgbClr val="3ED6C0"/>
            </a:solidFill>
            <a:effectLst/>
          </c:spPr>
          <c:invertIfNegative val="0"/>
          <c:dLbls>
            <c:numFmt formatCode="0.000" sourceLinked="0"/>
            <c:txPr>
              <a:bodyPr/>
              <a:lstStyle/>
              <a:p>
                <a:pPr>
                  <a:defRPr b="0" i="0" strike="noStrike" sz="1400" u="none">
                    <a:solidFill>
                      <a:srgbClr val="F4F6F8"/>
                    </a:solidFill>
                    <a:latin typeface="Arial"/>
                  </a:defRPr>
                </a:pPr>
              </a:p>
            </c:txPr>
            <c:showLegendKey val="0"/>
            <c:showVal val="1"/>
            <c:showCatName val="0"/>
            <c:showSerName val="0"/>
            <c:showPercent val="0"/>
            <c:showBubbleSize val="0"/>
            <c:showLeaderLines val="0"/>
          </c:dLbls>
          <c:cat>
            <c:multiLvlStrRef>
              <c:f>Sheet1!$A$2:$A$3</c:f>
              <c:multiLvlStrCache>
                <c:ptCount val="2"/>
                <c:lvl>
                  <c:pt idx="0">
                    <c:v>ROC-AUC</c:v>
                  </c:pt>
                  <c:pt idx="1">
                    <c:v>PR-AUC</c:v>
                  </c:pt>
                </c:lvl>
              </c:multiLvlStrCache>
            </c:multiLvlStrRef>
          </c:cat>
          <c:val>
            <c:numRef>
              <c:f>Sheet1!$C$2:$C$3</c:f>
              <c:numCache>
                <c:formatCode>General</c:formatCode>
                <c:ptCount val="2"/>
                <c:pt idx="0">
                  <c:v>0.835</c:v>
                </c:pt>
                <c:pt idx="1">
                  <c:v>0.073</c:v>
                </c:pt>
              </c:numCache>
            </c:numRef>
          </c:val>
        </c:ser>
        <c:dLbls>
          <c:numFmt formatCode="0.000" sourceLinked="0"/>
          <c:txPr>
            <a:bodyPr/>
            <a:lstStyle/>
            <a:p>
              <a:pPr>
                <a:defRPr b="0" i="0" strike="noStrike" sz="1400" u="none">
                  <a:solidFill>
                    <a:srgbClr val="F4F6F8"/>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F4F6F8"/>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22272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A8396"/>
                </a:solidFill>
                <a:latin typeface="Arial"/>
              </a:defRPr>
            </a:pPr>
            <a:endParaRPr lang="en-US"/>
          </a:p>
        </c:txPr>
        <c:crossAx val="2094734554"/>
        <c:crosses val="autoZero"/>
        <c:crossBetween val="between"/>
      </c:valAx>
      <c:spPr>
        <a:solidFill>
          <a:srgbClr val="08090B"/>
        </a:solidFill>
        <a:ln>
          <a:noFill/>
        </a:ln>
        <a:effectLst/>
      </c:spPr>
    </c:plotArea>
    <c:legend>
      <c:legendPos val="b"/>
      <c:overlay val="0"/>
      <c:txPr>
        <a:bodyPr/>
        <a:lstStyle/>
        <a:p>
          <a:pPr>
            <a:defRPr sz="1300">
              <a:solidFill>
                <a:srgbClr val="A9B2BE"/>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Subscription businesses lose revenue when people cancel. If you can spot who is about to cancel, you can act while they are still a customer. This system predicts that for a real music-streaming service - but the model is a small part. Most of the work is what keeps a model trustworthy in production: that is MLOps.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about 1.5% of subscribers cancel in a 30-day window, so a model that says nobody churns is 98.5% accurate and useless. That single fact drives the metric choices later. The system has three jobs: predict, explain, operate.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raw data is validated and cleaned into a Postgres warehouse; point-in-time features train a model that only reaches production through a PR-AUC gate in the MLflow registry; the champion serves through an API and a Kafka stream scorer; Prometheus, Alertmanager and Grafana watch it. Prefect runs the nightly pipeline and GitHub Actions tests and publishes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TablePlus: query 1 (82.8M rows), the subscribers table (44-character anonymised IDs), query 4 (one subscriber's full history, instant thanks to indexes), query 5 (the cleaning log). The key decision: 2.66 million transactions belonged to subscribers missing from the members file, and they were dropped rather than given invented signup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cutoff date T, features use only the 30 days before T; the label is whether the subscriber cancels in the 30 days after. The windows never overlap, so the model cannot see the answer. The split is by time, never random: a random split mixes the future into training and measures memory rather than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moment of the talk. When the project moved from synthetic data to real KKBox data, ROC-AUC went up from 0.674 to 0.835 while PR-AUC fell from 0.345 to 0.073. ROC-AUC would have said things improved when the problem had become much harder. That is why the promotion gate uses PR-AUC.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MLflow: Model training, Experiments, subscriber-dropout, the latest run; then Models, subscriber-dropout-classifier. The live model is whichever version holds the @champion alias. A new model is only promoted if it beats the champion on PR-AUC by at least 0.005 - the margin stops near-identical models swapping on noise. CI proves an identical challenger is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dashboard Score tab: it has already scored the at-risk example at 60%, high risk. Point at the SHAP drivers, then at What would change it. Click Healthy, then Borderline, and let it re-score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Monitoring tab: the drift test has already run and ranks exactly the two shifted features. Then Grafana: model loaded, traffic, drift verdict STABLE from a real check on Feb 2017 data. Raise the fairness failure yourself before anyone asks. Then Prometheus alerts: FairnessDisparity is firing, for exactly that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GitHub Actions page and click into the latest green run. Beyond unit tests, CI proves the system behaves: it trains on SQLite and on Postgres, runs the pipeline twice and checks nothing changes, checks an identical challenger is rejected, injects drift and checks it is detected, sends broken messages to the streaming scorer, and on main publishes the image to GitHub's registry.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the first to say the model is modest: about 5 times better than guessing, because the data lacks strong signals. The fairness audit fails for one plan. The cost numbers are placeholders - the audit prefers 0.43, the served 0.05 is the best F1 on validation. And it runs locally, not on a public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briefly, then invite questions: happy to go into any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dashboard Overview. Click Run 1 Jan 2017 and talk over the stages as they light up; point at Go live and the header, which now names the live model. Then Run 31 Jan 2017: rejected by the gate. Run 28 Feb 2017 after showing MLflow. Press Restore before the Score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90B"/>
        </a:solidFill>
      </p:bgPr>
    </p:bg>
    <p:spTree>
      <p:nvGrpSpPr>
        <p:cNvPr id="1" name=""/>
        <p:cNvGrpSpPr/>
        <p:nvPr/>
      </p:nvGrpSpPr>
      <p:grpSpPr>
        <a:xfrm>
          <a:off x="0" y="0"/>
          <a:ext cx="0" cy="0"/>
          <a:chOff x="0" y="0"/>
          <a:chExt cx="0" cy="0"/>
        </a:xfrm>
      </p:grpSpPr>
      <p:sp>
        <p:nvSpPr>
          <p:cNvPr id="2" name="Text 0"/>
          <p:cNvSpPr txBox="1"/>
          <p:nvPr/>
        </p:nvSpPr>
        <p:spPr>
          <a:xfrm>
            <a:off x="548640" y="1463040"/>
            <a:ext cx="9144000" cy="320040"/>
          </a:xfrm>
          <a:prstGeom prst="rect">
            <a:avLst/>
          </a:prstGeom>
          <a:noFill/>
          <a:ln/>
        </p:spPr>
        <p:txBody>
          <a:bodyPr wrap="square" lIns="0" tIns="0" rIns="0" bIns="0" rtlCol="0" anchor="ctr"/>
          <a:lstStyle/>
          <a:p>
            <a:pPr indent="0" marL="0">
              <a:buNone/>
            </a:pPr>
            <a:r>
              <a:rPr lang="en-US" sz="1300" b="1" spc="400" kern="0" dirty="0">
                <a:solidFill>
                  <a:srgbClr val="3ED6C0"/>
                </a:solidFill>
                <a:latin typeface="Arial" pitchFamily="34" charset="0"/>
                <a:ea typeface="Arial" pitchFamily="34" charset="-122"/>
                <a:cs typeface="Arial" pitchFamily="34" charset="-120"/>
              </a:rPr>
              <a:t>MLOPS · CHURN PREDICTION · REAL DATA</a:t>
            </a:r>
            <a:endParaRPr lang="en-US" sz="1300" dirty="0"/>
          </a:p>
        </p:txBody>
      </p:sp>
      <p:sp>
        <p:nvSpPr>
          <p:cNvPr id="3" name="Text 1"/>
          <p:cNvSpPr txBox="1"/>
          <p:nvPr/>
        </p:nvSpPr>
        <p:spPr>
          <a:xfrm>
            <a:off x="548640" y="1874520"/>
            <a:ext cx="10972800" cy="1188720"/>
          </a:xfrm>
          <a:prstGeom prst="rect">
            <a:avLst/>
          </a:prstGeom>
          <a:noFill/>
          <a:ln/>
        </p:spPr>
        <p:txBody>
          <a:bodyPr wrap="square" lIns="0" tIns="0" rIns="0" bIns="0" rtlCol="0" anchor="ctr"/>
          <a:lstStyle/>
          <a:p>
            <a:pPr indent="0" marL="0">
              <a:buNone/>
            </a:pPr>
            <a:r>
              <a:rPr lang="en-US" sz="5400" dirty="0">
                <a:solidFill>
                  <a:srgbClr val="F4F6F8"/>
                </a:solidFill>
                <a:latin typeface="Georgia" pitchFamily="34" charset="0"/>
                <a:ea typeface="Georgia" pitchFamily="34" charset="-122"/>
                <a:cs typeface="Georgia" pitchFamily="34" charset="-120"/>
              </a:rPr>
              <a:t>Subscriber Dropout Detection</a:t>
            </a:r>
            <a:endParaRPr lang="en-US" sz="5400" dirty="0"/>
          </a:p>
        </p:txBody>
      </p:sp>
      <p:sp>
        <p:nvSpPr>
          <p:cNvPr id="4" name="Text 2"/>
          <p:cNvSpPr txBox="1"/>
          <p:nvPr/>
        </p:nvSpPr>
        <p:spPr>
          <a:xfrm>
            <a:off x="548640" y="3154680"/>
            <a:ext cx="8412480" cy="914400"/>
          </a:xfrm>
          <a:prstGeom prst="rect">
            <a:avLst/>
          </a:prstGeom>
          <a:noFill/>
          <a:ln/>
        </p:spPr>
        <p:txBody>
          <a:bodyPr wrap="square" lIns="0" tIns="0" rIns="0" bIns="0" rtlCol="0" anchor="ctr"/>
          <a:lstStyle/>
          <a:p>
            <a:pPr indent="0" marL="0">
              <a:buNone/>
            </a:pPr>
            <a:r>
              <a:rPr lang="en-US" sz="2000" dirty="0">
                <a:solidFill>
                  <a:srgbClr val="A9B2BE"/>
                </a:solidFill>
                <a:latin typeface="Arial" pitchFamily="34" charset="0"/>
                <a:ea typeface="Arial" pitchFamily="34" charset="-122"/>
                <a:cs typeface="Arial" pitchFamily="34" charset="-120"/>
              </a:rPr>
              <a:t>A system that predicts which subscribers are about to cancel, explains why, and keeps itself honest in production.</a:t>
            </a:r>
            <a:endParaRPr lang="en-US" sz="2000" dirty="0"/>
          </a:p>
        </p:txBody>
      </p:sp>
      <p:sp>
        <p:nvSpPr>
          <p:cNvPr id="5" name="Text 3"/>
          <p:cNvSpPr txBox="1"/>
          <p:nvPr/>
        </p:nvSpPr>
        <p:spPr>
          <a:xfrm>
            <a:off x="548640" y="4709160"/>
            <a:ext cx="2834640" cy="685800"/>
          </a:xfrm>
          <a:prstGeom prst="rect">
            <a:avLst/>
          </a:prstGeom>
          <a:noFill/>
          <a:ln/>
        </p:spPr>
        <p:txBody>
          <a:bodyPr wrap="square" lIns="0" tIns="0" rIns="0" bIns="0" rtlCol="0" anchor="ctr"/>
          <a:lstStyle/>
          <a:p>
            <a:pPr indent="0" marL="0">
              <a:buNone/>
            </a:pPr>
            <a:r>
              <a:rPr lang="en-US" sz="3600" dirty="0">
                <a:solidFill>
                  <a:srgbClr val="E8DFCE"/>
                </a:solidFill>
                <a:latin typeface="Georgia" pitchFamily="34" charset="0"/>
                <a:ea typeface="Georgia" pitchFamily="34" charset="-122"/>
                <a:cs typeface="Georgia" pitchFamily="34" charset="-120"/>
              </a:rPr>
              <a:t>82.8M</a:t>
            </a:r>
            <a:endParaRPr lang="en-US" sz="3600" dirty="0"/>
          </a:p>
        </p:txBody>
      </p:sp>
      <p:sp>
        <p:nvSpPr>
          <p:cNvPr id="6" name="Text 4"/>
          <p:cNvSpPr txBox="1"/>
          <p:nvPr/>
        </p:nvSpPr>
        <p:spPr>
          <a:xfrm>
            <a:off x="548640" y="5394960"/>
            <a:ext cx="2834640" cy="365760"/>
          </a:xfrm>
          <a:prstGeom prst="rect">
            <a:avLst/>
          </a:prstGeom>
          <a:noFill/>
          <a:ln/>
        </p:spPr>
        <p:txBody>
          <a:bodyPr wrap="square" lIns="0" tIns="0" rIns="0" bIns="0" rtlCol="0" anchor="ctr"/>
          <a:lstStyle/>
          <a:p>
            <a:pPr indent="0" marL="0">
              <a:buNone/>
            </a:pPr>
            <a:r>
              <a:rPr lang="en-US" sz="1300" dirty="0">
                <a:solidFill>
                  <a:srgbClr val="7A8396"/>
                </a:solidFill>
                <a:latin typeface="Arial" pitchFamily="34" charset="0"/>
                <a:ea typeface="Arial" pitchFamily="34" charset="-122"/>
                <a:cs typeface="Arial" pitchFamily="34" charset="-120"/>
              </a:rPr>
              <a:t>events in a Postgres warehouse</a:t>
            </a:r>
            <a:endParaRPr lang="en-US" sz="1300" dirty="0"/>
          </a:p>
        </p:txBody>
      </p:sp>
      <p:sp>
        <p:nvSpPr>
          <p:cNvPr id="7" name="Text 5"/>
          <p:cNvSpPr txBox="1"/>
          <p:nvPr/>
        </p:nvSpPr>
        <p:spPr>
          <a:xfrm>
            <a:off x="3657600" y="4709160"/>
            <a:ext cx="2834640" cy="685800"/>
          </a:xfrm>
          <a:prstGeom prst="rect">
            <a:avLst/>
          </a:prstGeom>
          <a:noFill/>
          <a:ln/>
        </p:spPr>
        <p:txBody>
          <a:bodyPr wrap="square" lIns="0" tIns="0" rIns="0" bIns="0" rtlCol="0" anchor="ctr"/>
          <a:lstStyle/>
          <a:p>
            <a:pPr indent="0" marL="0">
              <a:buNone/>
            </a:pPr>
            <a:r>
              <a:rPr lang="en-US" sz="3600" dirty="0">
                <a:solidFill>
                  <a:srgbClr val="E8DFCE"/>
                </a:solidFill>
                <a:latin typeface="Georgia" pitchFamily="34" charset="0"/>
                <a:ea typeface="Georgia" pitchFamily="34" charset="-122"/>
                <a:cs typeface="Georgia" pitchFamily="34" charset="-120"/>
              </a:rPr>
              <a:t>8</a:t>
            </a:r>
            <a:endParaRPr lang="en-US" sz="3600" dirty="0"/>
          </a:p>
        </p:txBody>
      </p:sp>
      <p:sp>
        <p:nvSpPr>
          <p:cNvPr id="8" name="Text 6"/>
          <p:cNvSpPr txBox="1"/>
          <p:nvPr/>
        </p:nvSpPr>
        <p:spPr>
          <a:xfrm>
            <a:off x="3657600" y="5394960"/>
            <a:ext cx="2834640" cy="365760"/>
          </a:xfrm>
          <a:prstGeom prst="rect">
            <a:avLst/>
          </a:prstGeom>
          <a:noFill/>
          <a:ln/>
        </p:spPr>
        <p:txBody>
          <a:bodyPr wrap="square" lIns="0" tIns="0" rIns="0" bIns="0" rtlCol="0" anchor="ctr"/>
          <a:lstStyle/>
          <a:p>
            <a:pPr indent="0" marL="0">
              <a:buNone/>
            </a:pPr>
            <a:r>
              <a:rPr lang="en-US" sz="1300" dirty="0">
                <a:solidFill>
                  <a:srgbClr val="7A8396"/>
                </a:solidFill>
                <a:latin typeface="Arial" pitchFamily="34" charset="0"/>
                <a:ea typeface="Arial" pitchFamily="34" charset="-122"/>
                <a:cs typeface="Arial" pitchFamily="34" charset="-120"/>
              </a:rPr>
              <a:t>services, one command</a:t>
            </a:r>
            <a:endParaRPr lang="en-US" sz="1300" dirty="0"/>
          </a:p>
        </p:txBody>
      </p:sp>
      <p:sp>
        <p:nvSpPr>
          <p:cNvPr id="9" name="Text 7"/>
          <p:cNvSpPr txBox="1"/>
          <p:nvPr/>
        </p:nvSpPr>
        <p:spPr>
          <a:xfrm>
            <a:off x="6766560" y="4709160"/>
            <a:ext cx="2834640" cy="685800"/>
          </a:xfrm>
          <a:prstGeom prst="rect">
            <a:avLst/>
          </a:prstGeom>
          <a:noFill/>
          <a:ln/>
        </p:spPr>
        <p:txBody>
          <a:bodyPr wrap="square" lIns="0" tIns="0" rIns="0" bIns="0" rtlCol="0" anchor="ctr"/>
          <a:lstStyle/>
          <a:p>
            <a:pPr indent="0" marL="0">
              <a:buNone/>
            </a:pPr>
            <a:r>
              <a:rPr lang="en-US" sz="3600" dirty="0">
                <a:solidFill>
                  <a:srgbClr val="E8DFCE"/>
                </a:solidFill>
                <a:latin typeface="Georgia" pitchFamily="34" charset="0"/>
                <a:ea typeface="Georgia" pitchFamily="34" charset="-122"/>
                <a:cs typeface="Georgia" pitchFamily="34" charset="-120"/>
              </a:rPr>
              <a:t>456</a:t>
            </a:r>
            <a:endParaRPr lang="en-US" sz="3600" dirty="0"/>
          </a:p>
        </p:txBody>
      </p:sp>
      <p:sp>
        <p:nvSpPr>
          <p:cNvPr id="10" name="Text 8"/>
          <p:cNvSpPr txBox="1"/>
          <p:nvPr/>
        </p:nvSpPr>
        <p:spPr>
          <a:xfrm>
            <a:off x="6766560" y="5394960"/>
            <a:ext cx="2834640" cy="365760"/>
          </a:xfrm>
          <a:prstGeom prst="rect">
            <a:avLst/>
          </a:prstGeom>
          <a:noFill/>
          <a:ln/>
        </p:spPr>
        <p:txBody>
          <a:bodyPr wrap="square" lIns="0" tIns="0" rIns="0" bIns="0" rtlCol="0" anchor="ctr"/>
          <a:lstStyle/>
          <a:p>
            <a:pPr indent="0" marL="0">
              <a:buNone/>
            </a:pPr>
            <a:r>
              <a:rPr lang="en-US" sz="1300" dirty="0">
                <a:solidFill>
                  <a:srgbClr val="7A8396"/>
                </a:solidFill>
                <a:latin typeface="Arial" pitchFamily="34" charset="0"/>
                <a:ea typeface="Arial" pitchFamily="34" charset="-122"/>
                <a:cs typeface="Arial" pitchFamily="34" charset="-120"/>
              </a:rPr>
              <a:t>tests · 7 CI/CD jobs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90B"/>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100" b="1" spc="300" kern="0" dirty="0">
                <a:solidFill>
                  <a:srgbClr val="3ED6C0"/>
                </a:solidFill>
                <a:latin typeface="Arial" pitchFamily="34" charset="0"/>
                <a:ea typeface="Arial" pitchFamily="34" charset="-122"/>
                <a:cs typeface="Arial" pitchFamily="34" charset="-120"/>
              </a:rPr>
              <a:t>THE PROBLEM</a:t>
            </a:r>
            <a:endParaRPr lang="en-US" sz="1100" dirty="0"/>
          </a:p>
        </p:txBody>
      </p:sp>
      <p:sp>
        <p:nvSpPr>
          <p:cNvPr id="3" name="Text 1"/>
          <p:cNvSpPr txBox="1"/>
          <p:nvPr/>
        </p:nvSpPr>
        <p:spPr>
          <a:xfrm>
            <a:off x="548640" y="685800"/>
            <a:ext cx="11094415" cy="731520"/>
          </a:xfrm>
          <a:prstGeom prst="rect">
            <a:avLst/>
          </a:prstGeom>
          <a:noFill/>
          <a:ln/>
        </p:spPr>
        <p:txBody>
          <a:bodyPr wrap="square" lIns="0" tIns="0" rIns="0" bIns="0" rtlCol="0" anchor="ctr"/>
          <a:lstStyle/>
          <a:p>
            <a:pPr indent="0" marL="0">
              <a:buNone/>
            </a:pPr>
            <a:r>
              <a:rPr lang="en-US" sz="3200" dirty="0">
                <a:solidFill>
                  <a:srgbClr val="F4F6F8"/>
                </a:solidFill>
                <a:latin typeface="Georgia" pitchFamily="34" charset="0"/>
                <a:ea typeface="Georgia" pitchFamily="34" charset="-122"/>
                <a:cs typeface="Georgia" pitchFamily="34" charset="-120"/>
              </a:rPr>
              <a:t>Why this is hard: churn is rare</a:t>
            </a:r>
            <a:endParaRPr lang="en-US" sz="3200" dirty="0"/>
          </a:p>
        </p:txBody>
      </p:sp>
      <p:sp>
        <p:nvSpPr>
          <p:cNvPr id="4" name="Shape 2"/>
          <p:cNvSpPr/>
          <p:nvPr/>
        </p:nvSpPr>
        <p:spPr>
          <a:xfrm>
            <a:off x="548640" y="1737360"/>
            <a:ext cx="5120640" cy="4480560"/>
          </a:xfrm>
          <a:prstGeom prst="roundRect">
            <a:avLst>
              <a:gd name="adj" fmla="val 2449"/>
            </a:avLst>
          </a:prstGeom>
          <a:solidFill>
            <a:srgbClr val="12151C"/>
          </a:solidFill>
          <a:ln w="9525">
            <a:solidFill>
              <a:srgbClr val="2A303A"/>
            </a:solidFill>
            <a:prstDash val="solid"/>
          </a:ln>
          <a:effectLst>
            <a:outerShdw sx="100000" sy="100000" kx="0" ky="0" algn="bl" rotWithShape="0" blurRad="101600" dist="38100" dir="5400000">
              <a:srgbClr val="000000">
                <a:alpha val="45000"/>
              </a:srgbClr>
            </a:outerShdw>
          </a:effectLst>
        </p:spPr>
      </p:sp>
      <p:sp>
        <p:nvSpPr>
          <p:cNvPr id="5" name="Text 3"/>
          <p:cNvSpPr txBox="1"/>
          <p:nvPr/>
        </p:nvSpPr>
        <p:spPr>
          <a:xfrm>
            <a:off x="914400" y="1920240"/>
            <a:ext cx="4389120" cy="868680"/>
          </a:xfrm>
          <a:prstGeom prst="rect">
            <a:avLst/>
          </a:prstGeom>
          <a:noFill/>
          <a:ln/>
        </p:spPr>
        <p:txBody>
          <a:bodyPr wrap="square" lIns="0" tIns="0" rIns="0" bIns="0" rtlCol="0" anchor="b"/>
          <a:lstStyle/>
          <a:p>
            <a:pPr indent="0" marL="0">
              <a:buNone/>
            </a:pPr>
            <a:r>
              <a:rPr lang="en-US" sz="4800" dirty="0">
                <a:solidFill>
                  <a:srgbClr val="FF6A5A"/>
                </a:solidFill>
                <a:latin typeface="Georgia" pitchFamily="34" charset="0"/>
                <a:ea typeface="Georgia" pitchFamily="34" charset="-122"/>
                <a:cs typeface="Georgia" pitchFamily="34" charset="-120"/>
              </a:rPr>
              <a:t>1.5%</a:t>
            </a:r>
            <a:endParaRPr lang="en-US" sz="4800" dirty="0"/>
          </a:p>
        </p:txBody>
      </p:sp>
      <p:sp>
        <p:nvSpPr>
          <p:cNvPr id="6" name="Text 4"/>
          <p:cNvSpPr txBox="1"/>
          <p:nvPr/>
        </p:nvSpPr>
        <p:spPr>
          <a:xfrm>
            <a:off x="914400" y="2834640"/>
            <a:ext cx="4389120" cy="685800"/>
          </a:xfrm>
          <a:prstGeom prst="rect">
            <a:avLst/>
          </a:prstGeom>
          <a:noFill/>
          <a:ln/>
        </p:spPr>
        <p:txBody>
          <a:bodyPr wrap="square" lIns="0" tIns="0" rIns="0" bIns="0" rtlCol="0" anchor="t"/>
          <a:lstStyle/>
          <a:p>
            <a:pPr indent="0" marL="0">
              <a:buNone/>
            </a:pPr>
            <a:r>
              <a:rPr lang="en-US" sz="1300" dirty="0">
                <a:solidFill>
                  <a:srgbClr val="A9B2BE"/>
                </a:solidFill>
                <a:latin typeface="Arial" pitchFamily="34" charset="0"/>
                <a:ea typeface="Arial" pitchFamily="34" charset="-122"/>
                <a:cs typeface="Arial" pitchFamily="34" charset="-120"/>
              </a:rPr>
              <a:t>of subscribers cancel in any 30-day window</a:t>
            </a:r>
            <a:endParaRPr lang="en-US" sz="1300" dirty="0"/>
          </a:p>
        </p:txBody>
      </p:sp>
      <p:sp>
        <p:nvSpPr>
          <p:cNvPr id="7" name="Text 5"/>
          <p:cNvSpPr txBox="1"/>
          <p:nvPr/>
        </p:nvSpPr>
        <p:spPr>
          <a:xfrm>
            <a:off x="914400" y="3840480"/>
            <a:ext cx="4389120" cy="868680"/>
          </a:xfrm>
          <a:prstGeom prst="rect">
            <a:avLst/>
          </a:prstGeom>
          <a:noFill/>
          <a:ln/>
        </p:spPr>
        <p:txBody>
          <a:bodyPr wrap="square" lIns="0" tIns="0" rIns="0" bIns="0" rtlCol="0" anchor="b"/>
          <a:lstStyle/>
          <a:p>
            <a:pPr indent="0" marL="0">
              <a:buNone/>
            </a:pPr>
            <a:r>
              <a:rPr lang="en-US" sz="4800" dirty="0">
                <a:solidFill>
                  <a:srgbClr val="E8DFCE"/>
                </a:solidFill>
                <a:latin typeface="Georgia" pitchFamily="34" charset="0"/>
                <a:ea typeface="Georgia" pitchFamily="34" charset="-122"/>
                <a:cs typeface="Georgia" pitchFamily="34" charset="-120"/>
              </a:rPr>
              <a:t>98.5%</a:t>
            </a:r>
            <a:endParaRPr lang="en-US" sz="4800" dirty="0"/>
          </a:p>
        </p:txBody>
      </p:sp>
      <p:sp>
        <p:nvSpPr>
          <p:cNvPr id="8" name="Text 6"/>
          <p:cNvSpPr txBox="1"/>
          <p:nvPr/>
        </p:nvSpPr>
        <p:spPr>
          <a:xfrm>
            <a:off x="914400" y="4754880"/>
            <a:ext cx="4389120" cy="685800"/>
          </a:xfrm>
          <a:prstGeom prst="rect">
            <a:avLst/>
          </a:prstGeom>
          <a:noFill/>
          <a:ln/>
        </p:spPr>
        <p:txBody>
          <a:bodyPr wrap="square" lIns="0" tIns="0" rIns="0" bIns="0" rtlCol="0" anchor="t"/>
          <a:lstStyle/>
          <a:p>
            <a:pPr indent="0" marL="0">
              <a:buNone/>
            </a:pPr>
            <a:r>
              <a:rPr lang="en-US" sz="1300" dirty="0">
                <a:solidFill>
                  <a:srgbClr val="A9B2BE"/>
                </a:solidFill>
                <a:latin typeface="Arial" pitchFamily="34" charset="0"/>
                <a:ea typeface="Arial" pitchFamily="34" charset="-122"/>
                <a:cs typeface="Arial" pitchFamily="34" charset="-120"/>
              </a:rPr>
              <a:t>accuracy from a "model" that says nobody ever churns. Accuracy is useless here.</a:t>
            </a:r>
            <a:endParaRPr lang="en-US" sz="1300" dirty="0"/>
          </a:p>
        </p:txBody>
      </p:sp>
      <p:sp>
        <p:nvSpPr>
          <p:cNvPr id="9" name="Shape 7"/>
          <p:cNvSpPr/>
          <p:nvPr/>
        </p:nvSpPr>
        <p:spPr>
          <a:xfrm>
            <a:off x="6400800" y="1828800"/>
            <a:ext cx="420624" cy="420624"/>
          </a:xfrm>
          <a:prstGeom prst="ellipse">
            <a:avLst/>
          </a:prstGeom>
          <a:solidFill>
            <a:srgbClr val="123F3A"/>
          </a:solidFill>
          <a:ln w="15875">
            <a:solidFill>
              <a:srgbClr val="3ED6C0"/>
            </a:solidFill>
            <a:prstDash val="solid"/>
          </a:ln>
        </p:spPr>
      </p:sp>
      <p:sp>
        <p:nvSpPr>
          <p:cNvPr id="10" name="Text 8"/>
          <p:cNvSpPr txBox="1"/>
          <p:nvPr/>
        </p:nvSpPr>
        <p:spPr>
          <a:xfrm>
            <a:off x="6400800" y="1828800"/>
            <a:ext cx="420624" cy="420624"/>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1</a:t>
            </a:r>
            <a:endParaRPr lang="en-US" sz="1400" dirty="0"/>
          </a:p>
        </p:txBody>
      </p:sp>
      <p:sp>
        <p:nvSpPr>
          <p:cNvPr id="11" name="Text 9"/>
          <p:cNvSpPr txBox="1"/>
          <p:nvPr/>
        </p:nvSpPr>
        <p:spPr>
          <a:xfrm>
            <a:off x="7040880" y="1783080"/>
            <a:ext cx="4572000" cy="457200"/>
          </a:xfrm>
          <a:prstGeom prst="rect">
            <a:avLst/>
          </a:prstGeom>
          <a:noFill/>
          <a:ln/>
        </p:spPr>
        <p:txBody>
          <a:bodyPr wrap="square" lIns="0" tIns="0" rIns="0" bIns="0" rtlCol="0" anchor="ctr"/>
          <a:lstStyle/>
          <a:p>
            <a:pPr indent="0" marL="0">
              <a:buNone/>
            </a:pPr>
            <a:r>
              <a:rPr lang="en-US" sz="2200" dirty="0">
                <a:solidFill>
                  <a:srgbClr val="F4F6F8"/>
                </a:solidFill>
                <a:latin typeface="Georgia" pitchFamily="34" charset="0"/>
                <a:ea typeface="Georgia" pitchFamily="34" charset="-122"/>
                <a:cs typeface="Georgia" pitchFamily="34" charset="-120"/>
              </a:rPr>
              <a:t>Predict</a:t>
            </a:r>
            <a:endParaRPr lang="en-US" sz="2200" dirty="0"/>
          </a:p>
        </p:txBody>
      </p:sp>
      <p:sp>
        <p:nvSpPr>
          <p:cNvPr id="12" name="Text 10"/>
          <p:cNvSpPr txBox="1"/>
          <p:nvPr/>
        </p:nvSpPr>
        <p:spPr>
          <a:xfrm>
            <a:off x="7040880" y="2240280"/>
            <a:ext cx="4572000" cy="731520"/>
          </a:xfrm>
          <a:prstGeom prst="rect">
            <a:avLst/>
          </a:prstGeom>
          <a:noFill/>
          <a:ln/>
        </p:spPr>
        <p:txBody>
          <a:bodyPr wrap="square" lIns="0" tIns="0" rIns="0" bIns="0" rtlCol="0" anchor="ctr"/>
          <a:lstStyle/>
          <a:p>
            <a:pPr indent="0" marL="0">
              <a:buNone/>
            </a:pPr>
            <a:r>
              <a:rPr lang="en-US" sz="1500" dirty="0">
                <a:solidFill>
                  <a:srgbClr val="A9B2BE"/>
                </a:solidFill>
                <a:latin typeface="Arial" pitchFamily="34" charset="0"/>
                <a:ea typeface="Arial" pitchFamily="34" charset="-122"/>
                <a:cs typeface="Arial" pitchFamily="34" charset="-120"/>
              </a:rPr>
              <a:t>the probability each subscriber cancels in the next 30 days</a:t>
            </a:r>
            <a:endParaRPr lang="en-US" sz="1500" dirty="0"/>
          </a:p>
        </p:txBody>
      </p:sp>
      <p:sp>
        <p:nvSpPr>
          <p:cNvPr id="13" name="Shape 11"/>
          <p:cNvSpPr/>
          <p:nvPr/>
        </p:nvSpPr>
        <p:spPr>
          <a:xfrm>
            <a:off x="6400800" y="3246120"/>
            <a:ext cx="420624" cy="420624"/>
          </a:xfrm>
          <a:prstGeom prst="ellipse">
            <a:avLst/>
          </a:prstGeom>
          <a:solidFill>
            <a:srgbClr val="123F3A"/>
          </a:solidFill>
          <a:ln w="15875">
            <a:solidFill>
              <a:srgbClr val="3ED6C0"/>
            </a:solidFill>
            <a:prstDash val="solid"/>
          </a:ln>
        </p:spPr>
      </p:sp>
      <p:sp>
        <p:nvSpPr>
          <p:cNvPr id="14" name="Text 12"/>
          <p:cNvSpPr txBox="1"/>
          <p:nvPr/>
        </p:nvSpPr>
        <p:spPr>
          <a:xfrm>
            <a:off x="6400800" y="3246120"/>
            <a:ext cx="420624" cy="420624"/>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2</a:t>
            </a:r>
            <a:endParaRPr lang="en-US" sz="1400" dirty="0"/>
          </a:p>
        </p:txBody>
      </p:sp>
      <p:sp>
        <p:nvSpPr>
          <p:cNvPr id="15" name="Text 13"/>
          <p:cNvSpPr txBox="1"/>
          <p:nvPr/>
        </p:nvSpPr>
        <p:spPr>
          <a:xfrm>
            <a:off x="7040880" y="3200400"/>
            <a:ext cx="4572000" cy="457200"/>
          </a:xfrm>
          <a:prstGeom prst="rect">
            <a:avLst/>
          </a:prstGeom>
          <a:noFill/>
          <a:ln/>
        </p:spPr>
        <p:txBody>
          <a:bodyPr wrap="square" lIns="0" tIns="0" rIns="0" bIns="0" rtlCol="0" anchor="ctr"/>
          <a:lstStyle/>
          <a:p>
            <a:pPr indent="0" marL="0">
              <a:buNone/>
            </a:pPr>
            <a:r>
              <a:rPr lang="en-US" sz="2200" dirty="0">
                <a:solidFill>
                  <a:srgbClr val="F4F6F8"/>
                </a:solidFill>
                <a:latin typeface="Georgia" pitchFamily="34" charset="0"/>
                <a:ea typeface="Georgia" pitchFamily="34" charset="-122"/>
                <a:cs typeface="Georgia" pitchFamily="34" charset="-120"/>
              </a:rPr>
              <a:t>Explain</a:t>
            </a:r>
            <a:endParaRPr lang="en-US" sz="2200" dirty="0"/>
          </a:p>
        </p:txBody>
      </p:sp>
      <p:sp>
        <p:nvSpPr>
          <p:cNvPr id="16" name="Text 14"/>
          <p:cNvSpPr txBox="1"/>
          <p:nvPr/>
        </p:nvSpPr>
        <p:spPr>
          <a:xfrm>
            <a:off x="7040880" y="3657600"/>
            <a:ext cx="4572000" cy="731520"/>
          </a:xfrm>
          <a:prstGeom prst="rect">
            <a:avLst/>
          </a:prstGeom>
          <a:noFill/>
          <a:ln/>
        </p:spPr>
        <p:txBody>
          <a:bodyPr wrap="square" lIns="0" tIns="0" rIns="0" bIns="0" rtlCol="0" anchor="ctr"/>
          <a:lstStyle/>
          <a:p>
            <a:pPr indent="0" marL="0">
              <a:buNone/>
            </a:pPr>
            <a:r>
              <a:rPr lang="en-US" sz="1500" dirty="0">
                <a:solidFill>
                  <a:srgbClr val="A9B2BE"/>
                </a:solidFill>
                <a:latin typeface="Arial" pitchFamily="34" charset="0"/>
                <a:ea typeface="Arial" pitchFamily="34" charset="-122"/>
                <a:cs typeface="Arial" pitchFamily="34" charset="-120"/>
              </a:rPr>
              <a:t>why, per subscriber, with numbers that add up to the prediction</a:t>
            </a:r>
            <a:endParaRPr lang="en-US" sz="1500" dirty="0"/>
          </a:p>
        </p:txBody>
      </p:sp>
      <p:sp>
        <p:nvSpPr>
          <p:cNvPr id="17" name="Shape 15"/>
          <p:cNvSpPr/>
          <p:nvPr/>
        </p:nvSpPr>
        <p:spPr>
          <a:xfrm>
            <a:off x="6400800" y="4663440"/>
            <a:ext cx="420624" cy="420624"/>
          </a:xfrm>
          <a:prstGeom prst="ellipse">
            <a:avLst/>
          </a:prstGeom>
          <a:solidFill>
            <a:srgbClr val="123F3A"/>
          </a:solidFill>
          <a:ln w="15875">
            <a:solidFill>
              <a:srgbClr val="3ED6C0"/>
            </a:solidFill>
            <a:prstDash val="solid"/>
          </a:ln>
        </p:spPr>
      </p:sp>
      <p:sp>
        <p:nvSpPr>
          <p:cNvPr id="18" name="Text 16"/>
          <p:cNvSpPr txBox="1"/>
          <p:nvPr/>
        </p:nvSpPr>
        <p:spPr>
          <a:xfrm>
            <a:off x="6400800" y="4663440"/>
            <a:ext cx="420624" cy="420624"/>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3</a:t>
            </a:r>
            <a:endParaRPr lang="en-US" sz="1400" dirty="0"/>
          </a:p>
        </p:txBody>
      </p:sp>
      <p:sp>
        <p:nvSpPr>
          <p:cNvPr id="19" name="Text 17"/>
          <p:cNvSpPr txBox="1"/>
          <p:nvPr/>
        </p:nvSpPr>
        <p:spPr>
          <a:xfrm>
            <a:off x="7040880" y="4617720"/>
            <a:ext cx="4572000" cy="457200"/>
          </a:xfrm>
          <a:prstGeom prst="rect">
            <a:avLst/>
          </a:prstGeom>
          <a:noFill/>
          <a:ln/>
        </p:spPr>
        <p:txBody>
          <a:bodyPr wrap="square" lIns="0" tIns="0" rIns="0" bIns="0" rtlCol="0" anchor="ctr"/>
          <a:lstStyle/>
          <a:p>
            <a:pPr indent="0" marL="0">
              <a:buNone/>
            </a:pPr>
            <a:r>
              <a:rPr lang="en-US" sz="2200" dirty="0">
                <a:solidFill>
                  <a:srgbClr val="F4F6F8"/>
                </a:solidFill>
                <a:latin typeface="Georgia" pitchFamily="34" charset="0"/>
                <a:ea typeface="Georgia" pitchFamily="34" charset="-122"/>
                <a:cs typeface="Georgia" pitchFamily="34" charset="-120"/>
              </a:rPr>
              <a:t>Operate</a:t>
            </a:r>
            <a:endParaRPr lang="en-US" sz="2200" dirty="0"/>
          </a:p>
        </p:txBody>
      </p:sp>
      <p:sp>
        <p:nvSpPr>
          <p:cNvPr id="20" name="Text 18"/>
          <p:cNvSpPr txBox="1"/>
          <p:nvPr/>
        </p:nvSpPr>
        <p:spPr>
          <a:xfrm>
            <a:off x="7040880" y="5074920"/>
            <a:ext cx="4572000" cy="731520"/>
          </a:xfrm>
          <a:prstGeom prst="rect">
            <a:avLst/>
          </a:prstGeom>
          <a:noFill/>
          <a:ln/>
        </p:spPr>
        <p:txBody>
          <a:bodyPr wrap="square" lIns="0" tIns="0" rIns="0" bIns="0" rtlCol="0" anchor="ctr"/>
          <a:lstStyle/>
          <a:p>
            <a:pPr indent="0" marL="0">
              <a:buNone/>
            </a:pPr>
            <a:r>
              <a:rPr lang="en-US" sz="1500" dirty="0">
                <a:solidFill>
                  <a:srgbClr val="A9B2BE"/>
                </a:solidFill>
                <a:latin typeface="Arial" pitchFamily="34" charset="0"/>
                <a:ea typeface="Arial" pitchFamily="34" charset="-122"/>
                <a:cs typeface="Arial" pitchFamily="34" charset="-120"/>
              </a:rPr>
              <a:t>serve it, monitor it, retrain it, and refuse worse models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90B"/>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100" b="1" spc="300" kern="0" dirty="0">
                <a:solidFill>
                  <a:srgbClr val="3ED6C0"/>
                </a:solidFill>
                <a:latin typeface="Arial" pitchFamily="34" charset="0"/>
                <a:ea typeface="Arial" pitchFamily="34" charset="-122"/>
                <a:cs typeface="Arial" pitchFamily="34" charset="-120"/>
              </a:rPr>
              <a:t>ARCHITECTURE</a:t>
            </a:r>
            <a:endParaRPr lang="en-US" sz="1100" dirty="0"/>
          </a:p>
        </p:txBody>
      </p:sp>
      <p:sp>
        <p:nvSpPr>
          <p:cNvPr id="3" name="Text 1"/>
          <p:cNvSpPr txBox="1"/>
          <p:nvPr/>
        </p:nvSpPr>
        <p:spPr>
          <a:xfrm>
            <a:off x="548640" y="685800"/>
            <a:ext cx="11094415" cy="731520"/>
          </a:xfrm>
          <a:prstGeom prst="rect">
            <a:avLst/>
          </a:prstGeom>
          <a:noFill/>
          <a:ln/>
        </p:spPr>
        <p:txBody>
          <a:bodyPr wrap="square" lIns="0" tIns="0" rIns="0" bIns="0" rtlCol="0" anchor="ctr"/>
          <a:lstStyle/>
          <a:p>
            <a:pPr indent="0" marL="0">
              <a:buNone/>
            </a:pPr>
            <a:r>
              <a:rPr lang="en-US" sz="3200" dirty="0">
                <a:solidFill>
                  <a:srgbClr val="F4F6F8"/>
                </a:solidFill>
                <a:latin typeface="Georgia" pitchFamily="34" charset="0"/>
                <a:ea typeface="Georgia" pitchFamily="34" charset="-122"/>
                <a:cs typeface="Georgia" pitchFamily="34" charset="-120"/>
              </a:rPr>
              <a:t>Four stages, one pipeline</a:t>
            </a:r>
            <a:endParaRPr lang="en-US" sz="3200" dirty="0"/>
          </a:p>
        </p:txBody>
      </p:sp>
      <p:sp>
        <p:nvSpPr>
          <p:cNvPr id="4" name="Shape 2"/>
          <p:cNvSpPr/>
          <p:nvPr/>
        </p:nvSpPr>
        <p:spPr>
          <a:xfrm>
            <a:off x="457200" y="1691640"/>
            <a:ext cx="11277295" cy="2926080"/>
          </a:xfrm>
          <a:prstGeom prst="roundRect">
            <a:avLst>
              <a:gd name="adj" fmla="val 3750"/>
            </a:avLst>
          </a:prstGeom>
          <a:solidFill>
            <a:srgbClr val="FFFFFF"/>
          </a:solidFill>
          <a:ln w="12700">
            <a:solidFill>
              <a:srgbClr val="2A303A"/>
            </a:solidFill>
            <a:prstDash val="solid"/>
          </a:ln>
        </p:spPr>
      </p:sp>
      <p:pic>
        <p:nvPicPr>
          <p:cNvPr id="5" name="Image 0" descr="/private/tmp/claude-501/-Users-satya-03-subscriber-dropout-detection/e6feba3e-4854-4bf1-8325-ba9c654b27ec/scratchpad/deck/img/architecture.png">    </p:cNvPr>
          <p:cNvPicPr>
            <a:picLocks noChangeAspect="1"/>
          </p:cNvPicPr>
          <p:nvPr/>
        </p:nvPicPr>
        <p:blipFill>
          <a:blip r:embed="rId1"/>
          <a:stretch>
            <a:fillRect/>
          </a:stretch>
        </p:blipFill>
        <p:spPr>
          <a:xfrm>
            <a:off x="594360" y="1874520"/>
            <a:ext cx="11002975" cy="2373989"/>
          </a:xfrm>
          <a:prstGeom prst="rect">
            <a:avLst/>
          </a:prstGeom>
        </p:spPr>
      </p:pic>
      <p:sp>
        <p:nvSpPr>
          <p:cNvPr id="6" name="Shape 3"/>
          <p:cNvSpPr/>
          <p:nvPr/>
        </p:nvSpPr>
        <p:spPr>
          <a:xfrm>
            <a:off x="548640" y="4983480"/>
            <a:ext cx="384048" cy="384048"/>
          </a:xfrm>
          <a:prstGeom prst="ellipse">
            <a:avLst/>
          </a:prstGeom>
          <a:solidFill>
            <a:srgbClr val="123F3A"/>
          </a:solidFill>
          <a:ln w="15875">
            <a:solidFill>
              <a:srgbClr val="3ED6C0"/>
            </a:solidFill>
            <a:prstDash val="solid"/>
          </a:ln>
        </p:spPr>
      </p:sp>
      <p:sp>
        <p:nvSpPr>
          <p:cNvPr id="7" name="Text 4"/>
          <p:cNvSpPr txBox="1"/>
          <p:nvPr/>
        </p:nvSpPr>
        <p:spPr>
          <a:xfrm>
            <a:off x="548640" y="4983480"/>
            <a:ext cx="384048" cy="384048"/>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1</a:t>
            </a:r>
            <a:endParaRPr lang="en-US" sz="1400" dirty="0"/>
          </a:p>
        </p:txBody>
      </p:sp>
      <p:sp>
        <p:nvSpPr>
          <p:cNvPr id="8" name="Text 5"/>
          <p:cNvSpPr txBox="1"/>
          <p:nvPr/>
        </p:nvSpPr>
        <p:spPr>
          <a:xfrm>
            <a:off x="1051560" y="4956048"/>
            <a:ext cx="2194560" cy="411480"/>
          </a:xfrm>
          <a:prstGeom prst="rect">
            <a:avLst/>
          </a:prstGeom>
          <a:noFill/>
          <a:ln/>
        </p:spPr>
        <p:txBody>
          <a:bodyPr wrap="square" lIns="0" tIns="0" rIns="0" bIns="0" rtlCol="0" anchor="ctr"/>
          <a:lstStyle/>
          <a:p>
            <a:pPr indent="0" marL="0">
              <a:buNone/>
            </a:pPr>
            <a:r>
              <a:rPr lang="en-US" sz="1800" dirty="0">
                <a:solidFill>
                  <a:srgbClr val="F4F6F8"/>
                </a:solidFill>
                <a:latin typeface="Georgia" pitchFamily="34" charset="0"/>
                <a:ea typeface="Georgia" pitchFamily="34" charset="-122"/>
                <a:cs typeface="Georgia" pitchFamily="34" charset="-120"/>
              </a:rPr>
              <a:t>Data</a:t>
            </a:r>
            <a:endParaRPr lang="en-US" sz="1800" dirty="0"/>
          </a:p>
        </p:txBody>
      </p:sp>
      <p:sp>
        <p:nvSpPr>
          <p:cNvPr id="9" name="Text 6"/>
          <p:cNvSpPr txBox="1"/>
          <p:nvPr/>
        </p:nvSpPr>
        <p:spPr>
          <a:xfrm>
            <a:off x="1051560" y="5367528"/>
            <a:ext cx="2194560" cy="640080"/>
          </a:xfrm>
          <a:prstGeom prst="rect">
            <a:avLst/>
          </a:prstGeom>
          <a:noFill/>
          <a:ln/>
        </p:spPr>
        <p:txBody>
          <a:bodyPr wrap="square" lIns="0" tIns="0" rIns="0" bIns="0" rtlCol="0" anchor="ctr"/>
          <a:lstStyle/>
          <a:p>
            <a:pPr indent="0" marL="0">
              <a:buNone/>
            </a:pPr>
            <a:r>
              <a:rPr lang="en-US" sz="1300" dirty="0">
                <a:solidFill>
                  <a:srgbClr val="A9B2BE"/>
                </a:solidFill>
                <a:latin typeface="Arial" pitchFamily="34" charset="0"/>
                <a:ea typeface="Arial" pitchFamily="34" charset="-122"/>
                <a:cs typeface="Arial" pitchFamily="34" charset="-120"/>
              </a:rPr>
              <a:t>31.3 GB raw → cleaned → Postgres</a:t>
            </a:r>
            <a:endParaRPr lang="en-US" sz="1300" dirty="0"/>
          </a:p>
        </p:txBody>
      </p:sp>
      <p:sp>
        <p:nvSpPr>
          <p:cNvPr id="10" name="Shape 7"/>
          <p:cNvSpPr/>
          <p:nvPr/>
        </p:nvSpPr>
        <p:spPr>
          <a:xfrm>
            <a:off x="3355848" y="4983480"/>
            <a:ext cx="384048" cy="384048"/>
          </a:xfrm>
          <a:prstGeom prst="ellipse">
            <a:avLst/>
          </a:prstGeom>
          <a:solidFill>
            <a:srgbClr val="123F3A"/>
          </a:solidFill>
          <a:ln w="15875">
            <a:solidFill>
              <a:srgbClr val="3ED6C0"/>
            </a:solidFill>
            <a:prstDash val="solid"/>
          </a:ln>
        </p:spPr>
      </p:sp>
      <p:sp>
        <p:nvSpPr>
          <p:cNvPr id="11" name="Text 8"/>
          <p:cNvSpPr txBox="1"/>
          <p:nvPr/>
        </p:nvSpPr>
        <p:spPr>
          <a:xfrm>
            <a:off x="3355848" y="4983480"/>
            <a:ext cx="384048" cy="384048"/>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2</a:t>
            </a:r>
            <a:endParaRPr lang="en-US" sz="1400" dirty="0"/>
          </a:p>
        </p:txBody>
      </p:sp>
      <p:sp>
        <p:nvSpPr>
          <p:cNvPr id="12" name="Text 9"/>
          <p:cNvSpPr txBox="1"/>
          <p:nvPr/>
        </p:nvSpPr>
        <p:spPr>
          <a:xfrm>
            <a:off x="3858768" y="4956048"/>
            <a:ext cx="2194560" cy="411480"/>
          </a:xfrm>
          <a:prstGeom prst="rect">
            <a:avLst/>
          </a:prstGeom>
          <a:noFill/>
          <a:ln/>
        </p:spPr>
        <p:txBody>
          <a:bodyPr wrap="square" lIns="0" tIns="0" rIns="0" bIns="0" rtlCol="0" anchor="ctr"/>
          <a:lstStyle/>
          <a:p>
            <a:pPr indent="0" marL="0">
              <a:buNone/>
            </a:pPr>
            <a:r>
              <a:rPr lang="en-US" sz="1800" dirty="0">
                <a:solidFill>
                  <a:srgbClr val="F4F6F8"/>
                </a:solidFill>
                <a:latin typeface="Georgia" pitchFamily="34" charset="0"/>
                <a:ea typeface="Georgia" pitchFamily="34" charset="-122"/>
                <a:cs typeface="Georgia" pitchFamily="34" charset="-120"/>
              </a:rPr>
              <a:t>Model</a:t>
            </a:r>
            <a:endParaRPr lang="en-US" sz="1800" dirty="0"/>
          </a:p>
        </p:txBody>
      </p:sp>
      <p:sp>
        <p:nvSpPr>
          <p:cNvPr id="13" name="Text 10"/>
          <p:cNvSpPr txBox="1"/>
          <p:nvPr/>
        </p:nvSpPr>
        <p:spPr>
          <a:xfrm>
            <a:off x="3858768" y="5367528"/>
            <a:ext cx="2194560" cy="640080"/>
          </a:xfrm>
          <a:prstGeom prst="rect">
            <a:avLst/>
          </a:prstGeom>
          <a:noFill/>
          <a:ln/>
        </p:spPr>
        <p:txBody>
          <a:bodyPr wrap="square" lIns="0" tIns="0" rIns="0" bIns="0" rtlCol="0" anchor="ctr"/>
          <a:lstStyle/>
          <a:p>
            <a:pPr indent="0" marL="0">
              <a:buNone/>
            </a:pPr>
            <a:r>
              <a:rPr lang="en-US" sz="1300" dirty="0">
                <a:solidFill>
                  <a:srgbClr val="A9B2BE"/>
                </a:solidFill>
                <a:latin typeface="Arial" pitchFamily="34" charset="0"/>
                <a:ea typeface="Arial" pitchFamily="34" charset="-122"/>
                <a:cs typeface="Arial" pitchFamily="34" charset="-120"/>
              </a:rPr>
              <a:t>leak-free features, gated promotion</a:t>
            </a:r>
            <a:endParaRPr lang="en-US" sz="1300" dirty="0"/>
          </a:p>
        </p:txBody>
      </p:sp>
      <p:sp>
        <p:nvSpPr>
          <p:cNvPr id="14" name="Shape 11"/>
          <p:cNvSpPr/>
          <p:nvPr/>
        </p:nvSpPr>
        <p:spPr>
          <a:xfrm>
            <a:off x="6163056" y="4983480"/>
            <a:ext cx="384048" cy="384048"/>
          </a:xfrm>
          <a:prstGeom prst="ellipse">
            <a:avLst/>
          </a:prstGeom>
          <a:solidFill>
            <a:srgbClr val="123F3A"/>
          </a:solidFill>
          <a:ln w="15875">
            <a:solidFill>
              <a:srgbClr val="3ED6C0"/>
            </a:solidFill>
            <a:prstDash val="solid"/>
          </a:ln>
        </p:spPr>
      </p:sp>
      <p:sp>
        <p:nvSpPr>
          <p:cNvPr id="15" name="Text 12"/>
          <p:cNvSpPr txBox="1"/>
          <p:nvPr/>
        </p:nvSpPr>
        <p:spPr>
          <a:xfrm>
            <a:off x="6163056" y="4983480"/>
            <a:ext cx="384048" cy="384048"/>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3</a:t>
            </a:r>
            <a:endParaRPr lang="en-US" sz="1400" dirty="0"/>
          </a:p>
        </p:txBody>
      </p:sp>
      <p:sp>
        <p:nvSpPr>
          <p:cNvPr id="16" name="Text 13"/>
          <p:cNvSpPr txBox="1"/>
          <p:nvPr/>
        </p:nvSpPr>
        <p:spPr>
          <a:xfrm>
            <a:off x="6665976" y="4956048"/>
            <a:ext cx="2194560" cy="411480"/>
          </a:xfrm>
          <a:prstGeom prst="rect">
            <a:avLst/>
          </a:prstGeom>
          <a:noFill/>
          <a:ln/>
        </p:spPr>
        <p:txBody>
          <a:bodyPr wrap="square" lIns="0" tIns="0" rIns="0" bIns="0" rtlCol="0" anchor="ctr"/>
          <a:lstStyle/>
          <a:p>
            <a:pPr indent="0" marL="0">
              <a:buNone/>
            </a:pPr>
            <a:r>
              <a:rPr lang="en-US" sz="1800" dirty="0">
                <a:solidFill>
                  <a:srgbClr val="F4F6F8"/>
                </a:solidFill>
                <a:latin typeface="Georgia" pitchFamily="34" charset="0"/>
                <a:ea typeface="Georgia" pitchFamily="34" charset="-122"/>
                <a:cs typeface="Georgia" pitchFamily="34" charset="-120"/>
              </a:rPr>
              <a:t>Serve</a:t>
            </a:r>
            <a:endParaRPr lang="en-US" sz="1800" dirty="0"/>
          </a:p>
        </p:txBody>
      </p:sp>
      <p:sp>
        <p:nvSpPr>
          <p:cNvPr id="17" name="Text 14"/>
          <p:cNvSpPr txBox="1"/>
          <p:nvPr/>
        </p:nvSpPr>
        <p:spPr>
          <a:xfrm>
            <a:off x="6665976" y="5367528"/>
            <a:ext cx="2194560" cy="640080"/>
          </a:xfrm>
          <a:prstGeom prst="rect">
            <a:avLst/>
          </a:prstGeom>
          <a:noFill/>
          <a:ln/>
        </p:spPr>
        <p:txBody>
          <a:bodyPr wrap="square" lIns="0" tIns="0" rIns="0" bIns="0" rtlCol="0" anchor="ctr"/>
          <a:lstStyle/>
          <a:p>
            <a:pPr indent="0" marL="0">
              <a:buNone/>
            </a:pPr>
            <a:r>
              <a:rPr lang="en-US" sz="1300" dirty="0">
                <a:solidFill>
                  <a:srgbClr val="A9B2BE"/>
                </a:solidFill>
                <a:latin typeface="Arial" pitchFamily="34" charset="0"/>
                <a:ea typeface="Arial" pitchFamily="34" charset="-122"/>
                <a:cs typeface="Arial" pitchFamily="34" charset="-120"/>
              </a:rPr>
              <a:t>API + SHAP, Kafka streaming</a:t>
            </a:r>
            <a:endParaRPr lang="en-US" sz="1300" dirty="0"/>
          </a:p>
        </p:txBody>
      </p:sp>
      <p:sp>
        <p:nvSpPr>
          <p:cNvPr id="18" name="Shape 15"/>
          <p:cNvSpPr/>
          <p:nvPr/>
        </p:nvSpPr>
        <p:spPr>
          <a:xfrm>
            <a:off x="8970264" y="4983480"/>
            <a:ext cx="384048" cy="384048"/>
          </a:xfrm>
          <a:prstGeom prst="ellipse">
            <a:avLst/>
          </a:prstGeom>
          <a:solidFill>
            <a:srgbClr val="123F3A"/>
          </a:solidFill>
          <a:ln w="15875">
            <a:solidFill>
              <a:srgbClr val="3ED6C0"/>
            </a:solidFill>
            <a:prstDash val="solid"/>
          </a:ln>
        </p:spPr>
      </p:sp>
      <p:sp>
        <p:nvSpPr>
          <p:cNvPr id="19" name="Text 16"/>
          <p:cNvSpPr txBox="1"/>
          <p:nvPr/>
        </p:nvSpPr>
        <p:spPr>
          <a:xfrm>
            <a:off x="8970264" y="4983480"/>
            <a:ext cx="384048" cy="384048"/>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4</a:t>
            </a:r>
            <a:endParaRPr lang="en-US" sz="1400" dirty="0"/>
          </a:p>
        </p:txBody>
      </p:sp>
      <p:sp>
        <p:nvSpPr>
          <p:cNvPr id="20" name="Text 17"/>
          <p:cNvSpPr txBox="1"/>
          <p:nvPr/>
        </p:nvSpPr>
        <p:spPr>
          <a:xfrm>
            <a:off x="9473184" y="4956048"/>
            <a:ext cx="2194560" cy="411480"/>
          </a:xfrm>
          <a:prstGeom prst="rect">
            <a:avLst/>
          </a:prstGeom>
          <a:noFill/>
          <a:ln/>
        </p:spPr>
        <p:txBody>
          <a:bodyPr wrap="square" lIns="0" tIns="0" rIns="0" bIns="0" rtlCol="0" anchor="ctr"/>
          <a:lstStyle/>
          <a:p>
            <a:pPr indent="0" marL="0">
              <a:buNone/>
            </a:pPr>
            <a:r>
              <a:rPr lang="en-US" sz="1800" dirty="0">
                <a:solidFill>
                  <a:srgbClr val="F4F6F8"/>
                </a:solidFill>
                <a:latin typeface="Georgia" pitchFamily="34" charset="0"/>
                <a:ea typeface="Georgia" pitchFamily="34" charset="-122"/>
                <a:cs typeface="Georgia" pitchFamily="34" charset="-120"/>
              </a:rPr>
              <a:t>Watch</a:t>
            </a:r>
            <a:endParaRPr lang="en-US" sz="1800" dirty="0"/>
          </a:p>
        </p:txBody>
      </p:sp>
      <p:sp>
        <p:nvSpPr>
          <p:cNvPr id="21" name="Text 18"/>
          <p:cNvSpPr txBox="1"/>
          <p:nvPr/>
        </p:nvSpPr>
        <p:spPr>
          <a:xfrm>
            <a:off x="9473184" y="5367528"/>
            <a:ext cx="2194560" cy="640080"/>
          </a:xfrm>
          <a:prstGeom prst="rect">
            <a:avLst/>
          </a:prstGeom>
          <a:noFill/>
          <a:ln/>
        </p:spPr>
        <p:txBody>
          <a:bodyPr wrap="square" lIns="0" tIns="0" rIns="0" bIns="0" rtlCol="0" anchor="ctr"/>
          <a:lstStyle/>
          <a:p>
            <a:pPr indent="0" marL="0">
              <a:buNone/>
            </a:pPr>
            <a:r>
              <a:rPr lang="en-US" sz="1300" dirty="0">
                <a:solidFill>
                  <a:srgbClr val="A9B2BE"/>
                </a:solidFill>
                <a:latin typeface="Arial" pitchFamily="34" charset="0"/>
                <a:ea typeface="Arial" pitchFamily="34" charset="-122"/>
                <a:cs typeface="Arial" pitchFamily="34" charset="-120"/>
              </a:rPr>
              <a:t>drift, 15 alert rules, Grafana</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90B"/>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100" b="1" spc="300" kern="0" dirty="0">
                <a:solidFill>
                  <a:srgbClr val="3ED6C0"/>
                </a:solidFill>
                <a:latin typeface="Arial" pitchFamily="34" charset="0"/>
                <a:ea typeface="Arial" pitchFamily="34" charset="-122"/>
                <a:cs typeface="Arial" pitchFamily="34" charset="-120"/>
              </a:rPr>
              <a:t>DATA · KKBOX MUSIC STREAMING</a:t>
            </a:r>
            <a:endParaRPr lang="en-US" sz="1100" dirty="0"/>
          </a:p>
        </p:txBody>
      </p:sp>
      <p:sp>
        <p:nvSpPr>
          <p:cNvPr id="3" name="Text 1"/>
          <p:cNvSpPr txBox="1"/>
          <p:nvPr/>
        </p:nvSpPr>
        <p:spPr>
          <a:xfrm>
            <a:off x="548640" y="685800"/>
            <a:ext cx="11094415" cy="731520"/>
          </a:xfrm>
          <a:prstGeom prst="rect">
            <a:avLst/>
          </a:prstGeom>
          <a:noFill/>
          <a:ln/>
        </p:spPr>
        <p:txBody>
          <a:bodyPr wrap="square" lIns="0" tIns="0" rIns="0" bIns="0" rtlCol="0" anchor="ctr"/>
          <a:lstStyle/>
          <a:p>
            <a:pPr indent="0" marL="0">
              <a:buNone/>
            </a:pPr>
            <a:r>
              <a:rPr lang="en-US" sz="3200" dirty="0">
                <a:solidFill>
                  <a:srgbClr val="F4F6F8"/>
                </a:solidFill>
                <a:latin typeface="Georgia" pitchFamily="34" charset="0"/>
                <a:ea typeface="Georgia" pitchFamily="34" charset="-122"/>
                <a:cs typeface="Georgia" pitchFamily="34" charset="-120"/>
              </a:rPr>
              <a:t>Real data, cleaned on purpose</a:t>
            </a:r>
            <a:endParaRPr lang="en-US" sz="3200" dirty="0"/>
          </a:p>
        </p:txBody>
      </p:sp>
      <p:sp>
        <p:nvSpPr>
          <p:cNvPr id="4" name="Shape 2"/>
          <p:cNvSpPr/>
          <p:nvPr/>
        </p:nvSpPr>
        <p:spPr>
          <a:xfrm>
            <a:off x="548640" y="1737360"/>
            <a:ext cx="4206240" cy="4480560"/>
          </a:xfrm>
          <a:prstGeom prst="roundRect">
            <a:avLst>
              <a:gd name="adj" fmla="val 2609"/>
            </a:avLst>
          </a:prstGeom>
          <a:solidFill>
            <a:srgbClr val="12151C"/>
          </a:solidFill>
          <a:ln w="9525">
            <a:solidFill>
              <a:srgbClr val="2A303A"/>
            </a:solidFill>
            <a:prstDash val="solid"/>
          </a:ln>
          <a:effectLst>
            <a:outerShdw sx="100000" sy="100000" kx="0" ky="0" algn="bl" rotWithShape="0" blurRad="101600" dist="38100" dir="5400000">
              <a:srgbClr val="000000">
                <a:alpha val="45000"/>
              </a:srgbClr>
            </a:outerShdw>
          </a:effectLst>
        </p:spPr>
      </p:sp>
      <p:sp>
        <p:nvSpPr>
          <p:cNvPr id="5" name="Text 3"/>
          <p:cNvSpPr txBox="1"/>
          <p:nvPr/>
        </p:nvSpPr>
        <p:spPr>
          <a:xfrm>
            <a:off x="914400" y="1874520"/>
            <a:ext cx="3566160" cy="868680"/>
          </a:xfrm>
          <a:prstGeom prst="rect">
            <a:avLst/>
          </a:prstGeom>
          <a:noFill/>
          <a:ln/>
        </p:spPr>
        <p:txBody>
          <a:bodyPr wrap="square" lIns="0" tIns="0" rIns="0" bIns="0" rtlCol="0" anchor="b"/>
          <a:lstStyle/>
          <a:p>
            <a:pPr indent="0" marL="0">
              <a:buNone/>
            </a:pPr>
            <a:r>
              <a:rPr lang="en-US" sz="4800" dirty="0">
                <a:solidFill>
                  <a:srgbClr val="E8DFCE"/>
                </a:solidFill>
                <a:latin typeface="Georgia" pitchFamily="34" charset="0"/>
                <a:ea typeface="Georgia" pitchFamily="34" charset="-122"/>
                <a:cs typeface="Georgia" pitchFamily="34" charset="-120"/>
              </a:rPr>
              <a:t>31.3 GB</a:t>
            </a:r>
            <a:endParaRPr lang="en-US" sz="4800" dirty="0"/>
          </a:p>
        </p:txBody>
      </p:sp>
      <p:sp>
        <p:nvSpPr>
          <p:cNvPr id="6" name="Text 4"/>
          <p:cNvSpPr txBox="1"/>
          <p:nvPr/>
        </p:nvSpPr>
        <p:spPr>
          <a:xfrm>
            <a:off x="914400" y="2788920"/>
            <a:ext cx="3566160" cy="685800"/>
          </a:xfrm>
          <a:prstGeom prst="rect">
            <a:avLst/>
          </a:prstGeom>
          <a:noFill/>
          <a:ln/>
        </p:spPr>
        <p:txBody>
          <a:bodyPr wrap="square" lIns="0" tIns="0" rIns="0" bIns="0" rtlCol="0" anchor="t"/>
          <a:lstStyle/>
          <a:p>
            <a:pPr indent="0" marL="0">
              <a:buNone/>
            </a:pPr>
            <a:r>
              <a:rPr lang="en-US" sz="1300" dirty="0">
                <a:solidFill>
                  <a:srgbClr val="A9B2BE"/>
                </a:solidFill>
                <a:latin typeface="Arial" pitchFamily="34" charset="0"/>
                <a:ea typeface="Arial" pitchFamily="34" charset="-122"/>
                <a:cs typeface="Arial" pitchFamily="34" charset="-120"/>
              </a:rPr>
              <a:t>raw CSV: members, transactions, daily listening logs</a:t>
            </a:r>
            <a:endParaRPr lang="en-US" sz="1300" dirty="0"/>
          </a:p>
        </p:txBody>
      </p:sp>
      <p:sp>
        <p:nvSpPr>
          <p:cNvPr id="7" name="Text 5"/>
          <p:cNvSpPr txBox="1"/>
          <p:nvPr/>
        </p:nvSpPr>
        <p:spPr>
          <a:xfrm>
            <a:off x="914400" y="3749040"/>
            <a:ext cx="3566160" cy="868680"/>
          </a:xfrm>
          <a:prstGeom prst="rect">
            <a:avLst/>
          </a:prstGeom>
          <a:noFill/>
          <a:ln/>
        </p:spPr>
        <p:txBody>
          <a:bodyPr wrap="square" lIns="0" tIns="0" rIns="0" bIns="0" rtlCol="0" anchor="b"/>
          <a:lstStyle/>
          <a:p>
            <a:pPr indent="0" marL="0">
              <a:buNone/>
            </a:pPr>
            <a:r>
              <a:rPr lang="en-US" sz="4800" dirty="0">
                <a:solidFill>
                  <a:srgbClr val="3ED6C0"/>
                </a:solidFill>
                <a:latin typeface="Georgia" pitchFamily="34" charset="0"/>
                <a:ea typeface="Georgia" pitchFamily="34" charset="-122"/>
                <a:cs typeface="Georgia" pitchFamily="34" charset="-120"/>
              </a:rPr>
              <a:t>82.8M</a:t>
            </a:r>
            <a:endParaRPr lang="en-US" sz="4800" dirty="0"/>
          </a:p>
        </p:txBody>
      </p:sp>
      <p:sp>
        <p:nvSpPr>
          <p:cNvPr id="8" name="Text 6"/>
          <p:cNvSpPr txBox="1"/>
          <p:nvPr/>
        </p:nvSpPr>
        <p:spPr>
          <a:xfrm>
            <a:off x="914400" y="4663440"/>
            <a:ext cx="3566160" cy="685800"/>
          </a:xfrm>
          <a:prstGeom prst="rect">
            <a:avLst/>
          </a:prstGeom>
          <a:noFill/>
          <a:ln/>
        </p:spPr>
        <p:txBody>
          <a:bodyPr wrap="square" lIns="0" tIns="0" rIns="0" bIns="0" rtlCol="0" anchor="t"/>
          <a:lstStyle/>
          <a:p>
            <a:pPr indent="0" marL="0">
              <a:buNone/>
            </a:pPr>
            <a:r>
              <a:rPr lang="en-US" sz="1300" dirty="0">
                <a:solidFill>
                  <a:srgbClr val="A9B2BE"/>
                </a:solidFill>
                <a:latin typeface="Arial" pitchFamily="34" charset="0"/>
                <a:ea typeface="Arial" pitchFamily="34" charset="-122"/>
                <a:cs typeface="Arial" pitchFamily="34" charset="-120"/>
              </a:rPr>
              <a:t>rows in Postgres: 6.8M subscribers, 38.2M sessions</a:t>
            </a:r>
            <a:endParaRPr lang="en-US" sz="1300" dirty="0"/>
          </a:p>
        </p:txBody>
      </p:sp>
      <p:sp>
        <p:nvSpPr>
          <p:cNvPr id="9" name="Shape 7"/>
          <p:cNvSpPr/>
          <p:nvPr/>
        </p:nvSpPr>
        <p:spPr>
          <a:xfrm>
            <a:off x="5166360" y="1783080"/>
            <a:ext cx="420624" cy="420624"/>
          </a:xfrm>
          <a:prstGeom prst="ellipse">
            <a:avLst/>
          </a:prstGeom>
          <a:solidFill>
            <a:srgbClr val="123F3A"/>
          </a:solidFill>
          <a:ln w="15875">
            <a:solidFill>
              <a:srgbClr val="3ED6C0"/>
            </a:solidFill>
            <a:prstDash val="solid"/>
          </a:ln>
        </p:spPr>
      </p:sp>
      <p:sp>
        <p:nvSpPr>
          <p:cNvPr id="10" name="Text 8"/>
          <p:cNvSpPr txBox="1"/>
          <p:nvPr/>
        </p:nvSpPr>
        <p:spPr>
          <a:xfrm>
            <a:off x="5166360" y="1783080"/>
            <a:ext cx="420624" cy="420624"/>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1</a:t>
            </a:r>
            <a:endParaRPr lang="en-US" sz="1400" dirty="0"/>
          </a:p>
        </p:txBody>
      </p:sp>
      <p:sp>
        <p:nvSpPr>
          <p:cNvPr id="11" name="Text 9"/>
          <p:cNvSpPr txBox="1"/>
          <p:nvPr/>
        </p:nvSpPr>
        <p:spPr>
          <a:xfrm>
            <a:off x="5760720" y="1737360"/>
            <a:ext cx="5852160" cy="365760"/>
          </a:xfrm>
          <a:prstGeom prst="rect">
            <a:avLst/>
          </a:prstGeom>
          <a:noFill/>
          <a:ln/>
        </p:spPr>
        <p:txBody>
          <a:bodyPr wrap="square" lIns="0" tIns="0" rIns="0" bIns="0" rtlCol="0" anchor="ctr"/>
          <a:lstStyle/>
          <a:p>
            <a:pPr indent="0" marL="0">
              <a:buNone/>
            </a:pPr>
            <a:r>
              <a:rPr lang="en-US" sz="1700" b="1" dirty="0">
                <a:solidFill>
                  <a:srgbClr val="F4F6F8"/>
                </a:solidFill>
                <a:latin typeface="Arial" pitchFamily="34" charset="0"/>
                <a:ea typeface="Arial" pitchFamily="34" charset="-122"/>
                <a:cs typeface="Arial" pitchFamily="34" charset="-120"/>
              </a:rPr>
              <a:t>Dropped 2.66M orphan rows</a:t>
            </a:r>
            <a:endParaRPr lang="en-US" sz="1700" dirty="0"/>
          </a:p>
        </p:txBody>
      </p:sp>
      <p:sp>
        <p:nvSpPr>
          <p:cNvPr id="12" name="Text 10"/>
          <p:cNvSpPr txBox="1"/>
          <p:nvPr/>
        </p:nvSpPr>
        <p:spPr>
          <a:xfrm>
            <a:off x="5760720" y="2130552"/>
            <a:ext cx="5852160" cy="640080"/>
          </a:xfrm>
          <a:prstGeom prst="rect">
            <a:avLst/>
          </a:prstGeom>
          <a:noFill/>
          <a:ln/>
        </p:spPr>
        <p:txBody>
          <a:bodyPr wrap="square" lIns="0" tIns="0" rIns="0" bIns="0" rtlCol="0" anchor="ctr"/>
          <a:lstStyle/>
          <a:p>
            <a:pPr indent="0" marL="0">
              <a:buNone/>
            </a:pPr>
            <a:r>
              <a:rPr lang="en-US" sz="1350" dirty="0">
                <a:solidFill>
                  <a:srgbClr val="A9B2BE"/>
                </a:solidFill>
                <a:latin typeface="Arial" pitchFamily="34" charset="0"/>
                <a:ea typeface="Arial" pitchFamily="34" charset="-122"/>
                <a:cs typeface="Arial" pitchFamily="34" charset="-120"/>
              </a:rPr>
              <a:t>not invented: a made-up signup date makes old customers look new, and "new" reads as risky</a:t>
            </a:r>
            <a:endParaRPr lang="en-US" sz="1350" dirty="0"/>
          </a:p>
        </p:txBody>
      </p:sp>
      <p:sp>
        <p:nvSpPr>
          <p:cNvPr id="13" name="Shape 11"/>
          <p:cNvSpPr/>
          <p:nvPr/>
        </p:nvSpPr>
        <p:spPr>
          <a:xfrm>
            <a:off x="5166360" y="2898648"/>
            <a:ext cx="420624" cy="420624"/>
          </a:xfrm>
          <a:prstGeom prst="ellipse">
            <a:avLst/>
          </a:prstGeom>
          <a:solidFill>
            <a:srgbClr val="123F3A"/>
          </a:solidFill>
          <a:ln w="15875">
            <a:solidFill>
              <a:srgbClr val="3ED6C0"/>
            </a:solidFill>
            <a:prstDash val="solid"/>
          </a:ln>
        </p:spPr>
      </p:sp>
      <p:sp>
        <p:nvSpPr>
          <p:cNvPr id="14" name="Text 12"/>
          <p:cNvSpPr txBox="1"/>
          <p:nvPr/>
        </p:nvSpPr>
        <p:spPr>
          <a:xfrm>
            <a:off x="5166360" y="2898648"/>
            <a:ext cx="420624" cy="420624"/>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2</a:t>
            </a:r>
            <a:endParaRPr lang="en-US" sz="1400" dirty="0"/>
          </a:p>
        </p:txBody>
      </p:sp>
      <p:sp>
        <p:nvSpPr>
          <p:cNvPr id="15" name="Text 13"/>
          <p:cNvSpPr txBox="1"/>
          <p:nvPr/>
        </p:nvSpPr>
        <p:spPr>
          <a:xfrm>
            <a:off x="5760720" y="2852928"/>
            <a:ext cx="5852160" cy="365760"/>
          </a:xfrm>
          <a:prstGeom prst="rect">
            <a:avLst/>
          </a:prstGeom>
          <a:noFill/>
          <a:ln/>
        </p:spPr>
        <p:txBody>
          <a:bodyPr wrap="square" lIns="0" tIns="0" rIns="0" bIns="0" rtlCol="0" anchor="ctr"/>
          <a:lstStyle/>
          <a:p>
            <a:pPr indent="0" marL="0">
              <a:buNone/>
            </a:pPr>
            <a:r>
              <a:rPr lang="en-US" sz="1700" b="1" dirty="0">
                <a:solidFill>
                  <a:srgbClr val="F4F6F8"/>
                </a:solidFill>
                <a:latin typeface="Arial" pitchFamily="34" charset="0"/>
                <a:ea typeface="Arial" pitchFamily="34" charset="-122"/>
                <a:cs typeface="Arial" pitchFamily="34" charset="-120"/>
              </a:rPr>
              <a:t>Widened IDs 32 → 64 chars</a:t>
            </a:r>
            <a:endParaRPr lang="en-US" sz="1700" dirty="0"/>
          </a:p>
        </p:txBody>
      </p:sp>
      <p:sp>
        <p:nvSpPr>
          <p:cNvPr id="16" name="Text 14"/>
          <p:cNvSpPr txBox="1"/>
          <p:nvPr/>
        </p:nvSpPr>
        <p:spPr>
          <a:xfrm>
            <a:off x="5760720" y="3246120"/>
            <a:ext cx="5852160" cy="640080"/>
          </a:xfrm>
          <a:prstGeom prst="rect">
            <a:avLst/>
          </a:prstGeom>
          <a:noFill/>
          <a:ln/>
        </p:spPr>
        <p:txBody>
          <a:bodyPr wrap="square" lIns="0" tIns="0" rIns="0" bIns="0" rtlCol="0" anchor="ctr"/>
          <a:lstStyle/>
          <a:p>
            <a:pPr indent="0" marL="0">
              <a:buNone/>
            </a:pPr>
            <a:r>
              <a:rPr lang="en-US" sz="1350" dirty="0">
                <a:solidFill>
                  <a:srgbClr val="A9B2BE"/>
                </a:solidFill>
                <a:latin typeface="Arial" pitchFamily="34" charset="0"/>
                <a:ea typeface="Arial" pitchFamily="34" charset="-122"/>
                <a:cs typeface="Arial" pitchFamily="34" charset="-120"/>
              </a:rPr>
              <a:t>real IDs are 44 characters; SQLite ignored it, Postgres would have rejected every row</a:t>
            </a:r>
            <a:endParaRPr lang="en-US" sz="1350" dirty="0"/>
          </a:p>
        </p:txBody>
      </p:sp>
      <p:sp>
        <p:nvSpPr>
          <p:cNvPr id="17" name="Shape 15"/>
          <p:cNvSpPr/>
          <p:nvPr/>
        </p:nvSpPr>
        <p:spPr>
          <a:xfrm>
            <a:off x="5166360" y="4014216"/>
            <a:ext cx="420624" cy="420624"/>
          </a:xfrm>
          <a:prstGeom prst="ellipse">
            <a:avLst/>
          </a:prstGeom>
          <a:solidFill>
            <a:srgbClr val="123F3A"/>
          </a:solidFill>
          <a:ln w="15875">
            <a:solidFill>
              <a:srgbClr val="3ED6C0"/>
            </a:solidFill>
            <a:prstDash val="solid"/>
          </a:ln>
        </p:spPr>
      </p:sp>
      <p:sp>
        <p:nvSpPr>
          <p:cNvPr id="18" name="Text 16"/>
          <p:cNvSpPr txBox="1"/>
          <p:nvPr/>
        </p:nvSpPr>
        <p:spPr>
          <a:xfrm>
            <a:off x="5166360" y="4014216"/>
            <a:ext cx="420624" cy="420624"/>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3</a:t>
            </a:r>
            <a:endParaRPr lang="en-US" sz="1400" dirty="0"/>
          </a:p>
        </p:txBody>
      </p:sp>
      <p:sp>
        <p:nvSpPr>
          <p:cNvPr id="19" name="Text 17"/>
          <p:cNvSpPr txBox="1"/>
          <p:nvPr/>
        </p:nvSpPr>
        <p:spPr>
          <a:xfrm>
            <a:off x="5760720" y="3968496"/>
            <a:ext cx="5852160" cy="365760"/>
          </a:xfrm>
          <a:prstGeom prst="rect">
            <a:avLst/>
          </a:prstGeom>
          <a:noFill/>
          <a:ln/>
        </p:spPr>
        <p:txBody>
          <a:bodyPr wrap="square" lIns="0" tIns="0" rIns="0" bIns="0" rtlCol="0" anchor="ctr"/>
          <a:lstStyle/>
          <a:p>
            <a:pPr indent="0" marL="0">
              <a:buNone/>
            </a:pPr>
            <a:r>
              <a:rPr lang="en-US" sz="1700" b="1" dirty="0">
                <a:solidFill>
                  <a:srgbClr val="F4F6F8"/>
                </a:solidFill>
                <a:latin typeface="Arial" pitchFamily="34" charset="0"/>
                <a:ea typeface="Arial" pitchFamily="34" charset="-122"/>
                <a:cs typeface="Arial" pitchFamily="34" charset="-120"/>
              </a:rPr>
              <a:t>Normalised prices to monthly</a:t>
            </a:r>
            <a:endParaRPr lang="en-US" sz="1700" dirty="0"/>
          </a:p>
        </p:txBody>
      </p:sp>
      <p:sp>
        <p:nvSpPr>
          <p:cNvPr id="20" name="Text 18"/>
          <p:cNvSpPr txBox="1"/>
          <p:nvPr/>
        </p:nvSpPr>
        <p:spPr>
          <a:xfrm>
            <a:off x="5760720" y="4361688"/>
            <a:ext cx="5852160" cy="640080"/>
          </a:xfrm>
          <a:prstGeom prst="rect">
            <a:avLst/>
          </a:prstGeom>
          <a:noFill/>
          <a:ln/>
        </p:spPr>
        <p:txBody>
          <a:bodyPr wrap="square" lIns="0" tIns="0" rIns="0" bIns="0" rtlCol="0" anchor="ctr"/>
          <a:lstStyle/>
          <a:p>
            <a:pPr indent="0" marL="0">
              <a:buNone/>
            </a:pPr>
            <a:r>
              <a:rPr lang="en-US" sz="1350" dirty="0">
                <a:solidFill>
                  <a:srgbClr val="A9B2BE"/>
                </a:solidFill>
                <a:latin typeface="Arial" pitchFamily="34" charset="0"/>
                <a:ea typeface="Arial" pitchFamily="34" charset="-122"/>
                <a:cs typeface="Arial" pitchFamily="34" charset="-120"/>
              </a:rPr>
              <a:t>plans run 7 to 410 days, so raw prices were not comparable</a:t>
            </a:r>
            <a:endParaRPr lang="en-US" sz="1350" dirty="0"/>
          </a:p>
        </p:txBody>
      </p:sp>
      <p:sp>
        <p:nvSpPr>
          <p:cNvPr id="21" name="Shape 19"/>
          <p:cNvSpPr/>
          <p:nvPr/>
        </p:nvSpPr>
        <p:spPr>
          <a:xfrm>
            <a:off x="5166360" y="5129784"/>
            <a:ext cx="420624" cy="420624"/>
          </a:xfrm>
          <a:prstGeom prst="ellipse">
            <a:avLst/>
          </a:prstGeom>
          <a:solidFill>
            <a:srgbClr val="123F3A"/>
          </a:solidFill>
          <a:ln w="15875">
            <a:solidFill>
              <a:srgbClr val="3ED6C0"/>
            </a:solidFill>
            <a:prstDash val="solid"/>
          </a:ln>
        </p:spPr>
      </p:sp>
      <p:sp>
        <p:nvSpPr>
          <p:cNvPr id="22" name="Text 20"/>
          <p:cNvSpPr txBox="1"/>
          <p:nvPr/>
        </p:nvSpPr>
        <p:spPr>
          <a:xfrm>
            <a:off x="5166360" y="5129784"/>
            <a:ext cx="420624" cy="420624"/>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4</a:t>
            </a:r>
            <a:endParaRPr lang="en-US" sz="1400" dirty="0"/>
          </a:p>
        </p:txBody>
      </p:sp>
      <p:sp>
        <p:nvSpPr>
          <p:cNvPr id="23" name="Text 21"/>
          <p:cNvSpPr txBox="1"/>
          <p:nvPr/>
        </p:nvSpPr>
        <p:spPr>
          <a:xfrm>
            <a:off x="5760720" y="5084064"/>
            <a:ext cx="5852160" cy="365760"/>
          </a:xfrm>
          <a:prstGeom prst="rect">
            <a:avLst/>
          </a:prstGeom>
          <a:noFill/>
          <a:ln/>
        </p:spPr>
        <p:txBody>
          <a:bodyPr wrap="square" lIns="0" tIns="0" rIns="0" bIns="0" rtlCol="0" anchor="ctr"/>
          <a:lstStyle/>
          <a:p>
            <a:pPr indent="0" marL="0">
              <a:buNone/>
            </a:pPr>
            <a:r>
              <a:rPr lang="en-US" sz="1700" b="1" dirty="0">
                <a:solidFill>
                  <a:srgbClr val="F4F6F8"/>
                </a:solidFill>
                <a:latin typeface="Arial" pitchFamily="34" charset="0"/>
                <a:ea typeface="Arial" pitchFamily="34" charset="-122"/>
                <a:cs typeface="Arial" pitchFamily="34" charset="-120"/>
              </a:rPr>
              <a:t>Stored events, not totals</a:t>
            </a:r>
            <a:endParaRPr lang="en-US" sz="1700" dirty="0"/>
          </a:p>
        </p:txBody>
      </p:sp>
      <p:sp>
        <p:nvSpPr>
          <p:cNvPr id="24" name="Text 22"/>
          <p:cNvSpPr txBox="1"/>
          <p:nvPr/>
        </p:nvSpPr>
        <p:spPr>
          <a:xfrm>
            <a:off x="5760720" y="5477256"/>
            <a:ext cx="5852160" cy="640080"/>
          </a:xfrm>
          <a:prstGeom prst="rect">
            <a:avLst/>
          </a:prstGeom>
          <a:noFill/>
          <a:ln/>
        </p:spPr>
        <p:txBody>
          <a:bodyPr wrap="square" lIns="0" tIns="0" rIns="0" bIns="0" rtlCol="0" anchor="ctr"/>
          <a:lstStyle/>
          <a:p>
            <a:pPr indent="0" marL="0">
              <a:buNone/>
            </a:pPr>
            <a:r>
              <a:rPr lang="en-US" sz="1350" dirty="0">
                <a:solidFill>
                  <a:srgbClr val="A9B2BE"/>
                </a:solidFill>
                <a:latin typeface="Arial" pitchFamily="34" charset="0"/>
                <a:ea typeface="Arial" pitchFamily="34" charset="-122"/>
                <a:cs typeface="Arial" pitchFamily="34" charset="-120"/>
              </a:rPr>
              <a:t>so any past date can be rebuilt exactly, which is what prevents leakage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90B"/>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100" b="1" spc="300" kern="0" dirty="0">
                <a:solidFill>
                  <a:srgbClr val="3ED6C0"/>
                </a:solidFill>
                <a:latin typeface="Arial" pitchFamily="34" charset="0"/>
                <a:ea typeface="Arial" pitchFamily="34" charset="-122"/>
                <a:cs typeface="Arial" pitchFamily="34" charset="-120"/>
              </a:rPr>
              <a:t>FEATURES · POINT-IN-TIME CORRECTNESS</a:t>
            </a:r>
            <a:endParaRPr lang="en-US" sz="1100" dirty="0"/>
          </a:p>
        </p:txBody>
      </p:sp>
      <p:sp>
        <p:nvSpPr>
          <p:cNvPr id="3" name="Text 1"/>
          <p:cNvSpPr txBox="1"/>
          <p:nvPr/>
        </p:nvSpPr>
        <p:spPr>
          <a:xfrm>
            <a:off x="548640" y="685800"/>
            <a:ext cx="11094415" cy="731520"/>
          </a:xfrm>
          <a:prstGeom prst="rect">
            <a:avLst/>
          </a:prstGeom>
          <a:noFill/>
          <a:ln/>
        </p:spPr>
        <p:txBody>
          <a:bodyPr wrap="square" lIns="0" tIns="0" rIns="0" bIns="0" rtlCol="0" anchor="ctr"/>
          <a:lstStyle/>
          <a:p>
            <a:pPr indent="0" marL="0">
              <a:buNone/>
            </a:pPr>
            <a:r>
              <a:rPr lang="en-US" sz="3200" dirty="0">
                <a:solidFill>
                  <a:srgbClr val="F4F6F8"/>
                </a:solidFill>
                <a:latin typeface="Georgia" pitchFamily="34" charset="0"/>
                <a:ea typeface="Georgia" pitchFamily="34" charset="-122"/>
                <a:cs typeface="Georgia" pitchFamily="34" charset="-120"/>
              </a:rPr>
              <a:t>The model never sees the future</a:t>
            </a:r>
            <a:endParaRPr lang="en-US" sz="3200" dirty="0"/>
          </a:p>
        </p:txBody>
      </p:sp>
      <p:sp>
        <p:nvSpPr>
          <p:cNvPr id="4" name="Shape 2"/>
          <p:cNvSpPr/>
          <p:nvPr/>
        </p:nvSpPr>
        <p:spPr>
          <a:xfrm>
            <a:off x="822960" y="2743200"/>
            <a:ext cx="10607040" cy="0"/>
          </a:xfrm>
          <a:prstGeom prst="line">
            <a:avLst/>
          </a:prstGeom>
          <a:noFill/>
          <a:ln w="25400">
            <a:solidFill>
              <a:srgbClr val="2A303A"/>
            </a:solidFill>
            <a:prstDash val="solid"/>
          </a:ln>
        </p:spPr>
      </p:sp>
      <p:sp>
        <p:nvSpPr>
          <p:cNvPr id="5" name="Shape 3"/>
          <p:cNvSpPr/>
          <p:nvPr/>
        </p:nvSpPr>
        <p:spPr>
          <a:xfrm>
            <a:off x="1371600" y="2331720"/>
            <a:ext cx="4389120" cy="822960"/>
          </a:xfrm>
          <a:prstGeom prst="roundRect">
            <a:avLst>
              <a:gd name="adj" fmla="val 11111"/>
            </a:avLst>
          </a:prstGeom>
          <a:solidFill>
            <a:srgbClr val="123F3A"/>
          </a:solidFill>
          <a:ln w="12700">
            <a:solidFill>
              <a:srgbClr val="3ED6C0"/>
            </a:solidFill>
            <a:prstDash val="solid"/>
          </a:ln>
        </p:spPr>
      </p:sp>
      <p:sp>
        <p:nvSpPr>
          <p:cNvPr id="6" name="Text 4"/>
          <p:cNvSpPr txBox="1"/>
          <p:nvPr/>
        </p:nvSpPr>
        <p:spPr>
          <a:xfrm>
            <a:off x="1371600" y="2331720"/>
            <a:ext cx="4389120" cy="822960"/>
          </a:xfrm>
          <a:prstGeom prst="rect">
            <a:avLst/>
          </a:prstGeom>
          <a:noFill/>
          <a:ln/>
        </p:spPr>
        <p:txBody>
          <a:bodyPr wrap="square" lIns="0" tIns="0" rIns="0" bIns="0" rtlCol="0" anchor="ctr"/>
          <a:lstStyle/>
          <a:p>
            <a:pPr algn="ctr" indent="0" marL="0">
              <a:buNone/>
            </a:pPr>
            <a:r>
              <a:rPr lang="en-US" sz="1700" b="1" dirty="0">
                <a:solidFill>
                  <a:srgbClr val="3ED6C0"/>
                </a:solidFill>
                <a:latin typeface="Arial" pitchFamily="34" charset="0"/>
                <a:ea typeface="Arial" pitchFamily="34" charset="-122"/>
                <a:cs typeface="Arial" pitchFamily="34" charset="-120"/>
              </a:rPr>
              <a:t>Features: 30 days before T</a:t>
            </a:r>
            <a:endParaRPr lang="en-US" sz="1700" dirty="0"/>
          </a:p>
        </p:txBody>
      </p:sp>
      <p:sp>
        <p:nvSpPr>
          <p:cNvPr id="7" name="Shape 5"/>
          <p:cNvSpPr/>
          <p:nvPr/>
        </p:nvSpPr>
        <p:spPr>
          <a:xfrm>
            <a:off x="6492240" y="2331720"/>
            <a:ext cx="4389120" cy="822960"/>
          </a:xfrm>
          <a:prstGeom prst="roundRect">
            <a:avLst>
              <a:gd name="adj" fmla="val 11111"/>
            </a:avLst>
          </a:prstGeom>
          <a:solidFill>
            <a:srgbClr val="3A1C19"/>
          </a:solidFill>
          <a:ln w="12700">
            <a:solidFill>
              <a:srgbClr val="FF6A5A"/>
            </a:solidFill>
            <a:prstDash val="solid"/>
          </a:ln>
        </p:spPr>
      </p:sp>
      <p:sp>
        <p:nvSpPr>
          <p:cNvPr id="8" name="Text 6"/>
          <p:cNvSpPr txBox="1"/>
          <p:nvPr/>
        </p:nvSpPr>
        <p:spPr>
          <a:xfrm>
            <a:off x="6492240" y="2331720"/>
            <a:ext cx="4389120" cy="822960"/>
          </a:xfrm>
          <a:prstGeom prst="rect">
            <a:avLst/>
          </a:prstGeom>
          <a:noFill/>
          <a:ln/>
        </p:spPr>
        <p:txBody>
          <a:bodyPr wrap="square" lIns="0" tIns="0" rIns="0" bIns="0" rtlCol="0" anchor="ctr"/>
          <a:lstStyle/>
          <a:p>
            <a:pPr algn="ctr" indent="0" marL="0">
              <a:buNone/>
            </a:pPr>
            <a:r>
              <a:rPr lang="en-US" sz="1700" b="1" dirty="0">
                <a:solidFill>
                  <a:srgbClr val="FF6A5A"/>
                </a:solidFill>
                <a:latin typeface="Arial" pitchFamily="34" charset="0"/>
                <a:ea typeface="Arial" pitchFamily="34" charset="-122"/>
                <a:cs typeface="Arial" pitchFamily="34" charset="-120"/>
              </a:rPr>
              <a:t>Label: cancels in 30 days after T?</a:t>
            </a:r>
            <a:endParaRPr lang="en-US" sz="1700" dirty="0"/>
          </a:p>
        </p:txBody>
      </p:sp>
      <p:sp>
        <p:nvSpPr>
          <p:cNvPr id="9" name="Shape 7"/>
          <p:cNvSpPr/>
          <p:nvPr/>
        </p:nvSpPr>
        <p:spPr>
          <a:xfrm>
            <a:off x="6126480" y="2011680"/>
            <a:ext cx="0" cy="1463040"/>
          </a:xfrm>
          <a:prstGeom prst="line">
            <a:avLst/>
          </a:prstGeom>
          <a:noFill/>
          <a:ln w="31750">
            <a:solidFill>
              <a:srgbClr val="E8DFCE"/>
            </a:solidFill>
            <a:prstDash val="solid"/>
          </a:ln>
        </p:spPr>
      </p:sp>
      <p:sp>
        <p:nvSpPr>
          <p:cNvPr id="10" name="Text 8"/>
          <p:cNvSpPr txBox="1"/>
          <p:nvPr/>
        </p:nvSpPr>
        <p:spPr>
          <a:xfrm>
            <a:off x="5669280" y="3520440"/>
            <a:ext cx="914400" cy="365760"/>
          </a:xfrm>
          <a:prstGeom prst="rect">
            <a:avLst/>
          </a:prstGeom>
          <a:noFill/>
          <a:ln/>
        </p:spPr>
        <p:txBody>
          <a:bodyPr wrap="square" lIns="0" tIns="0" rIns="0" bIns="0" rtlCol="0" anchor="ctr"/>
          <a:lstStyle/>
          <a:p>
            <a:pPr algn="ctr" indent="0" marL="0">
              <a:buNone/>
            </a:pPr>
            <a:r>
              <a:rPr lang="en-US" sz="1400" b="1" dirty="0">
                <a:solidFill>
                  <a:srgbClr val="E8DFCE"/>
                </a:solidFill>
                <a:latin typeface="Arial" pitchFamily="34" charset="0"/>
                <a:ea typeface="Arial" pitchFamily="34" charset="-122"/>
                <a:cs typeface="Arial" pitchFamily="34" charset="-120"/>
              </a:rPr>
              <a:t>cutoff T</a:t>
            </a:r>
            <a:endParaRPr lang="en-US" sz="1400" dirty="0"/>
          </a:p>
        </p:txBody>
      </p:sp>
      <p:sp>
        <p:nvSpPr>
          <p:cNvPr id="11" name="Text 9"/>
          <p:cNvSpPr txBox="1"/>
          <p:nvPr/>
        </p:nvSpPr>
        <p:spPr>
          <a:xfrm>
            <a:off x="548640" y="3931920"/>
            <a:ext cx="10972800" cy="411480"/>
          </a:xfrm>
          <a:prstGeom prst="rect">
            <a:avLst/>
          </a:prstGeom>
          <a:noFill/>
          <a:ln/>
        </p:spPr>
        <p:txBody>
          <a:bodyPr wrap="square" lIns="0" tIns="0" rIns="0" bIns="0" rtlCol="0" anchor="ctr"/>
          <a:lstStyle/>
          <a:p>
            <a:pPr indent="0" marL="0">
              <a:buNone/>
            </a:pPr>
            <a:r>
              <a:rPr lang="en-US" sz="1700" dirty="0">
                <a:solidFill>
                  <a:srgbClr val="A9B2BE"/>
                </a:solidFill>
                <a:latin typeface="Arial" pitchFamily="34" charset="0"/>
                <a:ea typeface="Arial" pitchFamily="34" charset="-122"/>
                <a:cs typeface="Arial" pitchFamily="34" charset="-120"/>
              </a:rPr>
              <a:t>The two windows never overlap, so nothing after T can reach a feature.</a:t>
            </a:r>
            <a:endParaRPr lang="en-US" sz="1700" dirty="0"/>
          </a:p>
        </p:txBody>
      </p:sp>
      <p:sp>
        <p:nvSpPr>
          <p:cNvPr id="12" name="Shape 10"/>
          <p:cNvSpPr/>
          <p:nvPr/>
        </p:nvSpPr>
        <p:spPr>
          <a:xfrm>
            <a:off x="548640" y="4572000"/>
            <a:ext cx="3474720" cy="1417320"/>
          </a:xfrm>
          <a:prstGeom prst="roundRect">
            <a:avLst>
              <a:gd name="adj" fmla="val 7742"/>
            </a:avLst>
          </a:prstGeom>
          <a:solidFill>
            <a:srgbClr val="12151C"/>
          </a:solidFill>
          <a:ln w="9525">
            <a:solidFill>
              <a:srgbClr val="2A303A"/>
            </a:solidFill>
            <a:prstDash val="solid"/>
          </a:ln>
          <a:effectLst>
            <a:outerShdw sx="100000" sy="100000" kx="0" ky="0" algn="bl" rotWithShape="0" blurRad="101600" dist="38100" dir="5400000">
              <a:srgbClr val="000000">
                <a:alpha val="45000"/>
              </a:srgbClr>
            </a:outerShdw>
          </a:effectLst>
        </p:spPr>
      </p:sp>
      <p:sp>
        <p:nvSpPr>
          <p:cNvPr id="13" name="Text 11"/>
          <p:cNvSpPr txBox="1"/>
          <p:nvPr/>
        </p:nvSpPr>
        <p:spPr>
          <a:xfrm>
            <a:off x="822960" y="4709160"/>
            <a:ext cx="2926080" cy="457200"/>
          </a:xfrm>
          <a:prstGeom prst="rect">
            <a:avLst/>
          </a:prstGeom>
          <a:noFill/>
          <a:ln/>
        </p:spPr>
        <p:txBody>
          <a:bodyPr wrap="square" lIns="0" tIns="0" rIns="0" bIns="0" rtlCol="0" anchor="ctr"/>
          <a:lstStyle/>
          <a:p>
            <a:pPr indent="0" marL="0">
              <a:buNone/>
            </a:pPr>
            <a:r>
              <a:rPr lang="en-US" sz="2200" dirty="0">
                <a:solidFill>
                  <a:srgbClr val="3ED6C0"/>
                </a:solidFill>
                <a:latin typeface="Georgia" pitchFamily="34" charset="0"/>
                <a:ea typeface="Georgia" pitchFamily="34" charset="-122"/>
                <a:cs typeface="Georgia" pitchFamily="34" charset="-120"/>
              </a:rPr>
              <a:t>Train</a:t>
            </a:r>
            <a:endParaRPr lang="en-US" sz="2200" dirty="0"/>
          </a:p>
        </p:txBody>
      </p:sp>
      <p:sp>
        <p:nvSpPr>
          <p:cNvPr id="14" name="Text 12"/>
          <p:cNvSpPr txBox="1"/>
          <p:nvPr/>
        </p:nvSpPr>
        <p:spPr>
          <a:xfrm>
            <a:off x="822960" y="5212080"/>
            <a:ext cx="2926080" cy="548640"/>
          </a:xfrm>
          <a:prstGeom prst="rect">
            <a:avLst/>
          </a:prstGeom>
          <a:noFill/>
          <a:ln/>
        </p:spPr>
        <p:txBody>
          <a:bodyPr wrap="square" lIns="0" tIns="0" rIns="0" bIns="0" rtlCol="0" anchor="ctr"/>
          <a:lstStyle/>
          <a:p>
            <a:pPr indent="0" marL="0">
              <a:buNone/>
            </a:pPr>
            <a:r>
              <a:rPr lang="en-US" sz="1500" dirty="0">
                <a:solidFill>
                  <a:srgbClr val="A9B2BE"/>
                </a:solidFill>
                <a:latin typeface="Arial" pitchFamily="34" charset="0"/>
                <a:ea typeface="Arial" pitchFamily="34" charset="-122"/>
                <a:cs typeface="Arial" pitchFamily="34" charset="-120"/>
              </a:rPr>
              <a:t>cutoffs Nov + Dec 2016</a:t>
            </a:r>
            <a:endParaRPr lang="en-US" sz="1500" dirty="0"/>
          </a:p>
        </p:txBody>
      </p:sp>
      <p:sp>
        <p:nvSpPr>
          <p:cNvPr id="15" name="Shape 13"/>
          <p:cNvSpPr/>
          <p:nvPr/>
        </p:nvSpPr>
        <p:spPr>
          <a:xfrm>
            <a:off x="4297680" y="4572000"/>
            <a:ext cx="3474720" cy="1417320"/>
          </a:xfrm>
          <a:prstGeom prst="roundRect">
            <a:avLst>
              <a:gd name="adj" fmla="val 7742"/>
            </a:avLst>
          </a:prstGeom>
          <a:solidFill>
            <a:srgbClr val="12151C"/>
          </a:solidFill>
          <a:ln w="9525">
            <a:solidFill>
              <a:srgbClr val="2A303A"/>
            </a:solidFill>
            <a:prstDash val="solid"/>
          </a:ln>
          <a:effectLst>
            <a:outerShdw sx="100000" sy="100000" kx="0" ky="0" algn="bl" rotWithShape="0" blurRad="101600" dist="38100" dir="5400000">
              <a:srgbClr val="000000">
                <a:alpha val="45000"/>
              </a:srgbClr>
            </a:outerShdw>
          </a:effectLst>
        </p:spPr>
      </p:sp>
      <p:sp>
        <p:nvSpPr>
          <p:cNvPr id="16" name="Text 14"/>
          <p:cNvSpPr txBox="1"/>
          <p:nvPr/>
        </p:nvSpPr>
        <p:spPr>
          <a:xfrm>
            <a:off x="4572000" y="4709160"/>
            <a:ext cx="2926080" cy="457200"/>
          </a:xfrm>
          <a:prstGeom prst="rect">
            <a:avLst/>
          </a:prstGeom>
          <a:noFill/>
          <a:ln/>
        </p:spPr>
        <p:txBody>
          <a:bodyPr wrap="square" lIns="0" tIns="0" rIns="0" bIns="0" rtlCol="0" anchor="ctr"/>
          <a:lstStyle/>
          <a:p>
            <a:pPr indent="0" marL="0">
              <a:buNone/>
            </a:pPr>
            <a:r>
              <a:rPr lang="en-US" sz="2200" dirty="0">
                <a:solidFill>
                  <a:srgbClr val="F0A94A"/>
                </a:solidFill>
                <a:latin typeface="Georgia" pitchFamily="34" charset="0"/>
                <a:ea typeface="Georgia" pitchFamily="34" charset="-122"/>
                <a:cs typeface="Georgia" pitchFamily="34" charset="-120"/>
              </a:rPr>
              <a:t>Validate</a:t>
            </a:r>
            <a:endParaRPr lang="en-US" sz="2200" dirty="0"/>
          </a:p>
        </p:txBody>
      </p:sp>
      <p:sp>
        <p:nvSpPr>
          <p:cNvPr id="17" name="Text 15"/>
          <p:cNvSpPr txBox="1"/>
          <p:nvPr/>
        </p:nvSpPr>
        <p:spPr>
          <a:xfrm>
            <a:off x="4572000" y="5212080"/>
            <a:ext cx="2926080" cy="548640"/>
          </a:xfrm>
          <a:prstGeom prst="rect">
            <a:avLst/>
          </a:prstGeom>
          <a:noFill/>
          <a:ln/>
        </p:spPr>
        <p:txBody>
          <a:bodyPr wrap="square" lIns="0" tIns="0" rIns="0" bIns="0" rtlCol="0" anchor="ctr"/>
          <a:lstStyle/>
          <a:p>
            <a:pPr indent="0" marL="0">
              <a:buNone/>
            </a:pPr>
            <a:r>
              <a:rPr lang="en-US" sz="1500" dirty="0">
                <a:solidFill>
                  <a:srgbClr val="A9B2BE"/>
                </a:solidFill>
                <a:latin typeface="Arial" pitchFamily="34" charset="0"/>
                <a:ea typeface="Arial" pitchFamily="34" charset="-122"/>
                <a:cs typeface="Arial" pitchFamily="34" charset="-120"/>
              </a:rPr>
              <a:t>31 Dec 2016</a:t>
            </a:r>
            <a:endParaRPr lang="en-US" sz="1500" dirty="0"/>
          </a:p>
        </p:txBody>
      </p:sp>
      <p:sp>
        <p:nvSpPr>
          <p:cNvPr id="18" name="Shape 16"/>
          <p:cNvSpPr/>
          <p:nvPr/>
        </p:nvSpPr>
        <p:spPr>
          <a:xfrm>
            <a:off x="8046720" y="4572000"/>
            <a:ext cx="3474720" cy="1417320"/>
          </a:xfrm>
          <a:prstGeom prst="roundRect">
            <a:avLst>
              <a:gd name="adj" fmla="val 7742"/>
            </a:avLst>
          </a:prstGeom>
          <a:solidFill>
            <a:srgbClr val="12151C"/>
          </a:solidFill>
          <a:ln w="9525">
            <a:solidFill>
              <a:srgbClr val="2A303A"/>
            </a:solidFill>
            <a:prstDash val="solid"/>
          </a:ln>
          <a:effectLst>
            <a:outerShdw sx="100000" sy="100000" kx="0" ky="0" algn="bl" rotWithShape="0" blurRad="101600" dist="38100" dir="5400000">
              <a:srgbClr val="000000">
                <a:alpha val="45000"/>
              </a:srgbClr>
            </a:outerShdw>
          </a:effectLst>
        </p:spPr>
      </p:sp>
      <p:sp>
        <p:nvSpPr>
          <p:cNvPr id="19" name="Text 17"/>
          <p:cNvSpPr txBox="1"/>
          <p:nvPr/>
        </p:nvSpPr>
        <p:spPr>
          <a:xfrm>
            <a:off x="8321040" y="4709160"/>
            <a:ext cx="2926080" cy="457200"/>
          </a:xfrm>
          <a:prstGeom prst="rect">
            <a:avLst/>
          </a:prstGeom>
          <a:noFill/>
          <a:ln/>
        </p:spPr>
        <p:txBody>
          <a:bodyPr wrap="square" lIns="0" tIns="0" rIns="0" bIns="0" rtlCol="0" anchor="ctr"/>
          <a:lstStyle/>
          <a:p>
            <a:pPr indent="0" marL="0">
              <a:buNone/>
            </a:pPr>
            <a:r>
              <a:rPr lang="en-US" sz="2200" dirty="0">
                <a:solidFill>
                  <a:srgbClr val="FF6A5A"/>
                </a:solidFill>
                <a:latin typeface="Georgia" pitchFamily="34" charset="0"/>
                <a:ea typeface="Georgia" pitchFamily="34" charset="-122"/>
                <a:cs typeface="Georgia" pitchFamily="34" charset="-120"/>
              </a:rPr>
              <a:t>Test</a:t>
            </a:r>
            <a:endParaRPr lang="en-US" sz="2200" dirty="0"/>
          </a:p>
        </p:txBody>
      </p:sp>
      <p:sp>
        <p:nvSpPr>
          <p:cNvPr id="20" name="Text 18"/>
          <p:cNvSpPr txBox="1"/>
          <p:nvPr/>
        </p:nvSpPr>
        <p:spPr>
          <a:xfrm>
            <a:off x="8321040" y="5212080"/>
            <a:ext cx="2926080" cy="548640"/>
          </a:xfrm>
          <a:prstGeom prst="rect">
            <a:avLst/>
          </a:prstGeom>
          <a:noFill/>
          <a:ln/>
        </p:spPr>
        <p:txBody>
          <a:bodyPr wrap="square" lIns="0" tIns="0" rIns="0" bIns="0" rtlCol="0" anchor="ctr"/>
          <a:lstStyle/>
          <a:p>
            <a:pPr indent="0" marL="0">
              <a:buNone/>
            </a:pPr>
            <a:r>
              <a:rPr lang="en-US" sz="1500" dirty="0">
                <a:solidFill>
                  <a:srgbClr val="A9B2BE"/>
                </a:solidFill>
                <a:latin typeface="Arial" pitchFamily="34" charset="0"/>
                <a:ea typeface="Arial" pitchFamily="34" charset="-122"/>
                <a:cs typeface="Arial" pitchFamily="34" charset="-120"/>
              </a:rPr>
              <a:t>29 Jan 2017</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90B"/>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100" b="1" spc="300" kern="0" dirty="0">
                <a:solidFill>
                  <a:srgbClr val="3ED6C0"/>
                </a:solidFill>
                <a:latin typeface="Arial" pitchFamily="34" charset="0"/>
                <a:ea typeface="Arial" pitchFamily="34" charset="-122"/>
                <a:cs typeface="Arial" pitchFamily="34" charset="-120"/>
              </a:rPr>
              <a:t>METRICS · WHY THE GATE USES PR-AUC</a:t>
            </a:r>
            <a:endParaRPr lang="en-US" sz="1100" dirty="0"/>
          </a:p>
        </p:txBody>
      </p:sp>
      <p:sp>
        <p:nvSpPr>
          <p:cNvPr id="3" name="Text 1"/>
          <p:cNvSpPr txBox="1"/>
          <p:nvPr/>
        </p:nvSpPr>
        <p:spPr>
          <a:xfrm>
            <a:off x="548640" y="685800"/>
            <a:ext cx="11094415" cy="731520"/>
          </a:xfrm>
          <a:prstGeom prst="rect">
            <a:avLst/>
          </a:prstGeom>
          <a:noFill/>
          <a:ln/>
        </p:spPr>
        <p:txBody>
          <a:bodyPr wrap="square" lIns="0" tIns="0" rIns="0" bIns="0" rtlCol="0" anchor="ctr"/>
          <a:lstStyle/>
          <a:p>
            <a:pPr indent="0" marL="0">
              <a:buNone/>
            </a:pPr>
            <a:r>
              <a:rPr lang="en-US" sz="3200" dirty="0">
                <a:solidFill>
                  <a:srgbClr val="F4F6F8"/>
                </a:solidFill>
                <a:latin typeface="Georgia" pitchFamily="34" charset="0"/>
                <a:ea typeface="Georgia" pitchFamily="34" charset="-122"/>
                <a:cs typeface="Georgia" pitchFamily="34" charset="-120"/>
              </a:rPr>
              <a:t>ROC-AUC went up. The model got harder to use.</a:t>
            </a:r>
            <a:endParaRPr lang="en-US" sz="3200" dirty="0"/>
          </a:p>
        </p:txBody>
      </p:sp>
      <p:graphicFrame>
        <p:nvGraphicFramePr>
          <p:cNvPr id="4" name="Chart 0" descr=""/>
          <p:cNvGraphicFramePr/>
          <p:nvPr/>
        </p:nvGraphicFramePr>
        <p:xfrm>
          <a:off x="548640" y="1645920"/>
          <a:ext cx="6583680" cy="46634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89520" y="1783080"/>
            <a:ext cx="4069080" cy="4434840"/>
          </a:xfrm>
          <a:prstGeom prst="roundRect">
            <a:avLst>
              <a:gd name="adj" fmla="val 2697"/>
            </a:avLst>
          </a:prstGeom>
          <a:solidFill>
            <a:srgbClr val="12151C"/>
          </a:solidFill>
          <a:ln w="9525">
            <a:solidFill>
              <a:srgbClr val="2A303A"/>
            </a:solidFill>
            <a:prstDash val="solid"/>
          </a:ln>
          <a:effectLst>
            <a:outerShdw sx="100000" sy="100000" kx="0" ky="0" algn="bl" rotWithShape="0" blurRad="101600" dist="38100" dir="5400000">
              <a:srgbClr val="000000">
                <a:alpha val="45000"/>
              </a:srgbClr>
            </a:outerShdw>
          </a:effectLst>
        </p:spPr>
      </p:sp>
      <p:sp>
        <p:nvSpPr>
          <p:cNvPr id="6" name="Text 3"/>
          <p:cNvSpPr txBox="1"/>
          <p:nvPr/>
        </p:nvSpPr>
        <p:spPr>
          <a:xfrm>
            <a:off x="7909560" y="2011680"/>
            <a:ext cx="3474720" cy="411480"/>
          </a:xfrm>
          <a:prstGeom prst="rect">
            <a:avLst/>
          </a:prstGeom>
          <a:noFill/>
          <a:ln/>
        </p:spPr>
        <p:txBody>
          <a:bodyPr wrap="square" lIns="0" tIns="0" rIns="0" bIns="0" rtlCol="0" anchor="ctr"/>
          <a:lstStyle/>
          <a:p>
            <a:pPr indent="0" marL="0">
              <a:buNone/>
            </a:pPr>
            <a:r>
              <a:rPr lang="en-US" sz="2200" dirty="0">
                <a:solidFill>
                  <a:srgbClr val="E8DFCE"/>
                </a:solidFill>
                <a:latin typeface="Georgia" pitchFamily="34" charset="0"/>
                <a:ea typeface="Georgia" pitchFamily="34" charset="-122"/>
                <a:cs typeface="Georgia" pitchFamily="34" charset="-120"/>
              </a:rPr>
              <a:t>The finding</a:t>
            </a:r>
            <a:endParaRPr lang="en-US" sz="2200" dirty="0"/>
          </a:p>
        </p:txBody>
      </p:sp>
      <p:sp>
        <p:nvSpPr>
          <p:cNvPr id="7" name="Text 4"/>
          <p:cNvSpPr txBox="1"/>
          <p:nvPr/>
        </p:nvSpPr>
        <p:spPr>
          <a:xfrm>
            <a:off x="7909560" y="2560320"/>
            <a:ext cx="3474720" cy="3474720"/>
          </a:xfrm>
          <a:prstGeom prst="rect">
            <a:avLst/>
          </a:prstGeom>
          <a:noFill/>
          <a:ln/>
        </p:spPr>
        <p:txBody>
          <a:bodyPr wrap="square" lIns="0" tIns="0" rIns="0" bIns="0" rtlCol="0" anchor="t"/>
          <a:lstStyle/>
          <a:p>
            <a:pPr indent="0" marL="0">
              <a:spcAft>
                <a:spcPts val="1000"/>
              </a:spcAft>
              <a:buNone/>
            </a:pPr>
            <a:r>
              <a:rPr lang="en-US" sz="1500" dirty="0">
                <a:solidFill>
                  <a:srgbClr val="A9B2BE"/>
                </a:solidFill>
                <a:latin typeface="Arial" pitchFamily="34" charset="0"/>
                <a:ea typeface="Arial" pitchFamily="34" charset="-122"/>
                <a:cs typeface="Arial" pitchFamily="34" charset="-120"/>
              </a:rPr>
              <a:t>Moving to real data, ROC-AUC rose from 0.67 to 0.84 while PR-AUC fell from 0.35 to 0.07.</a:t>
            </a:r>
            <a:endParaRPr lang="en-US" sz="1500" dirty="0"/>
          </a:p>
          <a:p>
            <a:pPr indent="0" marL="0">
              <a:spcAft>
                <a:spcPts val="1000"/>
              </a:spcAft>
              <a:buNone/>
            </a:pPr>
            <a:r>
              <a:rPr lang="en-US" sz="1500" dirty="0">
                <a:solidFill>
                  <a:srgbClr val="A9B2BE"/>
                </a:solidFill>
                <a:latin typeface="Arial" pitchFamily="34" charset="0"/>
                <a:ea typeface="Arial" pitchFamily="34" charset="-122"/>
                <a:cs typeface="Arial" pitchFamily="34" charset="-120"/>
              </a:rPr>
              <a:t>ROC-AUC barely notices how rare churn is. PR-AUC is dominated by it.</a:t>
            </a:r>
            <a:endParaRPr lang="en-US" sz="1500" dirty="0"/>
          </a:p>
          <a:p>
            <a:pPr indent="0" marL="0">
              <a:buNone/>
            </a:pPr>
            <a:r>
              <a:rPr lang="en-US" sz="1500" dirty="0">
                <a:solidFill>
                  <a:srgbClr val="3ED6C0"/>
                </a:solidFill>
                <a:latin typeface="Arial" pitchFamily="34" charset="0"/>
                <a:ea typeface="Arial" pitchFamily="34" charset="-122"/>
                <a:cs typeface="Arial" pitchFamily="34" charset="-120"/>
              </a:rPr>
              <a:t>A gate on ROC-AUC would have reported an improvement. So the gate uses PR-AUC, with a 0.005 margin.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90B"/>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100" b="1" spc="300" kern="0" dirty="0">
                <a:solidFill>
                  <a:srgbClr val="3ED6C0"/>
                </a:solidFill>
                <a:latin typeface="Arial" pitchFamily="34" charset="0"/>
                <a:ea typeface="Arial" pitchFamily="34" charset="-122"/>
                <a:cs typeface="Arial" pitchFamily="34" charset="-120"/>
              </a:rPr>
              <a:t>REGISTRY · MLFLOW + PROMOTION GATE</a:t>
            </a:r>
            <a:endParaRPr lang="en-US" sz="1100" dirty="0"/>
          </a:p>
        </p:txBody>
      </p:sp>
      <p:sp>
        <p:nvSpPr>
          <p:cNvPr id="3" name="Text 1"/>
          <p:cNvSpPr txBox="1"/>
          <p:nvPr/>
        </p:nvSpPr>
        <p:spPr>
          <a:xfrm>
            <a:off x="548640" y="685800"/>
            <a:ext cx="11094415" cy="731520"/>
          </a:xfrm>
          <a:prstGeom prst="rect">
            <a:avLst/>
          </a:prstGeom>
          <a:noFill/>
          <a:ln/>
        </p:spPr>
        <p:txBody>
          <a:bodyPr wrap="square" lIns="0" tIns="0" rIns="0" bIns="0" rtlCol="0" anchor="ctr"/>
          <a:lstStyle/>
          <a:p>
            <a:pPr indent="0" marL="0">
              <a:buNone/>
            </a:pPr>
            <a:r>
              <a:rPr lang="en-US" sz="3200" dirty="0">
                <a:solidFill>
                  <a:srgbClr val="F4F6F8"/>
                </a:solidFill>
                <a:latin typeface="Georgia" pitchFamily="34" charset="0"/>
                <a:ea typeface="Georgia" pitchFamily="34" charset="-122"/>
                <a:cs typeface="Georgia" pitchFamily="34" charset="-120"/>
              </a:rPr>
              <a:t>No model reaches production by accident</a:t>
            </a:r>
            <a:endParaRPr lang="en-US" sz="3200" dirty="0"/>
          </a:p>
        </p:txBody>
      </p:sp>
      <p:sp>
        <p:nvSpPr>
          <p:cNvPr id="4" name="Shape 2"/>
          <p:cNvSpPr/>
          <p:nvPr/>
        </p:nvSpPr>
        <p:spPr>
          <a:xfrm>
            <a:off x="548640" y="1828800"/>
            <a:ext cx="2514600" cy="2011680"/>
          </a:xfrm>
          <a:prstGeom prst="roundRect">
            <a:avLst>
              <a:gd name="adj" fmla="val 5455"/>
            </a:avLst>
          </a:prstGeom>
          <a:solidFill>
            <a:srgbClr val="12151C"/>
          </a:solidFill>
          <a:ln w="9525">
            <a:solidFill>
              <a:srgbClr val="2A303A"/>
            </a:solidFill>
            <a:prstDash val="solid"/>
          </a:ln>
          <a:effectLst>
            <a:outerShdw sx="100000" sy="100000" kx="0" ky="0" algn="bl" rotWithShape="0" blurRad="101600" dist="38100" dir="5400000">
              <a:srgbClr val="000000">
                <a:alpha val="45000"/>
              </a:srgbClr>
            </a:outerShdw>
          </a:effectLst>
        </p:spPr>
      </p:sp>
      <p:sp>
        <p:nvSpPr>
          <p:cNvPr id="5" name="Shape 3"/>
          <p:cNvSpPr/>
          <p:nvPr/>
        </p:nvSpPr>
        <p:spPr>
          <a:xfrm>
            <a:off x="777240" y="2011680"/>
            <a:ext cx="420624" cy="420624"/>
          </a:xfrm>
          <a:prstGeom prst="ellipse">
            <a:avLst/>
          </a:prstGeom>
          <a:solidFill>
            <a:srgbClr val="123F3A"/>
          </a:solidFill>
          <a:ln w="15875">
            <a:solidFill>
              <a:srgbClr val="3ED6C0"/>
            </a:solidFill>
            <a:prstDash val="solid"/>
          </a:ln>
        </p:spPr>
      </p:sp>
      <p:sp>
        <p:nvSpPr>
          <p:cNvPr id="6" name="Text 4"/>
          <p:cNvSpPr txBox="1"/>
          <p:nvPr/>
        </p:nvSpPr>
        <p:spPr>
          <a:xfrm>
            <a:off x="777240" y="2011680"/>
            <a:ext cx="420624" cy="420624"/>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777240" y="2560320"/>
            <a:ext cx="2103120" cy="502920"/>
          </a:xfrm>
          <a:prstGeom prst="rect">
            <a:avLst/>
          </a:prstGeom>
          <a:noFill/>
          <a:ln/>
        </p:spPr>
        <p:txBody>
          <a:bodyPr wrap="square" lIns="0" tIns="0" rIns="0" bIns="0" rtlCol="0" anchor="ctr"/>
          <a:lstStyle/>
          <a:p>
            <a:pPr indent="0" marL="0">
              <a:buNone/>
            </a:pPr>
            <a:r>
              <a:rPr lang="en-US" sz="2100" dirty="0">
                <a:solidFill>
                  <a:srgbClr val="A9B2BE"/>
                </a:solidFill>
                <a:latin typeface="Georgia" pitchFamily="34" charset="0"/>
                <a:ea typeface="Georgia" pitchFamily="34" charset="-122"/>
                <a:cs typeface="Georgia" pitchFamily="34" charset="-120"/>
              </a:rPr>
              <a:t>Train</a:t>
            </a:r>
            <a:endParaRPr lang="en-US" sz="2100" dirty="0"/>
          </a:p>
        </p:txBody>
      </p:sp>
      <p:sp>
        <p:nvSpPr>
          <p:cNvPr id="8" name="Text 6"/>
          <p:cNvSpPr txBox="1"/>
          <p:nvPr/>
        </p:nvSpPr>
        <p:spPr>
          <a:xfrm>
            <a:off x="777240" y="3063240"/>
            <a:ext cx="2103120" cy="731520"/>
          </a:xfrm>
          <a:prstGeom prst="rect">
            <a:avLst/>
          </a:prstGeom>
          <a:noFill/>
          <a:ln/>
        </p:spPr>
        <p:txBody>
          <a:bodyPr wrap="square" lIns="0" tIns="0" rIns="0" bIns="0" rtlCol="0" anchor="ctr"/>
          <a:lstStyle/>
          <a:p>
            <a:pPr indent="0" marL="0">
              <a:buNone/>
            </a:pPr>
            <a:r>
              <a:rPr lang="en-US" sz="1350" dirty="0">
                <a:solidFill>
                  <a:srgbClr val="A9B2BE"/>
                </a:solidFill>
                <a:latin typeface="Arial" pitchFamily="34" charset="0"/>
                <a:ea typeface="Arial" pitchFamily="34" charset="-122"/>
                <a:cs typeface="Arial" pitchFamily="34" charset="-120"/>
              </a:rPr>
              <a:t>every run logged: params, metrics, model</a:t>
            </a:r>
            <a:endParaRPr lang="en-US" sz="1350" dirty="0"/>
          </a:p>
        </p:txBody>
      </p:sp>
      <p:sp>
        <p:nvSpPr>
          <p:cNvPr id="9" name="Text 7"/>
          <p:cNvSpPr txBox="1"/>
          <p:nvPr/>
        </p:nvSpPr>
        <p:spPr>
          <a:xfrm>
            <a:off x="3063240" y="2514600"/>
            <a:ext cx="338328" cy="548640"/>
          </a:xfrm>
          <a:prstGeom prst="rect">
            <a:avLst/>
          </a:prstGeom>
          <a:noFill/>
          <a:ln/>
        </p:spPr>
        <p:txBody>
          <a:bodyPr wrap="square" lIns="0" tIns="0" rIns="0" bIns="0" rtlCol="0" anchor="ctr"/>
          <a:lstStyle/>
          <a:p>
            <a:pPr algn="ctr" indent="0" marL="0">
              <a:buNone/>
            </a:pPr>
            <a:r>
              <a:rPr lang="en-US" sz="2400" dirty="0">
                <a:solidFill>
                  <a:srgbClr val="7A8396"/>
                </a:solidFill>
                <a:latin typeface="Arial" pitchFamily="34" charset="0"/>
                <a:ea typeface="Arial" pitchFamily="34" charset="-122"/>
                <a:cs typeface="Arial" pitchFamily="34" charset="-120"/>
              </a:rPr>
              <a:t>→</a:t>
            </a:r>
            <a:endParaRPr lang="en-US" sz="2400" dirty="0"/>
          </a:p>
        </p:txBody>
      </p:sp>
      <p:sp>
        <p:nvSpPr>
          <p:cNvPr id="10" name="Shape 8"/>
          <p:cNvSpPr/>
          <p:nvPr/>
        </p:nvSpPr>
        <p:spPr>
          <a:xfrm>
            <a:off x="3401568" y="1828800"/>
            <a:ext cx="2514600" cy="2011680"/>
          </a:xfrm>
          <a:prstGeom prst="roundRect">
            <a:avLst>
              <a:gd name="adj" fmla="val 5455"/>
            </a:avLst>
          </a:prstGeom>
          <a:solidFill>
            <a:srgbClr val="12151C"/>
          </a:solidFill>
          <a:ln w="9525">
            <a:solidFill>
              <a:srgbClr val="2A303A"/>
            </a:solidFill>
            <a:prstDash val="solid"/>
          </a:ln>
          <a:effectLst>
            <a:outerShdw sx="100000" sy="100000" kx="0" ky="0" algn="bl" rotWithShape="0" blurRad="101600" dist="38100" dir="5400000">
              <a:srgbClr val="000000">
                <a:alpha val="45000"/>
              </a:srgbClr>
            </a:outerShdw>
          </a:effectLst>
        </p:spPr>
      </p:sp>
      <p:sp>
        <p:nvSpPr>
          <p:cNvPr id="11" name="Shape 9"/>
          <p:cNvSpPr/>
          <p:nvPr/>
        </p:nvSpPr>
        <p:spPr>
          <a:xfrm>
            <a:off x="3630168" y="2011680"/>
            <a:ext cx="420624" cy="420624"/>
          </a:xfrm>
          <a:prstGeom prst="ellipse">
            <a:avLst/>
          </a:prstGeom>
          <a:solidFill>
            <a:srgbClr val="123F3A"/>
          </a:solidFill>
          <a:ln w="15875">
            <a:solidFill>
              <a:srgbClr val="3ED6C0"/>
            </a:solidFill>
            <a:prstDash val="solid"/>
          </a:ln>
        </p:spPr>
      </p:sp>
      <p:sp>
        <p:nvSpPr>
          <p:cNvPr id="12" name="Text 10"/>
          <p:cNvSpPr txBox="1"/>
          <p:nvPr/>
        </p:nvSpPr>
        <p:spPr>
          <a:xfrm>
            <a:off x="3630168" y="2011680"/>
            <a:ext cx="420624" cy="420624"/>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2</a:t>
            </a:r>
            <a:endParaRPr lang="en-US" sz="1400" dirty="0"/>
          </a:p>
        </p:txBody>
      </p:sp>
      <p:sp>
        <p:nvSpPr>
          <p:cNvPr id="13" name="Text 11"/>
          <p:cNvSpPr txBox="1"/>
          <p:nvPr/>
        </p:nvSpPr>
        <p:spPr>
          <a:xfrm>
            <a:off x="3630168" y="2560320"/>
            <a:ext cx="2103120" cy="502920"/>
          </a:xfrm>
          <a:prstGeom prst="rect">
            <a:avLst/>
          </a:prstGeom>
          <a:noFill/>
          <a:ln/>
        </p:spPr>
        <p:txBody>
          <a:bodyPr wrap="square" lIns="0" tIns="0" rIns="0" bIns="0" rtlCol="0" anchor="ctr"/>
          <a:lstStyle/>
          <a:p>
            <a:pPr indent="0" marL="0">
              <a:buNone/>
            </a:pPr>
            <a:r>
              <a:rPr lang="en-US" sz="2100" dirty="0">
                <a:solidFill>
                  <a:srgbClr val="F0A94A"/>
                </a:solidFill>
                <a:latin typeface="Georgia" pitchFamily="34" charset="0"/>
                <a:ea typeface="Georgia" pitchFamily="34" charset="-122"/>
                <a:cs typeface="Georgia" pitchFamily="34" charset="-120"/>
              </a:rPr>
              <a:t>@challenger</a:t>
            </a:r>
            <a:endParaRPr lang="en-US" sz="2100" dirty="0"/>
          </a:p>
        </p:txBody>
      </p:sp>
      <p:sp>
        <p:nvSpPr>
          <p:cNvPr id="14" name="Text 12"/>
          <p:cNvSpPr txBox="1"/>
          <p:nvPr/>
        </p:nvSpPr>
        <p:spPr>
          <a:xfrm>
            <a:off x="3630168" y="3063240"/>
            <a:ext cx="2103120" cy="731520"/>
          </a:xfrm>
          <a:prstGeom prst="rect">
            <a:avLst/>
          </a:prstGeom>
          <a:noFill/>
          <a:ln/>
        </p:spPr>
        <p:txBody>
          <a:bodyPr wrap="square" lIns="0" tIns="0" rIns="0" bIns="0" rtlCol="0" anchor="ctr"/>
          <a:lstStyle/>
          <a:p>
            <a:pPr indent="0" marL="0">
              <a:buNone/>
            </a:pPr>
            <a:r>
              <a:rPr lang="en-US" sz="1350" dirty="0">
                <a:solidFill>
                  <a:srgbClr val="A9B2BE"/>
                </a:solidFill>
                <a:latin typeface="Arial" pitchFamily="34" charset="0"/>
                <a:ea typeface="Arial" pitchFamily="34" charset="-122"/>
                <a:cs typeface="Arial" pitchFamily="34" charset="-120"/>
              </a:rPr>
              <a:t>registered as a candidate</a:t>
            </a:r>
            <a:endParaRPr lang="en-US" sz="1350" dirty="0"/>
          </a:p>
        </p:txBody>
      </p:sp>
      <p:sp>
        <p:nvSpPr>
          <p:cNvPr id="15" name="Text 13"/>
          <p:cNvSpPr txBox="1"/>
          <p:nvPr/>
        </p:nvSpPr>
        <p:spPr>
          <a:xfrm>
            <a:off x="5916168" y="2514600"/>
            <a:ext cx="338328" cy="548640"/>
          </a:xfrm>
          <a:prstGeom prst="rect">
            <a:avLst/>
          </a:prstGeom>
          <a:noFill/>
          <a:ln/>
        </p:spPr>
        <p:txBody>
          <a:bodyPr wrap="square" lIns="0" tIns="0" rIns="0" bIns="0" rtlCol="0" anchor="ctr"/>
          <a:lstStyle/>
          <a:p>
            <a:pPr algn="ctr" indent="0" marL="0">
              <a:buNone/>
            </a:pPr>
            <a:r>
              <a:rPr lang="en-US" sz="2400" dirty="0">
                <a:solidFill>
                  <a:srgbClr val="7A8396"/>
                </a:solidFill>
                <a:latin typeface="Arial" pitchFamily="34" charset="0"/>
                <a:ea typeface="Arial" pitchFamily="34" charset="-122"/>
                <a:cs typeface="Arial" pitchFamily="34" charset="-120"/>
              </a:rPr>
              <a:t>→</a:t>
            </a:r>
            <a:endParaRPr lang="en-US" sz="2400" dirty="0"/>
          </a:p>
        </p:txBody>
      </p:sp>
      <p:sp>
        <p:nvSpPr>
          <p:cNvPr id="16" name="Shape 14"/>
          <p:cNvSpPr/>
          <p:nvPr/>
        </p:nvSpPr>
        <p:spPr>
          <a:xfrm>
            <a:off x="6254496" y="1828800"/>
            <a:ext cx="2514600" cy="2011680"/>
          </a:xfrm>
          <a:prstGeom prst="roundRect">
            <a:avLst>
              <a:gd name="adj" fmla="val 5455"/>
            </a:avLst>
          </a:prstGeom>
          <a:solidFill>
            <a:srgbClr val="12151C"/>
          </a:solidFill>
          <a:ln w="9525">
            <a:solidFill>
              <a:srgbClr val="2A303A"/>
            </a:solidFill>
            <a:prstDash val="solid"/>
          </a:ln>
          <a:effectLst>
            <a:outerShdw sx="100000" sy="100000" kx="0" ky="0" algn="bl" rotWithShape="0" blurRad="101600" dist="38100" dir="5400000">
              <a:srgbClr val="000000">
                <a:alpha val="45000"/>
              </a:srgbClr>
            </a:outerShdw>
          </a:effectLst>
        </p:spPr>
      </p:sp>
      <p:sp>
        <p:nvSpPr>
          <p:cNvPr id="17" name="Shape 15"/>
          <p:cNvSpPr/>
          <p:nvPr/>
        </p:nvSpPr>
        <p:spPr>
          <a:xfrm>
            <a:off x="6483096" y="2011680"/>
            <a:ext cx="420624" cy="420624"/>
          </a:xfrm>
          <a:prstGeom prst="ellipse">
            <a:avLst/>
          </a:prstGeom>
          <a:solidFill>
            <a:srgbClr val="123F3A"/>
          </a:solidFill>
          <a:ln w="15875">
            <a:solidFill>
              <a:srgbClr val="3ED6C0"/>
            </a:solidFill>
            <a:prstDash val="solid"/>
          </a:ln>
        </p:spPr>
      </p:sp>
      <p:sp>
        <p:nvSpPr>
          <p:cNvPr id="18" name="Text 16"/>
          <p:cNvSpPr txBox="1"/>
          <p:nvPr/>
        </p:nvSpPr>
        <p:spPr>
          <a:xfrm>
            <a:off x="6483096" y="2011680"/>
            <a:ext cx="420624" cy="420624"/>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3</a:t>
            </a:r>
            <a:endParaRPr lang="en-US" sz="1400" dirty="0"/>
          </a:p>
        </p:txBody>
      </p:sp>
      <p:sp>
        <p:nvSpPr>
          <p:cNvPr id="19" name="Text 17"/>
          <p:cNvSpPr txBox="1"/>
          <p:nvPr/>
        </p:nvSpPr>
        <p:spPr>
          <a:xfrm>
            <a:off x="6483096" y="2560320"/>
            <a:ext cx="2103120" cy="502920"/>
          </a:xfrm>
          <a:prstGeom prst="rect">
            <a:avLst/>
          </a:prstGeom>
          <a:noFill/>
          <a:ln/>
        </p:spPr>
        <p:txBody>
          <a:bodyPr wrap="square" lIns="0" tIns="0" rIns="0" bIns="0" rtlCol="0" anchor="ctr"/>
          <a:lstStyle/>
          <a:p>
            <a:pPr indent="0" marL="0">
              <a:buNone/>
            </a:pPr>
            <a:r>
              <a:rPr lang="en-US" sz="2100" dirty="0">
                <a:solidFill>
                  <a:srgbClr val="E8DFCE"/>
                </a:solidFill>
                <a:latin typeface="Georgia" pitchFamily="34" charset="0"/>
                <a:ea typeface="Georgia" pitchFamily="34" charset="-122"/>
                <a:cs typeface="Georgia" pitchFamily="34" charset="-120"/>
              </a:rPr>
              <a:t>Gate</a:t>
            </a:r>
            <a:endParaRPr lang="en-US" sz="2100" dirty="0"/>
          </a:p>
        </p:txBody>
      </p:sp>
      <p:sp>
        <p:nvSpPr>
          <p:cNvPr id="20" name="Text 18"/>
          <p:cNvSpPr txBox="1"/>
          <p:nvPr/>
        </p:nvSpPr>
        <p:spPr>
          <a:xfrm>
            <a:off x="6483096" y="3063240"/>
            <a:ext cx="2103120" cy="731520"/>
          </a:xfrm>
          <a:prstGeom prst="rect">
            <a:avLst/>
          </a:prstGeom>
          <a:noFill/>
          <a:ln/>
        </p:spPr>
        <p:txBody>
          <a:bodyPr wrap="square" lIns="0" tIns="0" rIns="0" bIns="0" rtlCol="0" anchor="ctr"/>
          <a:lstStyle/>
          <a:p>
            <a:pPr indent="0" marL="0">
              <a:buNone/>
            </a:pPr>
            <a:r>
              <a:rPr lang="en-US" sz="1350" dirty="0">
                <a:solidFill>
                  <a:srgbClr val="A9B2BE"/>
                </a:solidFill>
                <a:latin typeface="Arial" pitchFamily="34" charset="0"/>
                <a:ea typeface="Arial" pitchFamily="34" charset="-122"/>
                <a:cs typeface="Arial" pitchFamily="34" charset="-120"/>
              </a:rPr>
              <a:t>beats @champion on PR-AUC by ≥ 0.005?</a:t>
            </a:r>
            <a:endParaRPr lang="en-US" sz="1350" dirty="0"/>
          </a:p>
        </p:txBody>
      </p:sp>
      <p:sp>
        <p:nvSpPr>
          <p:cNvPr id="21" name="Text 19"/>
          <p:cNvSpPr txBox="1"/>
          <p:nvPr/>
        </p:nvSpPr>
        <p:spPr>
          <a:xfrm>
            <a:off x="8769096" y="2514600"/>
            <a:ext cx="338328" cy="548640"/>
          </a:xfrm>
          <a:prstGeom prst="rect">
            <a:avLst/>
          </a:prstGeom>
          <a:noFill/>
          <a:ln/>
        </p:spPr>
        <p:txBody>
          <a:bodyPr wrap="square" lIns="0" tIns="0" rIns="0" bIns="0" rtlCol="0" anchor="ctr"/>
          <a:lstStyle/>
          <a:p>
            <a:pPr algn="ctr" indent="0" marL="0">
              <a:buNone/>
            </a:pPr>
            <a:r>
              <a:rPr lang="en-US" sz="2400" dirty="0">
                <a:solidFill>
                  <a:srgbClr val="7A8396"/>
                </a:solidFill>
                <a:latin typeface="Arial" pitchFamily="34" charset="0"/>
                <a:ea typeface="Arial" pitchFamily="34" charset="-122"/>
                <a:cs typeface="Arial" pitchFamily="34" charset="-120"/>
              </a:rPr>
              <a:t>→</a:t>
            </a:r>
            <a:endParaRPr lang="en-US" sz="2400" dirty="0"/>
          </a:p>
        </p:txBody>
      </p:sp>
      <p:sp>
        <p:nvSpPr>
          <p:cNvPr id="22" name="Shape 20"/>
          <p:cNvSpPr/>
          <p:nvPr/>
        </p:nvSpPr>
        <p:spPr>
          <a:xfrm>
            <a:off x="9107424" y="1828800"/>
            <a:ext cx="2514600" cy="2011680"/>
          </a:xfrm>
          <a:prstGeom prst="roundRect">
            <a:avLst>
              <a:gd name="adj" fmla="val 5455"/>
            </a:avLst>
          </a:prstGeom>
          <a:solidFill>
            <a:srgbClr val="12151C"/>
          </a:solidFill>
          <a:ln w="9525">
            <a:solidFill>
              <a:srgbClr val="2A303A"/>
            </a:solidFill>
            <a:prstDash val="solid"/>
          </a:ln>
          <a:effectLst>
            <a:outerShdw sx="100000" sy="100000" kx="0" ky="0" algn="bl" rotWithShape="0" blurRad="101600" dist="38100" dir="5400000">
              <a:srgbClr val="000000">
                <a:alpha val="45000"/>
              </a:srgbClr>
            </a:outerShdw>
          </a:effectLst>
        </p:spPr>
      </p:sp>
      <p:sp>
        <p:nvSpPr>
          <p:cNvPr id="23" name="Shape 21"/>
          <p:cNvSpPr/>
          <p:nvPr/>
        </p:nvSpPr>
        <p:spPr>
          <a:xfrm>
            <a:off x="9336024" y="2011680"/>
            <a:ext cx="420624" cy="420624"/>
          </a:xfrm>
          <a:prstGeom prst="ellipse">
            <a:avLst/>
          </a:prstGeom>
          <a:solidFill>
            <a:srgbClr val="123F3A"/>
          </a:solidFill>
          <a:ln w="15875">
            <a:solidFill>
              <a:srgbClr val="3ED6C0"/>
            </a:solidFill>
            <a:prstDash val="solid"/>
          </a:ln>
        </p:spPr>
      </p:sp>
      <p:sp>
        <p:nvSpPr>
          <p:cNvPr id="24" name="Text 22"/>
          <p:cNvSpPr txBox="1"/>
          <p:nvPr/>
        </p:nvSpPr>
        <p:spPr>
          <a:xfrm>
            <a:off x="9336024" y="2011680"/>
            <a:ext cx="420624" cy="420624"/>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4</a:t>
            </a:r>
            <a:endParaRPr lang="en-US" sz="1400" dirty="0"/>
          </a:p>
        </p:txBody>
      </p:sp>
      <p:sp>
        <p:nvSpPr>
          <p:cNvPr id="25" name="Text 23"/>
          <p:cNvSpPr txBox="1"/>
          <p:nvPr/>
        </p:nvSpPr>
        <p:spPr>
          <a:xfrm>
            <a:off x="9336024" y="2560320"/>
            <a:ext cx="2103120" cy="502920"/>
          </a:xfrm>
          <a:prstGeom prst="rect">
            <a:avLst/>
          </a:prstGeom>
          <a:noFill/>
          <a:ln/>
        </p:spPr>
        <p:txBody>
          <a:bodyPr wrap="square" lIns="0" tIns="0" rIns="0" bIns="0" rtlCol="0" anchor="ctr"/>
          <a:lstStyle/>
          <a:p>
            <a:pPr indent="0" marL="0">
              <a:buNone/>
            </a:pPr>
            <a:r>
              <a:rPr lang="en-US" sz="2100" dirty="0">
                <a:solidFill>
                  <a:srgbClr val="3ED6C0"/>
                </a:solidFill>
                <a:latin typeface="Georgia" pitchFamily="34" charset="0"/>
                <a:ea typeface="Georgia" pitchFamily="34" charset="-122"/>
                <a:cs typeface="Georgia" pitchFamily="34" charset="-120"/>
              </a:rPr>
              <a:t>@champion</a:t>
            </a:r>
            <a:endParaRPr lang="en-US" sz="2100" dirty="0"/>
          </a:p>
        </p:txBody>
      </p:sp>
      <p:sp>
        <p:nvSpPr>
          <p:cNvPr id="26" name="Text 24"/>
          <p:cNvSpPr txBox="1"/>
          <p:nvPr/>
        </p:nvSpPr>
        <p:spPr>
          <a:xfrm>
            <a:off x="9336024" y="3063240"/>
            <a:ext cx="2103120" cy="731520"/>
          </a:xfrm>
          <a:prstGeom prst="rect">
            <a:avLst/>
          </a:prstGeom>
          <a:noFill/>
          <a:ln/>
        </p:spPr>
        <p:txBody>
          <a:bodyPr wrap="square" lIns="0" tIns="0" rIns="0" bIns="0" rtlCol="0" anchor="ctr"/>
          <a:lstStyle/>
          <a:p>
            <a:pPr indent="0" marL="0">
              <a:buNone/>
            </a:pPr>
            <a:r>
              <a:rPr lang="en-US" sz="1350" dirty="0">
                <a:solidFill>
                  <a:srgbClr val="A9B2BE"/>
                </a:solidFill>
                <a:latin typeface="Arial" pitchFamily="34" charset="0"/>
                <a:ea typeface="Arial" pitchFamily="34" charset="-122"/>
                <a:cs typeface="Arial" pitchFamily="34" charset="-120"/>
              </a:rPr>
              <a:t>moves the alias; serving follows</a:t>
            </a:r>
            <a:endParaRPr lang="en-US" sz="1350" dirty="0"/>
          </a:p>
        </p:txBody>
      </p:sp>
      <p:sp>
        <p:nvSpPr>
          <p:cNvPr id="27" name="Shape 25"/>
          <p:cNvSpPr/>
          <p:nvPr/>
        </p:nvSpPr>
        <p:spPr>
          <a:xfrm>
            <a:off x="594360" y="4343400"/>
            <a:ext cx="164592" cy="164592"/>
          </a:xfrm>
          <a:prstGeom prst="ellipse">
            <a:avLst/>
          </a:prstGeom>
          <a:solidFill>
            <a:srgbClr val="3ED6C0"/>
          </a:solidFill>
          <a:ln w="12700">
            <a:solidFill>
              <a:srgbClr val="3ED6C0"/>
            </a:solidFill>
            <a:prstDash val="solid"/>
          </a:ln>
        </p:spPr>
      </p:sp>
      <p:sp>
        <p:nvSpPr>
          <p:cNvPr id="28" name="Text 26"/>
          <p:cNvSpPr txBox="1"/>
          <p:nvPr/>
        </p:nvSpPr>
        <p:spPr>
          <a:xfrm>
            <a:off x="960120" y="4251960"/>
            <a:ext cx="4206240" cy="365760"/>
          </a:xfrm>
          <a:prstGeom prst="rect">
            <a:avLst/>
          </a:prstGeom>
          <a:noFill/>
          <a:ln/>
        </p:spPr>
        <p:txBody>
          <a:bodyPr wrap="square" lIns="0" tIns="0" rIns="0" bIns="0" rtlCol="0" anchor="ctr"/>
          <a:lstStyle/>
          <a:p>
            <a:pPr indent="0" marL="0">
              <a:buNone/>
            </a:pPr>
            <a:r>
              <a:rPr lang="en-US" sz="1600" b="1" dirty="0">
                <a:solidFill>
                  <a:srgbClr val="F4F6F8"/>
                </a:solidFill>
                <a:latin typeface="Arial" pitchFamily="34" charset="0"/>
                <a:ea typeface="Arial" pitchFamily="34" charset="-122"/>
                <a:cs typeface="Arial" pitchFamily="34" charset="-120"/>
              </a:rPr>
              <a:t>Identical challenger → rejected</a:t>
            </a:r>
            <a:endParaRPr lang="en-US" sz="1600" dirty="0"/>
          </a:p>
        </p:txBody>
      </p:sp>
      <p:sp>
        <p:nvSpPr>
          <p:cNvPr id="29" name="Text 27"/>
          <p:cNvSpPr txBox="1"/>
          <p:nvPr/>
        </p:nvSpPr>
        <p:spPr>
          <a:xfrm>
            <a:off x="5212080" y="4251960"/>
            <a:ext cx="6492240" cy="365760"/>
          </a:xfrm>
          <a:prstGeom prst="rect">
            <a:avLst/>
          </a:prstGeom>
          <a:noFill/>
          <a:ln/>
        </p:spPr>
        <p:txBody>
          <a:bodyPr wrap="square" lIns="0" tIns="0" rIns="0" bIns="0" rtlCol="0" anchor="ctr"/>
          <a:lstStyle/>
          <a:p>
            <a:pPr indent="0" marL="0">
              <a:buNone/>
            </a:pPr>
            <a:r>
              <a:rPr lang="en-US" sz="1500" dirty="0">
                <a:solidFill>
                  <a:srgbClr val="A9B2BE"/>
                </a:solidFill>
                <a:latin typeface="Arial" pitchFamily="34" charset="0"/>
                <a:ea typeface="Arial" pitchFamily="34" charset="-122"/>
                <a:cs typeface="Arial" pitchFamily="34" charset="-120"/>
              </a:rPr>
              <a:t>CI trains the same model twice; the second must fail the gate</a:t>
            </a:r>
            <a:endParaRPr lang="en-US" sz="1500" dirty="0"/>
          </a:p>
        </p:txBody>
      </p:sp>
      <p:sp>
        <p:nvSpPr>
          <p:cNvPr id="30" name="Shape 28"/>
          <p:cNvSpPr/>
          <p:nvPr/>
        </p:nvSpPr>
        <p:spPr>
          <a:xfrm>
            <a:off x="594360" y="5001768"/>
            <a:ext cx="164592" cy="164592"/>
          </a:xfrm>
          <a:prstGeom prst="ellipse">
            <a:avLst/>
          </a:prstGeom>
          <a:solidFill>
            <a:srgbClr val="3ED6C0"/>
          </a:solidFill>
          <a:ln w="12700">
            <a:solidFill>
              <a:srgbClr val="3ED6C0"/>
            </a:solidFill>
            <a:prstDash val="solid"/>
          </a:ln>
        </p:spPr>
      </p:sp>
      <p:sp>
        <p:nvSpPr>
          <p:cNvPr id="31" name="Text 29"/>
          <p:cNvSpPr txBox="1"/>
          <p:nvPr/>
        </p:nvSpPr>
        <p:spPr>
          <a:xfrm>
            <a:off x="960120" y="4910328"/>
            <a:ext cx="4206240" cy="365760"/>
          </a:xfrm>
          <a:prstGeom prst="rect">
            <a:avLst/>
          </a:prstGeom>
          <a:noFill/>
          <a:ln/>
        </p:spPr>
        <p:txBody>
          <a:bodyPr wrap="square" lIns="0" tIns="0" rIns="0" bIns="0" rtlCol="0" anchor="ctr"/>
          <a:lstStyle/>
          <a:p>
            <a:pPr indent="0" marL="0">
              <a:buNone/>
            </a:pPr>
            <a:r>
              <a:rPr lang="en-US" sz="1600" b="1" dirty="0">
                <a:solidFill>
                  <a:srgbClr val="F4F6F8"/>
                </a:solidFill>
                <a:latin typeface="Arial" pitchFamily="34" charset="0"/>
                <a:ea typeface="Arial" pitchFamily="34" charset="-122"/>
                <a:cs typeface="Arial" pitchFamily="34" charset="-120"/>
              </a:rPr>
              <a:t>Shadow scoring</a:t>
            </a:r>
            <a:endParaRPr lang="en-US" sz="1600" dirty="0"/>
          </a:p>
        </p:txBody>
      </p:sp>
      <p:sp>
        <p:nvSpPr>
          <p:cNvPr id="32" name="Text 30"/>
          <p:cNvSpPr txBox="1"/>
          <p:nvPr/>
        </p:nvSpPr>
        <p:spPr>
          <a:xfrm>
            <a:off x="5212080" y="4910328"/>
            <a:ext cx="6492240" cy="365760"/>
          </a:xfrm>
          <a:prstGeom prst="rect">
            <a:avLst/>
          </a:prstGeom>
          <a:noFill/>
          <a:ln/>
        </p:spPr>
        <p:txBody>
          <a:bodyPr wrap="square" lIns="0" tIns="0" rIns="0" bIns="0" rtlCol="0" anchor="ctr"/>
          <a:lstStyle/>
          <a:p>
            <a:pPr indent="0" marL="0">
              <a:buNone/>
            </a:pPr>
            <a:r>
              <a:rPr lang="en-US" sz="1500" dirty="0">
                <a:solidFill>
                  <a:srgbClr val="A9B2BE"/>
                </a:solidFill>
                <a:latin typeface="Arial" pitchFamily="34" charset="0"/>
                <a:ea typeface="Arial" pitchFamily="34" charset="-122"/>
                <a:cs typeface="Arial" pitchFamily="34" charset="-120"/>
              </a:rPr>
              <a:t>a challenger scores live traffic silently before it can answer anyone</a:t>
            </a:r>
            <a:endParaRPr lang="en-US" sz="1500" dirty="0"/>
          </a:p>
        </p:txBody>
      </p:sp>
      <p:sp>
        <p:nvSpPr>
          <p:cNvPr id="33" name="Shape 31"/>
          <p:cNvSpPr/>
          <p:nvPr/>
        </p:nvSpPr>
        <p:spPr>
          <a:xfrm>
            <a:off x="594360" y="5660136"/>
            <a:ext cx="164592" cy="164592"/>
          </a:xfrm>
          <a:prstGeom prst="ellipse">
            <a:avLst/>
          </a:prstGeom>
          <a:solidFill>
            <a:srgbClr val="3ED6C0"/>
          </a:solidFill>
          <a:ln w="12700">
            <a:solidFill>
              <a:srgbClr val="3ED6C0"/>
            </a:solidFill>
            <a:prstDash val="solid"/>
          </a:ln>
        </p:spPr>
      </p:sp>
      <p:sp>
        <p:nvSpPr>
          <p:cNvPr id="34" name="Text 32"/>
          <p:cNvSpPr txBox="1"/>
          <p:nvPr/>
        </p:nvSpPr>
        <p:spPr>
          <a:xfrm>
            <a:off x="960120" y="5568696"/>
            <a:ext cx="4206240" cy="365760"/>
          </a:xfrm>
          <a:prstGeom prst="rect">
            <a:avLst/>
          </a:prstGeom>
          <a:noFill/>
          <a:ln/>
        </p:spPr>
        <p:txBody>
          <a:bodyPr wrap="square" lIns="0" tIns="0" rIns="0" bIns="0" rtlCol="0" anchor="ctr"/>
          <a:lstStyle/>
          <a:p>
            <a:pPr indent="0" marL="0">
              <a:buNone/>
            </a:pPr>
            <a:r>
              <a:rPr lang="en-US" sz="1600" b="1" dirty="0">
                <a:solidFill>
                  <a:srgbClr val="F4F6F8"/>
                </a:solidFill>
                <a:latin typeface="Arial" pitchFamily="34" charset="0"/>
                <a:ea typeface="Arial" pitchFamily="34" charset="-122"/>
                <a:cs typeface="Arial" pitchFamily="34" charset="-120"/>
              </a:rPr>
              <a:t>Idempotent pipeline</a:t>
            </a:r>
            <a:endParaRPr lang="en-US" sz="1600" dirty="0"/>
          </a:p>
        </p:txBody>
      </p:sp>
      <p:sp>
        <p:nvSpPr>
          <p:cNvPr id="35" name="Text 33"/>
          <p:cNvSpPr txBox="1"/>
          <p:nvPr/>
        </p:nvSpPr>
        <p:spPr>
          <a:xfrm>
            <a:off x="5212080" y="5568696"/>
            <a:ext cx="6492240" cy="365760"/>
          </a:xfrm>
          <a:prstGeom prst="rect">
            <a:avLst/>
          </a:prstGeom>
          <a:noFill/>
          <a:ln/>
        </p:spPr>
        <p:txBody>
          <a:bodyPr wrap="square" lIns="0" tIns="0" rIns="0" bIns="0" rtlCol="0" anchor="ctr"/>
          <a:lstStyle/>
          <a:p>
            <a:pPr indent="0" marL="0">
              <a:buNone/>
            </a:pPr>
            <a:r>
              <a:rPr lang="en-US" sz="1500" dirty="0">
                <a:solidFill>
                  <a:srgbClr val="A9B2BE"/>
                </a:solidFill>
                <a:latin typeface="Arial" pitchFamily="34" charset="0"/>
                <a:ea typeface="Arial" pitchFamily="34" charset="-122"/>
                <a:cs typeface="Arial" pitchFamily="34" charset="-120"/>
              </a:rPr>
              <a:t>running it twice changes nothing; a failed night can be re-run safely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90B"/>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100" b="1" spc="300" kern="0" dirty="0">
                <a:solidFill>
                  <a:srgbClr val="3ED6C0"/>
                </a:solidFill>
                <a:latin typeface="Arial" pitchFamily="34" charset="0"/>
                <a:ea typeface="Arial" pitchFamily="34" charset="-122"/>
                <a:cs typeface="Arial" pitchFamily="34" charset="-120"/>
              </a:rPr>
              <a:t>SERVING · FASTAPI + SHAP</a:t>
            </a:r>
            <a:endParaRPr lang="en-US" sz="1100" dirty="0"/>
          </a:p>
        </p:txBody>
      </p:sp>
      <p:sp>
        <p:nvSpPr>
          <p:cNvPr id="3" name="Text 1"/>
          <p:cNvSpPr txBox="1"/>
          <p:nvPr/>
        </p:nvSpPr>
        <p:spPr>
          <a:xfrm>
            <a:off x="548640" y="685800"/>
            <a:ext cx="11094415" cy="731520"/>
          </a:xfrm>
          <a:prstGeom prst="rect">
            <a:avLst/>
          </a:prstGeom>
          <a:noFill/>
          <a:ln/>
        </p:spPr>
        <p:txBody>
          <a:bodyPr wrap="square" lIns="0" tIns="0" rIns="0" bIns="0" rtlCol="0" anchor="ctr"/>
          <a:lstStyle/>
          <a:p>
            <a:pPr indent="0" marL="0">
              <a:buNone/>
            </a:pPr>
            <a:r>
              <a:rPr lang="en-US" sz="3200" dirty="0">
                <a:solidFill>
                  <a:srgbClr val="F4F6F8"/>
                </a:solidFill>
                <a:latin typeface="Georgia" pitchFamily="34" charset="0"/>
                <a:ea typeface="Georgia" pitchFamily="34" charset="-122"/>
                <a:cs typeface="Georgia" pitchFamily="34" charset="-120"/>
              </a:rPr>
              <a:t>Every prediction explains itself</a:t>
            </a:r>
            <a:endParaRPr lang="en-US" sz="3200" dirty="0"/>
          </a:p>
        </p:txBody>
      </p:sp>
      <p:pic>
        <p:nvPicPr>
          <p:cNvPr id="4" name="Image 0" descr="/private/tmp/claude-501/-Users-satya-03-subscriber-dropout-detection/e6feba3e-4854-4bf1-8325-ba9c654b27ec/scratchpad/deck/img/score.png">    </p:cNvPr>
          <p:cNvPicPr>
            <a:picLocks noChangeAspect="1"/>
          </p:cNvPicPr>
          <p:nvPr/>
        </p:nvPicPr>
        <p:blipFill>
          <a:blip r:embed="rId1"/>
          <a:stretch>
            <a:fillRect/>
          </a:stretch>
        </p:blipFill>
        <p:spPr>
          <a:xfrm>
            <a:off x="548640" y="1691640"/>
            <a:ext cx="6309360" cy="4732020"/>
          </a:xfrm>
          <a:prstGeom prst="rect">
            <a:avLst/>
          </a:prstGeom>
        </p:spPr>
      </p:pic>
      <p:sp>
        <p:nvSpPr>
          <p:cNvPr id="5" name="Shape 2"/>
          <p:cNvSpPr/>
          <p:nvPr/>
        </p:nvSpPr>
        <p:spPr>
          <a:xfrm>
            <a:off x="7635240" y="1783080"/>
            <a:ext cx="420624" cy="420624"/>
          </a:xfrm>
          <a:prstGeom prst="ellipse">
            <a:avLst/>
          </a:prstGeom>
          <a:solidFill>
            <a:srgbClr val="123F3A"/>
          </a:solidFill>
          <a:ln w="15875">
            <a:solidFill>
              <a:srgbClr val="3ED6C0"/>
            </a:solidFill>
            <a:prstDash val="solid"/>
          </a:ln>
        </p:spPr>
      </p:sp>
      <p:sp>
        <p:nvSpPr>
          <p:cNvPr id="6" name="Text 3"/>
          <p:cNvSpPr txBox="1"/>
          <p:nvPr/>
        </p:nvSpPr>
        <p:spPr>
          <a:xfrm>
            <a:off x="7635240" y="1783080"/>
            <a:ext cx="420624" cy="420624"/>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1</a:t>
            </a:r>
            <a:endParaRPr lang="en-US" sz="1400" dirty="0"/>
          </a:p>
        </p:txBody>
      </p:sp>
      <p:sp>
        <p:nvSpPr>
          <p:cNvPr id="7" name="Text 4"/>
          <p:cNvSpPr txBox="1"/>
          <p:nvPr/>
        </p:nvSpPr>
        <p:spPr>
          <a:xfrm>
            <a:off x="8229600" y="1737360"/>
            <a:ext cx="3474720" cy="411480"/>
          </a:xfrm>
          <a:prstGeom prst="rect">
            <a:avLst/>
          </a:prstGeom>
          <a:noFill/>
          <a:ln/>
        </p:spPr>
        <p:txBody>
          <a:bodyPr wrap="square" lIns="0" tIns="0" rIns="0" bIns="0" rtlCol="0" anchor="ctr"/>
          <a:lstStyle/>
          <a:p>
            <a:pPr indent="0" marL="0">
              <a:buNone/>
            </a:pPr>
            <a:r>
              <a:rPr lang="en-US" sz="1600" b="1" dirty="0">
                <a:solidFill>
                  <a:srgbClr val="F4F6F8"/>
                </a:solidFill>
                <a:latin typeface="Arial" pitchFamily="34" charset="0"/>
                <a:ea typeface="Arial" pitchFamily="34" charset="-122"/>
                <a:cs typeface="Arial" pitchFamily="34" charset="-120"/>
              </a:rPr>
              <a:t>SHAP drivers add up exactly</a:t>
            </a:r>
            <a:endParaRPr lang="en-US" sz="1600" dirty="0"/>
          </a:p>
        </p:txBody>
      </p:sp>
      <p:sp>
        <p:nvSpPr>
          <p:cNvPr id="8" name="Text 5"/>
          <p:cNvSpPr txBox="1"/>
          <p:nvPr/>
        </p:nvSpPr>
        <p:spPr>
          <a:xfrm>
            <a:off x="8229600" y="2167128"/>
            <a:ext cx="3474720" cy="1005840"/>
          </a:xfrm>
          <a:prstGeom prst="rect">
            <a:avLst/>
          </a:prstGeom>
          <a:noFill/>
          <a:ln/>
        </p:spPr>
        <p:txBody>
          <a:bodyPr wrap="square" lIns="0" tIns="0" rIns="0" bIns="0" rtlCol="0" anchor="ctr"/>
          <a:lstStyle/>
          <a:p>
            <a:pPr indent="0" marL="0">
              <a:buNone/>
            </a:pPr>
            <a:r>
              <a:rPr lang="en-US" sz="1350" dirty="0">
                <a:solidFill>
                  <a:srgbClr val="A9B2BE"/>
                </a:solidFill>
                <a:latin typeface="Arial" pitchFamily="34" charset="0"/>
                <a:ea typeface="Arial" pitchFamily="34" charset="-122"/>
                <a:cs typeface="Arial" pitchFamily="34" charset="-120"/>
              </a:rPr>
              <a:t>to the prediction, so the reasons cannot disagree with the score</a:t>
            </a:r>
            <a:endParaRPr lang="en-US" sz="1350" dirty="0"/>
          </a:p>
        </p:txBody>
      </p:sp>
      <p:sp>
        <p:nvSpPr>
          <p:cNvPr id="9" name="Shape 6"/>
          <p:cNvSpPr/>
          <p:nvPr/>
        </p:nvSpPr>
        <p:spPr>
          <a:xfrm>
            <a:off x="7635240" y="3264408"/>
            <a:ext cx="420624" cy="420624"/>
          </a:xfrm>
          <a:prstGeom prst="ellipse">
            <a:avLst/>
          </a:prstGeom>
          <a:solidFill>
            <a:srgbClr val="123F3A"/>
          </a:solidFill>
          <a:ln w="15875">
            <a:solidFill>
              <a:srgbClr val="3ED6C0"/>
            </a:solidFill>
            <a:prstDash val="solid"/>
          </a:ln>
        </p:spPr>
      </p:sp>
      <p:sp>
        <p:nvSpPr>
          <p:cNvPr id="10" name="Text 7"/>
          <p:cNvSpPr txBox="1"/>
          <p:nvPr/>
        </p:nvSpPr>
        <p:spPr>
          <a:xfrm>
            <a:off x="7635240" y="3264408"/>
            <a:ext cx="420624" cy="420624"/>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2</a:t>
            </a:r>
            <a:endParaRPr lang="en-US" sz="1400" dirty="0"/>
          </a:p>
        </p:txBody>
      </p:sp>
      <p:sp>
        <p:nvSpPr>
          <p:cNvPr id="11" name="Text 8"/>
          <p:cNvSpPr txBox="1"/>
          <p:nvPr/>
        </p:nvSpPr>
        <p:spPr>
          <a:xfrm>
            <a:off x="8229600" y="3218688"/>
            <a:ext cx="3474720" cy="411480"/>
          </a:xfrm>
          <a:prstGeom prst="rect">
            <a:avLst/>
          </a:prstGeom>
          <a:noFill/>
          <a:ln/>
        </p:spPr>
        <p:txBody>
          <a:bodyPr wrap="square" lIns="0" tIns="0" rIns="0" bIns="0" rtlCol="0" anchor="ctr"/>
          <a:lstStyle/>
          <a:p>
            <a:pPr indent="0" marL="0">
              <a:buNone/>
            </a:pPr>
            <a:r>
              <a:rPr lang="en-US" sz="1600" b="1" dirty="0">
                <a:solidFill>
                  <a:srgbClr val="F4F6F8"/>
                </a:solidFill>
                <a:latin typeface="Arial" pitchFamily="34" charset="0"/>
                <a:ea typeface="Arial" pitchFamily="34" charset="-122"/>
                <a:cs typeface="Arial" pitchFamily="34" charset="-120"/>
              </a:rPr>
              <a:t>"What would change it"</a:t>
            </a:r>
            <a:endParaRPr lang="en-US" sz="1600" dirty="0"/>
          </a:p>
        </p:txBody>
      </p:sp>
      <p:sp>
        <p:nvSpPr>
          <p:cNvPr id="12" name="Text 9"/>
          <p:cNvSpPr txBox="1"/>
          <p:nvPr/>
        </p:nvSpPr>
        <p:spPr>
          <a:xfrm>
            <a:off x="8229600" y="3648456"/>
            <a:ext cx="3474720" cy="1005840"/>
          </a:xfrm>
          <a:prstGeom prst="rect">
            <a:avLst/>
          </a:prstGeom>
          <a:noFill/>
          <a:ln/>
        </p:spPr>
        <p:txBody>
          <a:bodyPr wrap="square" lIns="0" tIns="0" rIns="0" bIns="0" rtlCol="0" anchor="ctr"/>
          <a:lstStyle/>
          <a:p>
            <a:pPr indent="0" marL="0">
              <a:buNone/>
            </a:pPr>
            <a:r>
              <a:rPr lang="en-US" sz="1350" dirty="0">
                <a:solidFill>
                  <a:srgbClr val="A9B2BE"/>
                </a:solidFill>
                <a:latin typeface="Arial" pitchFamily="34" charset="0"/>
                <a:ea typeface="Arial" pitchFamily="34" charset="-122"/>
                <a:cs typeface="Arial" pitchFamily="34" charset="-120"/>
              </a:rPr>
              <a:t>each lever is a real second request with one field changed: auto-renew off takes 60% to under 1%</a:t>
            </a:r>
            <a:endParaRPr lang="en-US" sz="1350" dirty="0"/>
          </a:p>
        </p:txBody>
      </p:sp>
      <p:sp>
        <p:nvSpPr>
          <p:cNvPr id="13" name="Shape 10"/>
          <p:cNvSpPr/>
          <p:nvPr/>
        </p:nvSpPr>
        <p:spPr>
          <a:xfrm>
            <a:off x="7635240" y="4745736"/>
            <a:ext cx="420624" cy="420624"/>
          </a:xfrm>
          <a:prstGeom prst="ellipse">
            <a:avLst/>
          </a:prstGeom>
          <a:solidFill>
            <a:srgbClr val="123F3A"/>
          </a:solidFill>
          <a:ln w="15875">
            <a:solidFill>
              <a:srgbClr val="3ED6C0"/>
            </a:solidFill>
            <a:prstDash val="solid"/>
          </a:ln>
        </p:spPr>
      </p:sp>
      <p:sp>
        <p:nvSpPr>
          <p:cNvPr id="14" name="Text 11"/>
          <p:cNvSpPr txBox="1"/>
          <p:nvPr/>
        </p:nvSpPr>
        <p:spPr>
          <a:xfrm>
            <a:off x="7635240" y="4745736"/>
            <a:ext cx="420624" cy="420624"/>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3</a:t>
            </a:r>
            <a:endParaRPr lang="en-US" sz="1400" dirty="0"/>
          </a:p>
        </p:txBody>
      </p:sp>
      <p:sp>
        <p:nvSpPr>
          <p:cNvPr id="15" name="Text 12"/>
          <p:cNvSpPr txBox="1"/>
          <p:nvPr/>
        </p:nvSpPr>
        <p:spPr>
          <a:xfrm>
            <a:off x="8229600" y="4700016"/>
            <a:ext cx="3474720" cy="411480"/>
          </a:xfrm>
          <a:prstGeom prst="rect">
            <a:avLst/>
          </a:prstGeom>
          <a:noFill/>
          <a:ln/>
        </p:spPr>
        <p:txBody>
          <a:bodyPr wrap="square" lIns="0" tIns="0" rIns="0" bIns="0" rtlCol="0" anchor="ctr"/>
          <a:lstStyle/>
          <a:p>
            <a:pPr indent="0" marL="0">
              <a:buNone/>
            </a:pPr>
            <a:r>
              <a:rPr lang="en-US" sz="1600" b="1" dirty="0">
                <a:solidFill>
                  <a:srgbClr val="F4F6F8"/>
                </a:solidFill>
                <a:latin typeface="Arial" pitchFamily="34" charset="0"/>
                <a:ea typeface="Arial" pitchFamily="34" charset="-122"/>
                <a:cs typeface="Arial" pitchFamily="34" charset="-120"/>
              </a:rPr>
              <a:t>Honest about surprises</a:t>
            </a:r>
            <a:endParaRPr lang="en-US" sz="1600" dirty="0"/>
          </a:p>
        </p:txBody>
      </p:sp>
      <p:sp>
        <p:nvSpPr>
          <p:cNvPr id="16" name="Text 13"/>
          <p:cNvSpPr txBox="1"/>
          <p:nvPr/>
        </p:nvSpPr>
        <p:spPr>
          <a:xfrm>
            <a:off x="8229600" y="5129784"/>
            <a:ext cx="3474720" cy="1005840"/>
          </a:xfrm>
          <a:prstGeom prst="rect">
            <a:avLst/>
          </a:prstGeom>
          <a:noFill/>
          <a:ln/>
        </p:spPr>
        <p:txBody>
          <a:bodyPr wrap="square" lIns="0" tIns="0" rIns="0" bIns="0" rtlCol="0" anchor="ctr"/>
          <a:lstStyle/>
          <a:p>
            <a:pPr indent="0" marL="0">
              <a:buNone/>
            </a:pPr>
            <a:r>
              <a:rPr lang="en-US" sz="1350" dirty="0">
                <a:solidFill>
                  <a:srgbClr val="A9B2BE"/>
                </a:solidFill>
                <a:latin typeface="Arial" pitchFamily="34" charset="0"/>
                <a:ea typeface="Arial" pitchFamily="34" charset="-122"/>
                <a:cs typeface="Arial" pitchFamily="34" charset="-120"/>
              </a:rPr>
              <a:t>auto-renew raises risk on KKBox: it goes with the cheap short plans that churn most. An association, not a cause</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90B"/>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100" b="1" spc="300" kern="0" dirty="0">
                <a:solidFill>
                  <a:srgbClr val="3ED6C0"/>
                </a:solidFill>
                <a:latin typeface="Arial" pitchFamily="34" charset="0"/>
                <a:ea typeface="Arial" pitchFamily="34" charset="-122"/>
                <a:cs typeface="Arial" pitchFamily="34" charset="-120"/>
              </a:rPr>
              <a:t>MONITORING · PROMETHEUS, ALERTMANAGER, GRAFANA</a:t>
            </a:r>
            <a:endParaRPr lang="en-US" sz="1100" dirty="0"/>
          </a:p>
        </p:txBody>
      </p:sp>
      <p:sp>
        <p:nvSpPr>
          <p:cNvPr id="3" name="Text 1"/>
          <p:cNvSpPr txBox="1"/>
          <p:nvPr/>
        </p:nvSpPr>
        <p:spPr>
          <a:xfrm>
            <a:off x="548640" y="685800"/>
            <a:ext cx="11094415" cy="731520"/>
          </a:xfrm>
          <a:prstGeom prst="rect">
            <a:avLst/>
          </a:prstGeom>
          <a:noFill/>
          <a:ln/>
        </p:spPr>
        <p:txBody>
          <a:bodyPr wrap="square" lIns="0" tIns="0" rIns="0" bIns="0" rtlCol="0" anchor="ctr"/>
          <a:lstStyle/>
          <a:p>
            <a:pPr indent="0" marL="0">
              <a:buNone/>
            </a:pPr>
            <a:r>
              <a:rPr lang="en-US" sz="3200" dirty="0">
                <a:solidFill>
                  <a:srgbClr val="F4F6F8"/>
                </a:solidFill>
                <a:latin typeface="Georgia" pitchFamily="34" charset="0"/>
                <a:ea typeface="Georgia" pitchFamily="34" charset="-122"/>
                <a:cs typeface="Georgia" pitchFamily="34" charset="-120"/>
              </a:rPr>
              <a:t>Watching the model after it ships</a:t>
            </a:r>
            <a:endParaRPr lang="en-US" sz="3200" dirty="0"/>
          </a:p>
        </p:txBody>
      </p:sp>
      <p:pic>
        <p:nvPicPr>
          <p:cNvPr id="4" name="Image 0" descr="/private/tmp/claude-501/-Users-satya-03-subscriber-dropout-detection/e6feba3e-4854-4bf1-8325-ba9c654b27ec/scratchpad/deck/img/grafana-drift.png">    </p:cNvPr>
          <p:cNvPicPr>
            <a:picLocks noChangeAspect="1"/>
          </p:cNvPicPr>
          <p:nvPr/>
        </p:nvPicPr>
        <p:blipFill>
          <a:blip r:embed="rId1"/>
          <a:stretch>
            <a:fillRect/>
          </a:stretch>
        </p:blipFill>
        <p:spPr>
          <a:xfrm>
            <a:off x="548640" y="1691640"/>
            <a:ext cx="6949440" cy="3648456"/>
          </a:xfrm>
          <a:prstGeom prst="rect">
            <a:avLst/>
          </a:prstGeom>
        </p:spPr>
      </p:pic>
      <p:sp>
        <p:nvSpPr>
          <p:cNvPr id="5" name="Text 2"/>
          <p:cNvSpPr txBox="1"/>
          <p:nvPr/>
        </p:nvSpPr>
        <p:spPr>
          <a:xfrm>
            <a:off x="7863840" y="1783080"/>
            <a:ext cx="3840480" cy="411480"/>
          </a:xfrm>
          <a:prstGeom prst="rect">
            <a:avLst/>
          </a:prstGeom>
          <a:noFill/>
          <a:ln/>
        </p:spPr>
        <p:txBody>
          <a:bodyPr wrap="square" lIns="0" tIns="0" rIns="0" bIns="0" rtlCol="0" anchor="ctr"/>
          <a:lstStyle/>
          <a:p>
            <a:pPr indent="0" marL="0">
              <a:buNone/>
            </a:pPr>
            <a:r>
              <a:rPr lang="en-US" sz="1900" dirty="0">
                <a:solidFill>
                  <a:srgbClr val="46C88A"/>
                </a:solidFill>
                <a:latin typeface="Georgia" pitchFamily="34" charset="0"/>
                <a:ea typeface="Georgia" pitchFamily="34" charset="-122"/>
                <a:cs typeface="Georgia" pitchFamily="34" charset="-120"/>
              </a:rPr>
              <a:t>Drift: STABLE</a:t>
            </a:r>
            <a:endParaRPr lang="en-US" sz="1900" dirty="0"/>
          </a:p>
        </p:txBody>
      </p:sp>
      <p:sp>
        <p:nvSpPr>
          <p:cNvPr id="6" name="Text 3"/>
          <p:cNvSpPr txBox="1"/>
          <p:nvPr/>
        </p:nvSpPr>
        <p:spPr>
          <a:xfrm>
            <a:off x="7863840" y="2221992"/>
            <a:ext cx="3840480" cy="914400"/>
          </a:xfrm>
          <a:prstGeom prst="rect">
            <a:avLst/>
          </a:prstGeom>
          <a:noFill/>
          <a:ln/>
        </p:spPr>
        <p:txBody>
          <a:bodyPr wrap="square" lIns="0" tIns="0" rIns="0" bIns="0" rtlCol="0" anchor="ctr"/>
          <a:lstStyle/>
          <a:p>
            <a:pPr indent="0" marL="0">
              <a:buNone/>
            </a:pPr>
            <a:r>
              <a:rPr lang="en-US" sz="1350" dirty="0">
                <a:solidFill>
                  <a:srgbClr val="A9B2BE"/>
                </a:solidFill>
                <a:latin typeface="Arial" pitchFamily="34" charset="0"/>
                <a:ea typeface="Arial" pitchFamily="34" charset="-122"/>
                <a:cs typeface="Arial" pitchFamily="34" charset="-120"/>
              </a:rPr>
              <a:t>real February 2017 data through Postgres. Every feature's PSI is under 0.06 (significant is 0.25)</a:t>
            </a:r>
            <a:endParaRPr lang="en-US" sz="1350" dirty="0"/>
          </a:p>
        </p:txBody>
      </p:sp>
      <p:sp>
        <p:nvSpPr>
          <p:cNvPr id="7" name="Text 4"/>
          <p:cNvSpPr txBox="1"/>
          <p:nvPr/>
        </p:nvSpPr>
        <p:spPr>
          <a:xfrm>
            <a:off x="7863840" y="3264408"/>
            <a:ext cx="3840480" cy="411480"/>
          </a:xfrm>
          <a:prstGeom prst="rect">
            <a:avLst/>
          </a:prstGeom>
          <a:noFill/>
          <a:ln/>
        </p:spPr>
        <p:txBody>
          <a:bodyPr wrap="square" lIns="0" tIns="0" rIns="0" bIns="0" rtlCol="0" anchor="ctr"/>
          <a:lstStyle/>
          <a:p>
            <a:pPr indent="0" marL="0">
              <a:buNone/>
            </a:pPr>
            <a:r>
              <a:rPr lang="en-US" sz="1900" dirty="0">
                <a:solidFill>
                  <a:srgbClr val="3ED6C0"/>
                </a:solidFill>
                <a:latin typeface="Georgia" pitchFamily="34" charset="0"/>
                <a:ea typeface="Georgia" pitchFamily="34" charset="-122"/>
                <a:cs typeface="Georgia" pitchFamily="34" charset="-120"/>
              </a:rPr>
              <a:t>The detector works</a:t>
            </a:r>
            <a:endParaRPr lang="en-US" sz="1900" dirty="0"/>
          </a:p>
        </p:txBody>
      </p:sp>
      <p:sp>
        <p:nvSpPr>
          <p:cNvPr id="8" name="Text 5"/>
          <p:cNvSpPr txBox="1"/>
          <p:nvPr/>
        </p:nvSpPr>
        <p:spPr>
          <a:xfrm>
            <a:off x="7863840" y="3703320"/>
            <a:ext cx="3840480" cy="914400"/>
          </a:xfrm>
          <a:prstGeom prst="rect">
            <a:avLst/>
          </a:prstGeom>
          <a:noFill/>
          <a:ln/>
        </p:spPr>
        <p:txBody>
          <a:bodyPr wrap="square" lIns="0" tIns="0" rIns="0" bIns="0" rtlCol="0" anchor="ctr"/>
          <a:lstStyle/>
          <a:p>
            <a:pPr indent="0" marL="0">
              <a:buNone/>
            </a:pPr>
            <a:r>
              <a:rPr lang="en-US" sz="1350" dirty="0">
                <a:solidFill>
                  <a:srgbClr val="A9B2BE"/>
                </a:solidFill>
                <a:latin typeface="Arial" pitchFamily="34" charset="0"/>
                <a:ea typeface="Arial" pitchFamily="34" charset="-122"/>
                <a:cs typeface="Arial" pitchFamily="34" charset="-120"/>
              </a:rPr>
              <a:t>shift two features on purpose and it ranks exactly those two first</a:t>
            </a:r>
            <a:endParaRPr lang="en-US" sz="1350" dirty="0"/>
          </a:p>
        </p:txBody>
      </p:sp>
      <p:sp>
        <p:nvSpPr>
          <p:cNvPr id="9" name="Text 6"/>
          <p:cNvSpPr txBox="1"/>
          <p:nvPr/>
        </p:nvSpPr>
        <p:spPr>
          <a:xfrm>
            <a:off x="7863840" y="4745736"/>
            <a:ext cx="3840480" cy="411480"/>
          </a:xfrm>
          <a:prstGeom prst="rect">
            <a:avLst/>
          </a:prstGeom>
          <a:noFill/>
          <a:ln/>
        </p:spPr>
        <p:txBody>
          <a:bodyPr wrap="square" lIns="0" tIns="0" rIns="0" bIns="0" rtlCol="0" anchor="ctr"/>
          <a:lstStyle/>
          <a:p>
            <a:pPr indent="0" marL="0">
              <a:buNone/>
            </a:pPr>
            <a:r>
              <a:rPr lang="en-US" sz="1900" dirty="0">
                <a:solidFill>
                  <a:srgbClr val="F0A94A"/>
                </a:solidFill>
                <a:latin typeface="Georgia" pitchFamily="34" charset="0"/>
                <a:ea typeface="Georgia" pitchFamily="34" charset="-122"/>
                <a:cs typeface="Georgia" pitchFamily="34" charset="-120"/>
              </a:rPr>
              <a:t>Fairness: DISPARITY</a:t>
            </a:r>
            <a:endParaRPr lang="en-US" sz="1900" dirty="0"/>
          </a:p>
        </p:txBody>
      </p:sp>
      <p:sp>
        <p:nvSpPr>
          <p:cNvPr id="10" name="Text 7"/>
          <p:cNvSpPr txBox="1"/>
          <p:nvPr/>
        </p:nvSpPr>
        <p:spPr>
          <a:xfrm>
            <a:off x="7863840" y="5184648"/>
            <a:ext cx="3840480" cy="914400"/>
          </a:xfrm>
          <a:prstGeom prst="rect">
            <a:avLst/>
          </a:prstGeom>
          <a:noFill/>
          <a:ln/>
        </p:spPr>
        <p:txBody>
          <a:bodyPr wrap="square" lIns="0" tIns="0" rIns="0" bIns="0" rtlCol="0" anchor="ctr"/>
          <a:lstStyle/>
          <a:p>
            <a:pPr indent="0" marL="0">
              <a:buNone/>
            </a:pPr>
            <a:r>
              <a:rPr lang="en-US" sz="1350" dirty="0">
                <a:solidFill>
                  <a:srgbClr val="A9B2BE"/>
                </a:solidFill>
                <a:latin typeface="Arial" pitchFamily="34" charset="0"/>
                <a:ea typeface="Arial" pitchFamily="34" charset="-122"/>
                <a:cs typeface="Arial" pitchFamily="34" charset="-120"/>
              </a:rPr>
              <a:t>near-random on the standard plan (949 people). Reported and alerted, not hidden</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90B"/>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100" b="1" spc="300" kern="0" dirty="0">
                <a:solidFill>
                  <a:srgbClr val="3ED6C0"/>
                </a:solidFill>
                <a:latin typeface="Arial" pitchFamily="34" charset="0"/>
                <a:ea typeface="Arial" pitchFamily="34" charset="-122"/>
                <a:cs typeface="Arial" pitchFamily="34" charset="-120"/>
              </a:rPr>
              <a:t>AUTOMATION · 8 GITHUB ACTIONS JOBS ON EVERY PUSH</a:t>
            </a:r>
            <a:endParaRPr lang="en-US" sz="1100" dirty="0"/>
          </a:p>
        </p:txBody>
      </p:sp>
      <p:sp>
        <p:nvSpPr>
          <p:cNvPr id="3" name="Text 1"/>
          <p:cNvSpPr txBox="1"/>
          <p:nvPr/>
        </p:nvSpPr>
        <p:spPr>
          <a:xfrm>
            <a:off x="548640" y="685800"/>
            <a:ext cx="11094415" cy="731520"/>
          </a:xfrm>
          <a:prstGeom prst="rect">
            <a:avLst/>
          </a:prstGeom>
          <a:noFill/>
          <a:ln/>
        </p:spPr>
        <p:txBody>
          <a:bodyPr wrap="square" lIns="0" tIns="0" rIns="0" bIns="0" rtlCol="0" anchor="ctr"/>
          <a:lstStyle/>
          <a:p>
            <a:pPr indent="0" marL="0">
              <a:buNone/>
            </a:pPr>
            <a:r>
              <a:rPr lang="en-US" sz="3200" dirty="0">
                <a:solidFill>
                  <a:srgbClr val="F4F6F8"/>
                </a:solidFill>
                <a:latin typeface="Georgia" pitchFamily="34" charset="0"/>
                <a:ea typeface="Georgia" pitchFamily="34" charset="-122"/>
                <a:cs typeface="Georgia" pitchFamily="34" charset="-120"/>
              </a:rPr>
              <a:t>CI tests the system, not just the code</a:t>
            </a:r>
            <a:endParaRPr lang="en-US" sz="3200" dirty="0"/>
          </a:p>
        </p:txBody>
      </p:sp>
      <p:sp>
        <p:nvSpPr>
          <p:cNvPr id="4" name="Shape 2"/>
          <p:cNvSpPr/>
          <p:nvPr/>
        </p:nvSpPr>
        <p:spPr>
          <a:xfrm>
            <a:off x="548640" y="1783080"/>
            <a:ext cx="2606040" cy="1828800"/>
          </a:xfrm>
          <a:prstGeom prst="roundRect">
            <a:avLst>
              <a:gd name="adj" fmla="val 6000"/>
            </a:avLst>
          </a:prstGeom>
          <a:solidFill>
            <a:srgbClr val="12151C"/>
          </a:solidFill>
          <a:ln w="9525">
            <a:solidFill>
              <a:srgbClr val="2A303A"/>
            </a:solidFill>
            <a:prstDash val="solid"/>
          </a:ln>
          <a:effectLst>
            <a:outerShdw sx="100000" sy="100000" kx="0" ky="0" algn="bl" rotWithShape="0" blurRad="101600" dist="38100" dir="5400000">
              <a:srgbClr val="000000">
                <a:alpha val="45000"/>
              </a:srgbClr>
            </a:outerShdw>
          </a:effectLst>
        </p:spPr>
      </p:sp>
      <p:sp>
        <p:nvSpPr>
          <p:cNvPr id="5" name="Shape 3"/>
          <p:cNvSpPr/>
          <p:nvPr/>
        </p:nvSpPr>
        <p:spPr>
          <a:xfrm>
            <a:off x="777240" y="2011680"/>
            <a:ext cx="384048" cy="384048"/>
          </a:xfrm>
          <a:prstGeom prst="ellipse">
            <a:avLst/>
          </a:prstGeom>
          <a:solidFill>
            <a:srgbClr val="123F3A"/>
          </a:solidFill>
          <a:ln w="15875">
            <a:solidFill>
              <a:srgbClr val="3ED6C0"/>
            </a:solidFill>
            <a:prstDash val="solid"/>
          </a:ln>
        </p:spPr>
      </p:sp>
      <p:sp>
        <p:nvSpPr>
          <p:cNvPr id="6" name="Text 4"/>
          <p:cNvSpPr txBox="1"/>
          <p:nvPr/>
        </p:nvSpPr>
        <p:spPr>
          <a:xfrm>
            <a:off x="777240" y="2011680"/>
            <a:ext cx="384048" cy="384048"/>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777240" y="2514600"/>
            <a:ext cx="2194560" cy="411480"/>
          </a:xfrm>
          <a:prstGeom prst="rect">
            <a:avLst/>
          </a:prstGeom>
          <a:noFill/>
          <a:ln/>
        </p:spPr>
        <p:txBody>
          <a:bodyPr wrap="square" lIns="0" tIns="0" rIns="0" bIns="0" rtlCol="0" anchor="ctr"/>
          <a:lstStyle/>
          <a:p>
            <a:pPr indent="0" marL="0">
              <a:buNone/>
            </a:pPr>
            <a:r>
              <a:rPr lang="en-US" sz="1600" b="1" dirty="0">
                <a:solidFill>
                  <a:srgbClr val="F4F6F8"/>
                </a:solidFill>
                <a:latin typeface="Arial" pitchFamily="34" charset="0"/>
                <a:ea typeface="Arial" pitchFamily="34" charset="-122"/>
                <a:cs typeface="Arial" pitchFamily="34" charset="-120"/>
              </a:rPr>
              <a:t>Lint + 457 tests</a:t>
            </a:r>
            <a:endParaRPr lang="en-US" sz="1600" dirty="0"/>
          </a:p>
        </p:txBody>
      </p:sp>
      <p:sp>
        <p:nvSpPr>
          <p:cNvPr id="8" name="Text 6"/>
          <p:cNvSpPr txBox="1"/>
          <p:nvPr/>
        </p:nvSpPr>
        <p:spPr>
          <a:xfrm>
            <a:off x="777240" y="2926080"/>
            <a:ext cx="2240280" cy="640080"/>
          </a:xfrm>
          <a:prstGeom prst="rect">
            <a:avLst/>
          </a:prstGeom>
          <a:noFill/>
          <a:ln/>
        </p:spPr>
        <p:txBody>
          <a:bodyPr wrap="square" lIns="0" tIns="0" rIns="0" bIns="0" rtlCol="0" anchor="ctr"/>
          <a:lstStyle/>
          <a:p>
            <a:pPr indent="0" marL="0">
              <a:buNone/>
            </a:pPr>
            <a:r>
              <a:rPr lang="en-US" sz="1250" dirty="0">
                <a:solidFill>
                  <a:srgbClr val="A9B2BE"/>
                </a:solidFill>
                <a:latin typeface="Arial" pitchFamily="34" charset="0"/>
                <a:ea typeface="Arial" pitchFamily="34" charset="-122"/>
                <a:cs typeface="Arial" pitchFamily="34" charset="-120"/>
              </a:rPr>
              <a:t>unit, API, leakage, metrics config</a:t>
            </a:r>
            <a:endParaRPr lang="en-US" sz="1250" dirty="0"/>
          </a:p>
        </p:txBody>
      </p:sp>
      <p:sp>
        <p:nvSpPr>
          <p:cNvPr id="9" name="Shape 7"/>
          <p:cNvSpPr/>
          <p:nvPr/>
        </p:nvSpPr>
        <p:spPr>
          <a:xfrm>
            <a:off x="3364992" y="1783080"/>
            <a:ext cx="2606040" cy="1828800"/>
          </a:xfrm>
          <a:prstGeom prst="roundRect">
            <a:avLst>
              <a:gd name="adj" fmla="val 6000"/>
            </a:avLst>
          </a:prstGeom>
          <a:solidFill>
            <a:srgbClr val="12151C"/>
          </a:solidFill>
          <a:ln w="9525">
            <a:solidFill>
              <a:srgbClr val="2A303A"/>
            </a:solidFill>
            <a:prstDash val="solid"/>
          </a:ln>
          <a:effectLst>
            <a:outerShdw sx="100000" sy="100000" kx="0" ky="0" algn="bl" rotWithShape="0" blurRad="101600" dist="38100" dir="5400000">
              <a:srgbClr val="000000">
                <a:alpha val="45000"/>
              </a:srgbClr>
            </a:outerShdw>
          </a:effectLst>
        </p:spPr>
      </p:sp>
      <p:sp>
        <p:nvSpPr>
          <p:cNvPr id="10" name="Shape 8"/>
          <p:cNvSpPr/>
          <p:nvPr/>
        </p:nvSpPr>
        <p:spPr>
          <a:xfrm>
            <a:off x="3593592" y="2011680"/>
            <a:ext cx="384048" cy="384048"/>
          </a:xfrm>
          <a:prstGeom prst="ellipse">
            <a:avLst/>
          </a:prstGeom>
          <a:solidFill>
            <a:srgbClr val="123F3A"/>
          </a:solidFill>
          <a:ln w="15875">
            <a:solidFill>
              <a:srgbClr val="3ED6C0"/>
            </a:solidFill>
            <a:prstDash val="solid"/>
          </a:ln>
        </p:spPr>
      </p:sp>
      <p:sp>
        <p:nvSpPr>
          <p:cNvPr id="11" name="Text 9"/>
          <p:cNvSpPr txBox="1"/>
          <p:nvPr/>
        </p:nvSpPr>
        <p:spPr>
          <a:xfrm>
            <a:off x="3593592" y="2011680"/>
            <a:ext cx="384048" cy="384048"/>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3593592" y="2514600"/>
            <a:ext cx="2194560" cy="411480"/>
          </a:xfrm>
          <a:prstGeom prst="rect">
            <a:avLst/>
          </a:prstGeom>
          <a:noFill/>
          <a:ln/>
        </p:spPr>
        <p:txBody>
          <a:bodyPr wrap="square" lIns="0" tIns="0" rIns="0" bIns="0" rtlCol="0" anchor="ctr"/>
          <a:lstStyle/>
          <a:p>
            <a:pPr indent="0" marL="0">
              <a:buNone/>
            </a:pPr>
            <a:r>
              <a:rPr lang="en-US" sz="1600" b="1" dirty="0">
                <a:solidFill>
                  <a:srgbClr val="F4F6F8"/>
                </a:solidFill>
                <a:latin typeface="Arial" pitchFamily="34" charset="0"/>
                <a:ea typeface="Arial" pitchFamily="34" charset="-122"/>
                <a:cs typeface="Arial" pitchFamily="34" charset="-120"/>
              </a:rPr>
              <a:t>Train on SQLite</a:t>
            </a:r>
            <a:endParaRPr lang="en-US" sz="1600" dirty="0"/>
          </a:p>
        </p:txBody>
      </p:sp>
      <p:sp>
        <p:nvSpPr>
          <p:cNvPr id="13" name="Text 11"/>
          <p:cNvSpPr txBox="1"/>
          <p:nvPr/>
        </p:nvSpPr>
        <p:spPr>
          <a:xfrm>
            <a:off x="3593592" y="2926080"/>
            <a:ext cx="2240280" cy="640080"/>
          </a:xfrm>
          <a:prstGeom prst="rect">
            <a:avLst/>
          </a:prstGeom>
          <a:noFill/>
          <a:ln/>
        </p:spPr>
        <p:txBody>
          <a:bodyPr wrap="square" lIns="0" tIns="0" rIns="0" bIns="0" rtlCol="0" anchor="ctr"/>
          <a:lstStyle/>
          <a:p>
            <a:pPr indent="0" marL="0">
              <a:buNone/>
            </a:pPr>
            <a:r>
              <a:rPr lang="en-US" sz="1250" dirty="0">
                <a:solidFill>
                  <a:srgbClr val="A9B2BE"/>
                </a:solidFill>
                <a:latin typeface="Arial" pitchFamily="34" charset="0"/>
                <a:ea typeface="Arial" pitchFamily="34" charset="-122"/>
                <a:cs typeface="Arial" pitchFamily="34" charset="-120"/>
              </a:rPr>
              <a:t>temporal split, gate, serve, smoke-test</a:t>
            </a:r>
            <a:endParaRPr lang="en-US" sz="1250" dirty="0"/>
          </a:p>
        </p:txBody>
      </p:sp>
      <p:sp>
        <p:nvSpPr>
          <p:cNvPr id="14" name="Shape 12"/>
          <p:cNvSpPr/>
          <p:nvPr/>
        </p:nvSpPr>
        <p:spPr>
          <a:xfrm>
            <a:off x="6181344" y="1783080"/>
            <a:ext cx="2606040" cy="1828800"/>
          </a:xfrm>
          <a:prstGeom prst="roundRect">
            <a:avLst>
              <a:gd name="adj" fmla="val 6000"/>
            </a:avLst>
          </a:prstGeom>
          <a:solidFill>
            <a:srgbClr val="12151C"/>
          </a:solidFill>
          <a:ln w="9525">
            <a:solidFill>
              <a:srgbClr val="2A303A"/>
            </a:solidFill>
            <a:prstDash val="solid"/>
          </a:ln>
          <a:effectLst>
            <a:outerShdw sx="100000" sy="100000" kx="0" ky="0" algn="bl" rotWithShape="0" blurRad="101600" dist="38100" dir="5400000">
              <a:srgbClr val="000000">
                <a:alpha val="45000"/>
              </a:srgbClr>
            </a:outerShdw>
          </a:effectLst>
        </p:spPr>
      </p:sp>
      <p:sp>
        <p:nvSpPr>
          <p:cNvPr id="15" name="Shape 13"/>
          <p:cNvSpPr/>
          <p:nvPr/>
        </p:nvSpPr>
        <p:spPr>
          <a:xfrm>
            <a:off x="6409944" y="2011680"/>
            <a:ext cx="384048" cy="384048"/>
          </a:xfrm>
          <a:prstGeom prst="ellipse">
            <a:avLst/>
          </a:prstGeom>
          <a:solidFill>
            <a:srgbClr val="123F3A"/>
          </a:solidFill>
          <a:ln w="15875">
            <a:solidFill>
              <a:srgbClr val="3ED6C0"/>
            </a:solidFill>
            <a:prstDash val="solid"/>
          </a:ln>
        </p:spPr>
      </p:sp>
      <p:sp>
        <p:nvSpPr>
          <p:cNvPr id="16" name="Text 14"/>
          <p:cNvSpPr txBox="1"/>
          <p:nvPr/>
        </p:nvSpPr>
        <p:spPr>
          <a:xfrm>
            <a:off x="6409944" y="2011680"/>
            <a:ext cx="384048" cy="384048"/>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3</a:t>
            </a:r>
            <a:endParaRPr lang="en-US" sz="1400" dirty="0"/>
          </a:p>
        </p:txBody>
      </p:sp>
      <p:sp>
        <p:nvSpPr>
          <p:cNvPr id="17" name="Text 15"/>
          <p:cNvSpPr txBox="1"/>
          <p:nvPr/>
        </p:nvSpPr>
        <p:spPr>
          <a:xfrm>
            <a:off x="6409944" y="2514600"/>
            <a:ext cx="2194560" cy="411480"/>
          </a:xfrm>
          <a:prstGeom prst="rect">
            <a:avLst/>
          </a:prstGeom>
          <a:noFill/>
          <a:ln/>
        </p:spPr>
        <p:txBody>
          <a:bodyPr wrap="square" lIns="0" tIns="0" rIns="0" bIns="0" rtlCol="0" anchor="ctr"/>
          <a:lstStyle/>
          <a:p>
            <a:pPr indent="0" marL="0">
              <a:buNone/>
            </a:pPr>
            <a:r>
              <a:rPr lang="en-US" sz="1600" b="1" dirty="0">
                <a:solidFill>
                  <a:srgbClr val="F4F6F8"/>
                </a:solidFill>
                <a:latin typeface="Arial" pitchFamily="34" charset="0"/>
                <a:ea typeface="Arial" pitchFamily="34" charset="-122"/>
                <a:cs typeface="Arial" pitchFamily="34" charset="-120"/>
              </a:rPr>
              <a:t>Train on Postgres</a:t>
            </a:r>
            <a:endParaRPr lang="en-US" sz="1600" dirty="0"/>
          </a:p>
        </p:txBody>
      </p:sp>
      <p:sp>
        <p:nvSpPr>
          <p:cNvPr id="18" name="Text 16"/>
          <p:cNvSpPr txBox="1"/>
          <p:nvPr/>
        </p:nvSpPr>
        <p:spPr>
          <a:xfrm>
            <a:off x="6409944" y="2926080"/>
            <a:ext cx="2240280" cy="640080"/>
          </a:xfrm>
          <a:prstGeom prst="rect">
            <a:avLst/>
          </a:prstGeom>
          <a:noFill/>
          <a:ln/>
        </p:spPr>
        <p:txBody>
          <a:bodyPr wrap="square" lIns="0" tIns="0" rIns="0" bIns="0" rtlCol="0" anchor="ctr"/>
          <a:lstStyle/>
          <a:p>
            <a:pPr indent="0" marL="0">
              <a:buNone/>
            </a:pPr>
            <a:r>
              <a:rPr lang="en-US" sz="1250" dirty="0">
                <a:solidFill>
                  <a:srgbClr val="A9B2BE"/>
                </a:solidFill>
                <a:latin typeface="Arial" pitchFamily="34" charset="0"/>
                <a:ea typeface="Arial" pitchFamily="34" charset="-122"/>
                <a:cs typeface="Arial" pitchFamily="34" charset="-120"/>
              </a:rPr>
              <a:t>same run on a real Postgres + all demo queries</a:t>
            </a:r>
            <a:endParaRPr lang="en-US" sz="1250" dirty="0"/>
          </a:p>
        </p:txBody>
      </p:sp>
      <p:sp>
        <p:nvSpPr>
          <p:cNvPr id="19" name="Shape 17"/>
          <p:cNvSpPr/>
          <p:nvPr/>
        </p:nvSpPr>
        <p:spPr>
          <a:xfrm>
            <a:off x="8997696" y="1783080"/>
            <a:ext cx="2606040" cy="1828800"/>
          </a:xfrm>
          <a:prstGeom prst="roundRect">
            <a:avLst>
              <a:gd name="adj" fmla="val 6000"/>
            </a:avLst>
          </a:prstGeom>
          <a:solidFill>
            <a:srgbClr val="12151C"/>
          </a:solidFill>
          <a:ln w="9525">
            <a:solidFill>
              <a:srgbClr val="2A303A"/>
            </a:solidFill>
            <a:prstDash val="solid"/>
          </a:ln>
          <a:effectLst>
            <a:outerShdw sx="100000" sy="100000" kx="0" ky="0" algn="bl" rotWithShape="0" blurRad="101600" dist="38100" dir="5400000">
              <a:srgbClr val="000000">
                <a:alpha val="45000"/>
              </a:srgbClr>
            </a:outerShdw>
          </a:effectLst>
        </p:spPr>
      </p:sp>
      <p:sp>
        <p:nvSpPr>
          <p:cNvPr id="20" name="Shape 18"/>
          <p:cNvSpPr/>
          <p:nvPr/>
        </p:nvSpPr>
        <p:spPr>
          <a:xfrm>
            <a:off x="9226296" y="2011680"/>
            <a:ext cx="384048" cy="384048"/>
          </a:xfrm>
          <a:prstGeom prst="ellipse">
            <a:avLst/>
          </a:prstGeom>
          <a:solidFill>
            <a:srgbClr val="123F3A"/>
          </a:solidFill>
          <a:ln w="15875">
            <a:solidFill>
              <a:srgbClr val="3ED6C0"/>
            </a:solidFill>
            <a:prstDash val="solid"/>
          </a:ln>
        </p:spPr>
      </p:sp>
      <p:sp>
        <p:nvSpPr>
          <p:cNvPr id="21" name="Text 19"/>
          <p:cNvSpPr txBox="1"/>
          <p:nvPr/>
        </p:nvSpPr>
        <p:spPr>
          <a:xfrm>
            <a:off x="9226296" y="2011680"/>
            <a:ext cx="384048" cy="384048"/>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9226296" y="2514600"/>
            <a:ext cx="2194560" cy="411480"/>
          </a:xfrm>
          <a:prstGeom prst="rect">
            <a:avLst/>
          </a:prstGeom>
          <a:noFill/>
          <a:ln/>
        </p:spPr>
        <p:txBody>
          <a:bodyPr wrap="square" lIns="0" tIns="0" rIns="0" bIns="0" rtlCol="0" anchor="ctr"/>
          <a:lstStyle/>
          <a:p>
            <a:pPr indent="0" marL="0">
              <a:buNone/>
            </a:pPr>
            <a:r>
              <a:rPr lang="en-US" sz="1600" b="1" dirty="0">
                <a:solidFill>
                  <a:srgbClr val="F4F6F8"/>
                </a:solidFill>
                <a:latin typeface="Arial" pitchFamily="34" charset="0"/>
                <a:ea typeface="Arial" pitchFamily="34" charset="-122"/>
                <a:cs typeface="Arial" pitchFamily="34" charset="-120"/>
              </a:rPr>
              <a:t>Full pipeline</a:t>
            </a:r>
            <a:endParaRPr lang="en-US" sz="1600" dirty="0"/>
          </a:p>
        </p:txBody>
      </p:sp>
      <p:sp>
        <p:nvSpPr>
          <p:cNvPr id="23" name="Text 21"/>
          <p:cNvSpPr txBox="1"/>
          <p:nvPr/>
        </p:nvSpPr>
        <p:spPr>
          <a:xfrm>
            <a:off x="9226296" y="2926080"/>
            <a:ext cx="2240280" cy="640080"/>
          </a:xfrm>
          <a:prstGeom prst="rect">
            <a:avLst/>
          </a:prstGeom>
          <a:noFill/>
          <a:ln/>
        </p:spPr>
        <p:txBody>
          <a:bodyPr wrap="square" lIns="0" tIns="0" rIns="0" bIns="0" rtlCol="0" anchor="ctr"/>
          <a:lstStyle/>
          <a:p>
            <a:pPr indent="0" marL="0">
              <a:buNone/>
            </a:pPr>
            <a:r>
              <a:rPr lang="en-US" sz="1250" dirty="0">
                <a:solidFill>
                  <a:srgbClr val="A9B2BE"/>
                </a:solidFill>
                <a:latin typeface="Arial" pitchFamily="34" charset="0"/>
                <a:ea typeface="Arial" pitchFamily="34" charset="-122"/>
                <a:cs typeface="Arial" pitchFamily="34" charset="-120"/>
              </a:rPr>
              <a:t>idempotent · identical challenger rejected · drift caught</a:t>
            </a:r>
            <a:endParaRPr lang="en-US" sz="1250" dirty="0"/>
          </a:p>
        </p:txBody>
      </p:sp>
      <p:sp>
        <p:nvSpPr>
          <p:cNvPr id="24" name="Shape 22"/>
          <p:cNvSpPr/>
          <p:nvPr/>
        </p:nvSpPr>
        <p:spPr>
          <a:xfrm>
            <a:off x="548640" y="3886200"/>
            <a:ext cx="2606040" cy="1828800"/>
          </a:xfrm>
          <a:prstGeom prst="roundRect">
            <a:avLst>
              <a:gd name="adj" fmla="val 6000"/>
            </a:avLst>
          </a:prstGeom>
          <a:solidFill>
            <a:srgbClr val="12151C"/>
          </a:solidFill>
          <a:ln w="9525">
            <a:solidFill>
              <a:srgbClr val="2A303A"/>
            </a:solidFill>
            <a:prstDash val="solid"/>
          </a:ln>
          <a:effectLst>
            <a:outerShdw sx="100000" sy="100000" kx="0" ky="0" algn="bl" rotWithShape="0" blurRad="101600" dist="38100" dir="5400000">
              <a:srgbClr val="000000">
                <a:alpha val="45000"/>
              </a:srgbClr>
            </a:outerShdw>
          </a:effectLst>
        </p:spPr>
      </p:sp>
      <p:sp>
        <p:nvSpPr>
          <p:cNvPr id="25" name="Shape 23"/>
          <p:cNvSpPr/>
          <p:nvPr/>
        </p:nvSpPr>
        <p:spPr>
          <a:xfrm>
            <a:off x="777240" y="4114800"/>
            <a:ext cx="384048" cy="384048"/>
          </a:xfrm>
          <a:prstGeom prst="ellipse">
            <a:avLst/>
          </a:prstGeom>
          <a:solidFill>
            <a:srgbClr val="123F3A"/>
          </a:solidFill>
          <a:ln w="15875">
            <a:solidFill>
              <a:srgbClr val="3ED6C0"/>
            </a:solidFill>
            <a:prstDash val="solid"/>
          </a:ln>
        </p:spPr>
      </p:sp>
      <p:sp>
        <p:nvSpPr>
          <p:cNvPr id="26" name="Text 24"/>
          <p:cNvSpPr txBox="1"/>
          <p:nvPr/>
        </p:nvSpPr>
        <p:spPr>
          <a:xfrm>
            <a:off x="777240" y="4114800"/>
            <a:ext cx="384048" cy="384048"/>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5</a:t>
            </a:r>
            <a:endParaRPr lang="en-US" sz="1400" dirty="0"/>
          </a:p>
        </p:txBody>
      </p:sp>
      <p:sp>
        <p:nvSpPr>
          <p:cNvPr id="27" name="Text 25"/>
          <p:cNvSpPr txBox="1"/>
          <p:nvPr/>
        </p:nvSpPr>
        <p:spPr>
          <a:xfrm>
            <a:off x="777240" y="4617720"/>
            <a:ext cx="2194560" cy="411480"/>
          </a:xfrm>
          <a:prstGeom prst="rect">
            <a:avLst/>
          </a:prstGeom>
          <a:noFill/>
          <a:ln/>
        </p:spPr>
        <p:txBody>
          <a:bodyPr wrap="square" lIns="0" tIns="0" rIns="0" bIns="0" rtlCol="0" anchor="ctr"/>
          <a:lstStyle/>
          <a:p>
            <a:pPr indent="0" marL="0">
              <a:buNone/>
            </a:pPr>
            <a:r>
              <a:rPr lang="en-US" sz="1600" b="1" dirty="0">
                <a:solidFill>
                  <a:srgbClr val="F4F6F8"/>
                </a:solidFill>
                <a:latin typeface="Arial" pitchFamily="34" charset="0"/>
                <a:ea typeface="Arial" pitchFamily="34" charset="-122"/>
                <a:cs typeface="Arial" pitchFamily="34" charset="-120"/>
              </a:rPr>
              <a:t>Streaming</a:t>
            </a:r>
            <a:endParaRPr lang="en-US" sz="1600" dirty="0"/>
          </a:p>
        </p:txBody>
      </p:sp>
      <p:sp>
        <p:nvSpPr>
          <p:cNvPr id="28" name="Text 26"/>
          <p:cNvSpPr txBox="1"/>
          <p:nvPr/>
        </p:nvSpPr>
        <p:spPr>
          <a:xfrm>
            <a:off x="777240" y="5029200"/>
            <a:ext cx="2240280" cy="640080"/>
          </a:xfrm>
          <a:prstGeom prst="rect">
            <a:avLst/>
          </a:prstGeom>
          <a:noFill/>
          <a:ln/>
        </p:spPr>
        <p:txBody>
          <a:bodyPr wrap="square" lIns="0" tIns="0" rIns="0" bIns="0" rtlCol="0" anchor="ctr"/>
          <a:lstStyle/>
          <a:p>
            <a:pPr indent="0" marL="0">
              <a:buNone/>
            </a:pPr>
            <a:r>
              <a:rPr lang="en-US" sz="1250" dirty="0">
                <a:solidFill>
                  <a:srgbClr val="A9B2BE"/>
                </a:solidFill>
                <a:latin typeface="Arial" pitchFamily="34" charset="0"/>
                <a:ea typeface="Arial" pitchFamily="34" charset="-122"/>
                <a:cs typeface="Arial" pitchFamily="34" charset="-120"/>
              </a:rPr>
              <a:t>poison messages go to the dead-letter topic</a:t>
            </a:r>
            <a:endParaRPr lang="en-US" sz="1250" dirty="0"/>
          </a:p>
        </p:txBody>
      </p:sp>
      <p:sp>
        <p:nvSpPr>
          <p:cNvPr id="29" name="Shape 27"/>
          <p:cNvSpPr/>
          <p:nvPr/>
        </p:nvSpPr>
        <p:spPr>
          <a:xfrm>
            <a:off x="3364992" y="3886200"/>
            <a:ext cx="2606040" cy="1828800"/>
          </a:xfrm>
          <a:prstGeom prst="roundRect">
            <a:avLst>
              <a:gd name="adj" fmla="val 6000"/>
            </a:avLst>
          </a:prstGeom>
          <a:solidFill>
            <a:srgbClr val="12151C"/>
          </a:solidFill>
          <a:ln w="9525">
            <a:solidFill>
              <a:srgbClr val="2A303A"/>
            </a:solidFill>
            <a:prstDash val="solid"/>
          </a:ln>
          <a:effectLst>
            <a:outerShdw sx="100000" sy="100000" kx="0" ky="0" algn="bl" rotWithShape="0" blurRad="101600" dist="38100" dir="5400000">
              <a:srgbClr val="000000">
                <a:alpha val="45000"/>
              </a:srgbClr>
            </a:outerShdw>
          </a:effectLst>
        </p:spPr>
      </p:sp>
      <p:sp>
        <p:nvSpPr>
          <p:cNvPr id="30" name="Shape 28"/>
          <p:cNvSpPr/>
          <p:nvPr/>
        </p:nvSpPr>
        <p:spPr>
          <a:xfrm>
            <a:off x="3593592" y="4114800"/>
            <a:ext cx="384048" cy="384048"/>
          </a:xfrm>
          <a:prstGeom prst="ellipse">
            <a:avLst/>
          </a:prstGeom>
          <a:solidFill>
            <a:srgbClr val="123F3A"/>
          </a:solidFill>
          <a:ln w="15875">
            <a:solidFill>
              <a:srgbClr val="3ED6C0"/>
            </a:solidFill>
            <a:prstDash val="solid"/>
          </a:ln>
        </p:spPr>
      </p:sp>
      <p:sp>
        <p:nvSpPr>
          <p:cNvPr id="31" name="Text 29"/>
          <p:cNvSpPr txBox="1"/>
          <p:nvPr/>
        </p:nvSpPr>
        <p:spPr>
          <a:xfrm>
            <a:off x="3593592" y="4114800"/>
            <a:ext cx="384048" cy="384048"/>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6</a:t>
            </a:r>
            <a:endParaRPr lang="en-US" sz="1400" dirty="0"/>
          </a:p>
        </p:txBody>
      </p:sp>
      <p:sp>
        <p:nvSpPr>
          <p:cNvPr id="32" name="Text 30"/>
          <p:cNvSpPr txBox="1"/>
          <p:nvPr/>
        </p:nvSpPr>
        <p:spPr>
          <a:xfrm>
            <a:off x="3593592" y="4617720"/>
            <a:ext cx="2194560" cy="411480"/>
          </a:xfrm>
          <a:prstGeom prst="rect">
            <a:avLst/>
          </a:prstGeom>
          <a:noFill/>
          <a:ln/>
        </p:spPr>
        <p:txBody>
          <a:bodyPr wrap="square" lIns="0" tIns="0" rIns="0" bIns="0" rtlCol="0" anchor="ctr"/>
          <a:lstStyle/>
          <a:p>
            <a:pPr indent="0" marL="0">
              <a:buNone/>
            </a:pPr>
            <a:r>
              <a:rPr lang="en-US" sz="1600" b="1" dirty="0">
                <a:solidFill>
                  <a:srgbClr val="F4F6F8"/>
                </a:solidFill>
                <a:latin typeface="Arial" pitchFamily="34" charset="0"/>
                <a:ea typeface="Arial" pitchFamily="34" charset="-122"/>
                <a:cs typeface="Arial" pitchFamily="34" charset="-120"/>
              </a:rPr>
              <a:t>Docker + Kubernetes</a:t>
            </a:r>
            <a:endParaRPr lang="en-US" sz="1600" dirty="0"/>
          </a:p>
        </p:txBody>
      </p:sp>
      <p:sp>
        <p:nvSpPr>
          <p:cNvPr id="33" name="Text 31"/>
          <p:cNvSpPr txBox="1"/>
          <p:nvPr/>
        </p:nvSpPr>
        <p:spPr>
          <a:xfrm>
            <a:off x="3593592" y="5029200"/>
            <a:ext cx="2240280" cy="640080"/>
          </a:xfrm>
          <a:prstGeom prst="rect">
            <a:avLst/>
          </a:prstGeom>
          <a:noFill/>
          <a:ln/>
        </p:spPr>
        <p:txBody>
          <a:bodyPr wrap="square" lIns="0" tIns="0" rIns="0" bIns="0" rtlCol="0" anchor="ctr"/>
          <a:lstStyle/>
          <a:p>
            <a:pPr indent="0" marL="0">
              <a:buNone/>
            </a:pPr>
            <a:r>
              <a:rPr lang="en-US" sz="1250" dirty="0">
                <a:solidFill>
                  <a:srgbClr val="A9B2BE"/>
                </a:solidFill>
                <a:latin typeface="Arial" pitchFamily="34" charset="0"/>
                <a:ea typeface="Arial" pitchFamily="34" charset="-122"/>
                <a:cs typeface="Arial" pitchFamily="34" charset="-120"/>
              </a:rPr>
              <a:t>smoke-tested, then deployed to a kind cluster</a:t>
            </a:r>
            <a:endParaRPr lang="en-US" sz="1250" dirty="0"/>
          </a:p>
        </p:txBody>
      </p:sp>
      <p:sp>
        <p:nvSpPr>
          <p:cNvPr id="34" name="Shape 32"/>
          <p:cNvSpPr/>
          <p:nvPr/>
        </p:nvSpPr>
        <p:spPr>
          <a:xfrm>
            <a:off x="6181344" y="3886200"/>
            <a:ext cx="2606040" cy="1828800"/>
          </a:xfrm>
          <a:prstGeom prst="roundRect">
            <a:avLst>
              <a:gd name="adj" fmla="val 6000"/>
            </a:avLst>
          </a:prstGeom>
          <a:solidFill>
            <a:srgbClr val="123F3A"/>
          </a:solidFill>
          <a:ln w="9525">
            <a:solidFill>
              <a:srgbClr val="2A303A"/>
            </a:solidFill>
            <a:prstDash val="solid"/>
          </a:ln>
          <a:effectLst>
            <a:outerShdw sx="100000" sy="100000" kx="0" ky="0" algn="bl" rotWithShape="0" blurRad="101600" dist="38100" dir="5400000">
              <a:srgbClr val="000000">
                <a:alpha val="45000"/>
              </a:srgbClr>
            </a:outerShdw>
          </a:effectLst>
        </p:spPr>
      </p:sp>
      <p:sp>
        <p:nvSpPr>
          <p:cNvPr id="35" name="Shape 33"/>
          <p:cNvSpPr/>
          <p:nvPr/>
        </p:nvSpPr>
        <p:spPr>
          <a:xfrm>
            <a:off x="6409944" y="4114800"/>
            <a:ext cx="384048" cy="384048"/>
          </a:xfrm>
          <a:prstGeom prst="ellipse">
            <a:avLst/>
          </a:prstGeom>
          <a:solidFill>
            <a:srgbClr val="123F3A"/>
          </a:solidFill>
          <a:ln w="15875">
            <a:solidFill>
              <a:srgbClr val="3ED6C0"/>
            </a:solidFill>
            <a:prstDash val="solid"/>
          </a:ln>
        </p:spPr>
      </p:sp>
      <p:sp>
        <p:nvSpPr>
          <p:cNvPr id="36" name="Text 34"/>
          <p:cNvSpPr txBox="1"/>
          <p:nvPr/>
        </p:nvSpPr>
        <p:spPr>
          <a:xfrm>
            <a:off x="6409944" y="4114800"/>
            <a:ext cx="384048" cy="384048"/>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7</a:t>
            </a:r>
            <a:endParaRPr lang="en-US" sz="1400" dirty="0"/>
          </a:p>
        </p:txBody>
      </p:sp>
      <p:sp>
        <p:nvSpPr>
          <p:cNvPr id="37" name="Text 35"/>
          <p:cNvSpPr txBox="1"/>
          <p:nvPr/>
        </p:nvSpPr>
        <p:spPr>
          <a:xfrm>
            <a:off x="6409944" y="4617720"/>
            <a:ext cx="2194560" cy="411480"/>
          </a:xfrm>
          <a:prstGeom prst="rect">
            <a:avLst/>
          </a:prstGeom>
          <a:noFill/>
          <a:ln/>
        </p:spPr>
        <p:txBody>
          <a:bodyPr wrap="square" lIns="0" tIns="0" rIns="0" bIns="0" rtlCol="0" anchor="ctr"/>
          <a:lstStyle/>
          <a:p>
            <a:pPr indent="0" marL="0">
              <a:buNone/>
            </a:pPr>
            <a:r>
              <a:rPr lang="en-US" sz="1600" b="1" dirty="0">
                <a:solidFill>
                  <a:srgbClr val="3ED6C0"/>
                </a:solidFill>
                <a:latin typeface="Arial" pitchFamily="34" charset="0"/>
                <a:ea typeface="Arial" pitchFamily="34" charset="-122"/>
                <a:cs typeface="Arial" pitchFamily="34" charset="-120"/>
              </a:rPr>
              <a:t>Publish (CD)</a:t>
            </a:r>
            <a:endParaRPr lang="en-US" sz="1600" dirty="0"/>
          </a:p>
        </p:txBody>
      </p:sp>
      <p:sp>
        <p:nvSpPr>
          <p:cNvPr id="38" name="Text 36"/>
          <p:cNvSpPr txBox="1"/>
          <p:nvPr/>
        </p:nvSpPr>
        <p:spPr>
          <a:xfrm>
            <a:off x="6409944" y="5029200"/>
            <a:ext cx="2240280" cy="640080"/>
          </a:xfrm>
          <a:prstGeom prst="rect">
            <a:avLst/>
          </a:prstGeom>
          <a:noFill/>
          <a:ln/>
        </p:spPr>
        <p:txBody>
          <a:bodyPr wrap="square" lIns="0" tIns="0" rIns="0" bIns="0" rtlCol="0" anchor="ctr"/>
          <a:lstStyle/>
          <a:p>
            <a:pPr indent="0" marL="0">
              <a:buNone/>
            </a:pPr>
            <a:r>
              <a:rPr lang="en-US" sz="1250" dirty="0">
                <a:solidFill>
                  <a:srgbClr val="A9B2BE"/>
                </a:solidFill>
                <a:latin typeface="Arial" pitchFamily="34" charset="0"/>
                <a:ea typeface="Arial" pitchFamily="34" charset="-122"/>
                <a:cs typeface="Arial" pitchFamily="34" charset="-120"/>
              </a:rPr>
              <a:t>on main: image to ghcr.io, tagged with the commit</a:t>
            </a:r>
            <a:endParaRPr lang="en-US" sz="1250" dirty="0"/>
          </a:p>
        </p:txBody>
      </p:sp>
      <p:sp>
        <p:nvSpPr>
          <p:cNvPr id="39" name="Text 37"/>
          <p:cNvSpPr txBox="1"/>
          <p:nvPr/>
        </p:nvSpPr>
        <p:spPr>
          <a:xfrm>
            <a:off x="8997696" y="4114800"/>
            <a:ext cx="2834640" cy="1737360"/>
          </a:xfrm>
          <a:prstGeom prst="rect">
            <a:avLst/>
          </a:prstGeom>
          <a:noFill/>
          <a:ln/>
        </p:spPr>
        <p:txBody>
          <a:bodyPr wrap="square" lIns="0" tIns="0" rIns="0" bIns="0" rtlCol="0" anchor="ctr"/>
          <a:lstStyle/>
          <a:p>
            <a:pPr indent="0" marL="0">
              <a:buNone/>
            </a:pPr>
            <a:r>
              <a:rPr lang="en-US" sz="1400" dirty="0">
                <a:solidFill>
                  <a:srgbClr val="7A8396"/>
                </a:solidFill>
                <a:latin typeface="Arial" pitchFamily="34" charset="0"/>
                <a:ea typeface="Arial" pitchFamily="34" charset="-122"/>
                <a:cs typeface="Arial" pitchFamily="34" charset="-120"/>
              </a:rPr>
              <a:t>Plus Prefect for the nightly retrain-and-gate flow, DVC for versioned data and parameters.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90B"/>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100" b="1" spc="300" kern="0" dirty="0">
                <a:solidFill>
                  <a:srgbClr val="3ED6C0"/>
                </a:solidFill>
                <a:latin typeface="Arial" pitchFamily="34" charset="0"/>
                <a:ea typeface="Arial" pitchFamily="34" charset="-122"/>
                <a:cs typeface="Arial" pitchFamily="34" charset="-120"/>
              </a:rPr>
              <a:t>WHAT THE MODEL ACTUALLY ACHIEVES</a:t>
            </a:r>
            <a:endParaRPr lang="en-US" sz="1100" dirty="0"/>
          </a:p>
        </p:txBody>
      </p:sp>
      <p:sp>
        <p:nvSpPr>
          <p:cNvPr id="3" name="Text 1"/>
          <p:cNvSpPr txBox="1"/>
          <p:nvPr/>
        </p:nvSpPr>
        <p:spPr>
          <a:xfrm>
            <a:off x="548640" y="685800"/>
            <a:ext cx="11094415" cy="731520"/>
          </a:xfrm>
          <a:prstGeom prst="rect">
            <a:avLst/>
          </a:prstGeom>
          <a:noFill/>
          <a:ln/>
        </p:spPr>
        <p:txBody>
          <a:bodyPr wrap="square" lIns="0" tIns="0" rIns="0" bIns="0" rtlCol="0" anchor="ctr"/>
          <a:lstStyle/>
          <a:p>
            <a:pPr indent="0" marL="0">
              <a:buNone/>
            </a:pPr>
            <a:r>
              <a:rPr lang="en-US" sz="3200" dirty="0">
                <a:solidFill>
                  <a:srgbClr val="F4F6F8"/>
                </a:solidFill>
                <a:latin typeface="Georgia" pitchFamily="34" charset="0"/>
                <a:ea typeface="Georgia" pitchFamily="34" charset="-122"/>
                <a:cs typeface="Georgia" pitchFamily="34" charset="-120"/>
              </a:rPr>
              <a:t>Honest results</a:t>
            </a:r>
            <a:endParaRPr lang="en-US" sz="3200" dirty="0"/>
          </a:p>
        </p:txBody>
      </p:sp>
      <p:sp>
        <p:nvSpPr>
          <p:cNvPr id="4" name="Shape 2"/>
          <p:cNvSpPr/>
          <p:nvPr/>
        </p:nvSpPr>
        <p:spPr>
          <a:xfrm>
            <a:off x="548640" y="1737360"/>
            <a:ext cx="3474720" cy="1874520"/>
          </a:xfrm>
          <a:prstGeom prst="roundRect">
            <a:avLst>
              <a:gd name="adj" fmla="val 5854"/>
            </a:avLst>
          </a:prstGeom>
          <a:solidFill>
            <a:srgbClr val="12151C"/>
          </a:solidFill>
          <a:ln w="9525">
            <a:solidFill>
              <a:srgbClr val="2A303A"/>
            </a:solidFill>
            <a:prstDash val="solid"/>
          </a:ln>
          <a:effectLst>
            <a:outerShdw sx="100000" sy="100000" kx="0" ky="0" algn="bl" rotWithShape="0" blurRad="101600" dist="38100" dir="5400000">
              <a:srgbClr val="000000">
                <a:alpha val="45000"/>
              </a:srgbClr>
            </a:outerShdw>
          </a:effectLst>
        </p:spPr>
      </p:sp>
      <p:sp>
        <p:nvSpPr>
          <p:cNvPr id="5" name="Text 3"/>
          <p:cNvSpPr txBox="1"/>
          <p:nvPr/>
        </p:nvSpPr>
        <p:spPr>
          <a:xfrm>
            <a:off x="868680" y="1783080"/>
            <a:ext cx="2926080" cy="868680"/>
          </a:xfrm>
          <a:prstGeom prst="rect">
            <a:avLst/>
          </a:prstGeom>
          <a:noFill/>
          <a:ln/>
        </p:spPr>
        <p:txBody>
          <a:bodyPr wrap="square" lIns="0" tIns="0" rIns="0" bIns="0" rtlCol="0" anchor="b"/>
          <a:lstStyle/>
          <a:p>
            <a:pPr indent="0" marL="0">
              <a:buNone/>
            </a:pPr>
            <a:r>
              <a:rPr lang="en-US" sz="4800" dirty="0">
                <a:solidFill>
                  <a:srgbClr val="3ED6C0"/>
                </a:solidFill>
                <a:latin typeface="Georgia" pitchFamily="34" charset="0"/>
                <a:ea typeface="Georgia" pitchFamily="34" charset="-122"/>
                <a:cs typeface="Georgia" pitchFamily="34" charset="-120"/>
              </a:rPr>
              <a:t>0.073</a:t>
            </a:r>
            <a:endParaRPr lang="en-US" sz="4800" dirty="0"/>
          </a:p>
        </p:txBody>
      </p:sp>
      <p:sp>
        <p:nvSpPr>
          <p:cNvPr id="6" name="Text 4"/>
          <p:cNvSpPr txBox="1"/>
          <p:nvPr/>
        </p:nvSpPr>
        <p:spPr>
          <a:xfrm>
            <a:off x="868680" y="2697480"/>
            <a:ext cx="2926080" cy="685800"/>
          </a:xfrm>
          <a:prstGeom prst="rect">
            <a:avLst/>
          </a:prstGeom>
          <a:noFill/>
          <a:ln/>
        </p:spPr>
        <p:txBody>
          <a:bodyPr wrap="square" lIns="0" tIns="0" rIns="0" bIns="0" rtlCol="0" anchor="t"/>
          <a:lstStyle/>
          <a:p>
            <a:pPr indent="0" marL="0">
              <a:buNone/>
            </a:pPr>
            <a:r>
              <a:rPr lang="en-US" sz="1300" dirty="0">
                <a:solidFill>
                  <a:srgbClr val="A9B2BE"/>
                </a:solidFill>
                <a:latin typeface="Arial" pitchFamily="34" charset="0"/>
                <a:ea typeface="Arial" pitchFamily="34" charset="-122"/>
                <a:cs typeface="Arial" pitchFamily="34" charset="-120"/>
              </a:rPr>
              <a:t>PR-AUC: 4.8× better than guessing (0.015)</a:t>
            </a:r>
            <a:endParaRPr lang="en-US" sz="1300" dirty="0"/>
          </a:p>
        </p:txBody>
      </p:sp>
      <p:sp>
        <p:nvSpPr>
          <p:cNvPr id="7" name="Shape 5"/>
          <p:cNvSpPr/>
          <p:nvPr/>
        </p:nvSpPr>
        <p:spPr>
          <a:xfrm>
            <a:off x="4297680" y="1737360"/>
            <a:ext cx="3474720" cy="1874520"/>
          </a:xfrm>
          <a:prstGeom prst="roundRect">
            <a:avLst>
              <a:gd name="adj" fmla="val 5854"/>
            </a:avLst>
          </a:prstGeom>
          <a:solidFill>
            <a:srgbClr val="12151C"/>
          </a:solidFill>
          <a:ln w="9525">
            <a:solidFill>
              <a:srgbClr val="2A303A"/>
            </a:solidFill>
            <a:prstDash val="solid"/>
          </a:ln>
          <a:effectLst>
            <a:outerShdw sx="100000" sy="100000" kx="0" ky="0" algn="bl" rotWithShape="0" blurRad="101600" dist="38100" dir="5400000">
              <a:srgbClr val="000000">
                <a:alpha val="45000"/>
              </a:srgbClr>
            </a:outerShdw>
          </a:effectLst>
        </p:spPr>
      </p:sp>
      <p:sp>
        <p:nvSpPr>
          <p:cNvPr id="8" name="Text 6"/>
          <p:cNvSpPr txBox="1"/>
          <p:nvPr/>
        </p:nvSpPr>
        <p:spPr>
          <a:xfrm>
            <a:off x="4617720" y="1783080"/>
            <a:ext cx="2926080" cy="868680"/>
          </a:xfrm>
          <a:prstGeom prst="rect">
            <a:avLst/>
          </a:prstGeom>
          <a:noFill/>
          <a:ln/>
        </p:spPr>
        <p:txBody>
          <a:bodyPr wrap="square" lIns="0" tIns="0" rIns="0" bIns="0" rtlCol="0" anchor="b"/>
          <a:lstStyle/>
          <a:p>
            <a:pPr indent="0" marL="0">
              <a:buNone/>
            </a:pPr>
            <a:r>
              <a:rPr lang="en-US" sz="4800" dirty="0">
                <a:solidFill>
                  <a:srgbClr val="E8DFCE"/>
                </a:solidFill>
                <a:latin typeface="Georgia" pitchFamily="34" charset="0"/>
                <a:ea typeface="Georgia" pitchFamily="34" charset="-122"/>
                <a:cs typeface="Georgia" pitchFamily="34" charset="-120"/>
              </a:rPr>
              <a:t>16.8%</a:t>
            </a:r>
            <a:endParaRPr lang="en-US" sz="4800" dirty="0"/>
          </a:p>
        </p:txBody>
      </p:sp>
      <p:sp>
        <p:nvSpPr>
          <p:cNvPr id="9" name="Text 7"/>
          <p:cNvSpPr txBox="1"/>
          <p:nvPr/>
        </p:nvSpPr>
        <p:spPr>
          <a:xfrm>
            <a:off x="4617720" y="2697480"/>
            <a:ext cx="2926080" cy="685800"/>
          </a:xfrm>
          <a:prstGeom prst="rect">
            <a:avLst/>
          </a:prstGeom>
          <a:noFill/>
          <a:ln/>
        </p:spPr>
        <p:txBody>
          <a:bodyPr wrap="square" lIns="0" tIns="0" rIns="0" bIns="0" rtlCol="0" anchor="t"/>
          <a:lstStyle/>
          <a:p>
            <a:pPr indent="0" marL="0">
              <a:buNone/>
            </a:pPr>
            <a:r>
              <a:rPr lang="en-US" sz="1300" dirty="0">
                <a:solidFill>
                  <a:srgbClr val="A9B2BE"/>
                </a:solidFill>
                <a:latin typeface="Arial" pitchFamily="34" charset="0"/>
                <a:ea typeface="Arial" pitchFamily="34" charset="-122"/>
                <a:cs typeface="Arial" pitchFamily="34" charset="-120"/>
              </a:rPr>
              <a:t>of churners caught at the 0.05 threshold</a:t>
            </a:r>
            <a:endParaRPr lang="en-US" sz="1300" dirty="0"/>
          </a:p>
        </p:txBody>
      </p:sp>
      <p:sp>
        <p:nvSpPr>
          <p:cNvPr id="10" name="Shape 8"/>
          <p:cNvSpPr/>
          <p:nvPr/>
        </p:nvSpPr>
        <p:spPr>
          <a:xfrm>
            <a:off x="8046720" y="1737360"/>
            <a:ext cx="3474720" cy="1874520"/>
          </a:xfrm>
          <a:prstGeom prst="roundRect">
            <a:avLst>
              <a:gd name="adj" fmla="val 5854"/>
            </a:avLst>
          </a:prstGeom>
          <a:solidFill>
            <a:srgbClr val="12151C"/>
          </a:solidFill>
          <a:ln w="9525">
            <a:solidFill>
              <a:srgbClr val="2A303A"/>
            </a:solidFill>
            <a:prstDash val="solid"/>
          </a:ln>
          <a:effectLst>
            <a:outerShdw sx="100000" sy="100000" kx="0" ky="0" algn="bl" rotWithShape="0" blurRad="101600" dist="38100" dir="5400000">
              <a:srgbClr val="000000">
                <a:alpha val="45000"/>
              </a:srgbClr>
            </a:outerShdw>
          </a:effectLst>
        </p:spPr>
      </p:sp>
      <p:sp>
        <p:nvSpPr>
          <p:cNvPr id="11" name="Text 9"/>
          <p:cNvSpPr txBox="1"/>
          <p:nvPr/>
        </p:nvSpPr>
        <p:spPr>
          <a:xfrm>
            <a:off x="8366760" y="1783080"/>
            <a:ext cx="2926080" cy="868680"/>
          </a:xfrm>
          <a:prstGeom prst="rect">
            <a:avLst/>
          </a:prstGeom>
          <a:noFill/>
          <a:ln/>
        </p:spPr>
        <p:txBody>
          <a:bodyPr wrap="square" lIns="0" tIns="0" rIns="0" bIns="0" rtlCol="0" anchor="b"/>
          <a:lstStyle/>
          <a:p>
            <a:pPr indent="0" marL="0">
              <a:buNone/>
            </a:pPr>
            <a:r>
              <a:rPr lang="en-US" sz="4800" dirty="0">
                <a:solidFill>
                  <a:srgbClr val="46C88A"/>
                </a:solidFill>
                <a:latin typeface="Georgia" pitchFamily="34" charset="0"/>
                <a:ea typeface="Georgia" pitchFamily="34" charset="-122"/>
                <a:cs typeface="Georgia" pitchFamily="34" charset="-120"/>
              </a:rPr>
              <a:t>0.004</a:t>
            </a:r>
            <a:endParaRPr lang="en-US" sz="4800" dirty="0"/>
          </a:p>
        </p:txBody>
      </p:sp>
      <p:sp>
        <p:nvSpPr>
          <p:cNvPr id="12" name="Text 10"/>
          <p:cNvSpPr txBox="1"/>
          <p:nvPr/>
        </p:nvSpPr>
        <p:spPr>
          <a:xfrm>
            <a:off x="8366760" y="2697480"/>
            <a:ext cx="2926080" cy="685800"/>
          </a:xfrm>
          <a:prstGeom prst="rect">
            <a:avLst/>
          </a:prstGeom>
          <a:noFill/>
          <a:ln/>
        </p:spPr>
        <p:txBody>
          <a:bodyPr wrap="square" lIns="0" tIns="0" rIns="0" bIns="0" rtlCol="0" anchor="t"/>
          <a:lstStyle/>
          <a:p>
            <a:pPr indent="0" marL="0">
              <a:buNone/>
            </a:pPr>
            <a:r>
              <a:rPr lang="en-US" sz="1300" dirty="0">
                <a:solidFill>
                  <a:srgbClr val="A9B2BE"/>
                </a:solidFill>
                <a:latin typeface="Arial" pitchFamily="34" charset="0"/>
                <a:ea typeface="Arial" pitchFamily="34" charset="-122"/>
                <a:cs typeface="Arial" pitchFamily="34" charset="-120"/>
              </a:rPr>
              <a:t>calibration error: a predicted 5% means ~5%</a:t>
            </a:r>
            <a:endParaRPr lang="en-US" sz="1300" dirty="0"/>
          </a:p>
        </p:txBody>
      </p:sp>
      <p:sp>
        <p:nvSpPr>
          <p:cNvPr id="13" name="Text 11"/>
          <p:cNvSpPr txBox="1"/>
          <p:nvPr/>
        </p:nvSpPr>
        <p:spPr>
          <a:xfrm>
            <a:off x="548640" y="4160520"/>
            <a:ext cx="4572000" cy="457200"/>
          </a:xfrm>
          <a:prstGeom prst="rect">
            <a:avLst/>
          </a:prstGeom>
          <a:noFill/>
          <a:ln/>
        </p:spPr>
        <p:txBody>
          <a:bodyPr wrap="square" lIns="0" tIns="0" rIns="0" bIns="0" rtlCol="0" anchor="ctr"/>
          <a:lstStyle/>
          <a:p>
            <a:pPr indent="0" marL="0">
              <a:buNone/>
            </a:pPr>
            <a:r>
              <a:rPr lang="en-US" sz="2200" dirty="0">
                <a:solidFill>
                  <a:srgbClr val="E8DFCE"/>
                </a:solidFill>
                <a:latin typeface="Georgia" pitchFamily="34" charset="0"/>
                <a:ea typeface="Georgia" pitchFamily="34" charset="-122"/>
                <a:cs typeface="Georgia" pitchFamily="34" charset="-120"/>
              </a:rPr>
              <a:t>Limitations</a:t>
            </a:r>
            <a:endParaRPr lang="en-US" sz="2200" dirty="0"/>
          </a:p>
        </p:txBody>
      </p:sp>
      <p:sp>
        <p:nvSpPr>
          <p:cNvPr id="14" name="Shape 12"/>
          <p:cNvSpPr/>
          <p:nvPr/>
        </p:nvSpPr>
        <p:spPr>
          <a:xfrm>
            <a:off x="594360" y="4773168"/>
            <a:ext cx="128016" cy="128016"/>
          </a:xfrm>
          <a:prstGeom prst="ellipse">
            <a:avLst/>
          </a:prstGeom>
          <a:solidFill>
            <a:srgbClr val="3ED6C0"/>
          </a:solidFill>
          <a:ln w="12700">
            <a:solidFill>
              <a:srgbClr val="3ED6C0"/>
            </a:solidFill>
            <a:prstDash val="solid"/>
          </a:ln>
        </p:spPr>
      </p:sp>
      <p:sp>
        <p:nvSpPr>
          <p:cNvPr id="15" name="Text 13"/>
          <p:cNvSpPr txBox="1"/>
          <p:nvPr/>
        </p:nvSpPr>
        <p:spPr>
          <a:xfrm>
            <a:off x="914400" y="4663440"/>
            <a:ext cx="10789920" cy="347472"/>
          </a:xfrm>
          <a:prstGeom prst="rect">
            <a:avLst/>
          </a:prstGeom>
          <a:noFill/>
          <a:ln/>
        </p:spPr>
        <p:txBody>
          <a:bodyPr wrap="square" lIns="0" tIns="0" rIns="0" bIns="0" rtlCol="0" anchor="ctr"/>
          <a:lstStyle/>
          <a:p>
            <a:pPr indent="0" marL="0">
              <a:buNone/>
            </a:pPr>
            <a:r>
              <a:rPr lang="en-US" sz="1500" dirty="0">
                <a:solidFill>
                  <a:srgbClr val="A9B2BE"/>
                </a:solidFill>
                <a:latin typeface="Arial" pitchFamily="34" charset="0"/>
                <a:ea typeface="Arial" pitchFamily="34" charset="-122"/>
                <a:cs typeface="Arial" pitchFamily="34" charset="-120"/>
              </a:rPr>
              <a:t>Modest model: the data has no support or payment-failure signal</a:t>
            </a:r>
            <a:endParaRPr lang="en-US" sz="1500" dirty="0"/>
          </a:p>
        </p:txBody>
      </p:sp>
      <p:sp>
        <p:nvSpPr>
          <p:cNvPr id="16" name="Shape 14"/>
          <p:cNvSpPr/>
          <p:nvPr/>
        </p:nvSpPr>
        <p:spPr>
          <a:xfrm>
            <a:off x="594360" y="5230368"/>
            <a:ext cx="128016" cy="128016"/>
          </a:xfrm>
          <a:prstGeom prst="ellipse">
            <a:avLst/>
          </a:prstGeom>
          <a:solidFill>
            <a:srgbClr val="3ED6C0"/>
          </a:solidFill>
          <a:ln w="12700">
            <a:solidFill>
              <a:srgbClr val="3ED6C0"/>
            </a:solidFill>
            <a:prstDash val="solid"/>
          </a:ln>
        </p:spPr>
      </p:sp>
      <p:sp>
        <p:nvSpPr>
          <p:cNvPr id="17" name="Text 15"/>
          <p:cNvSpPr txBox="1"/>
          <p:nvPr/>
        </p:nvSpPr>
        <p:spPr>
          <a:xfrm>
            <a:off x="914400" y="5120640"/>
            <a:ext cx="10789920" cy="347472"/>
          </a:xfrm>
          <a:prstGeom prst="rect">
            <a:avLst/>
          </a:prstGeom>
          <a:noFill/>
          <a:ln/>
        </p:spPr>
        <p:txBody>
          <a:bodyPr wrap="square" lIns="0" tIns="0" rIns="0" bIns="0" rtlCol="0" anchor="ctr"/>
          <a:lstStyle/>
          <a:p>
            <a:pPr indent="0" marL="0">
              <a:buNone/>
            </a:pPr>
            <a:r>
              <a:rPr lang="en-US" sz="1500" dirty="0">
                <a:solidFill>
                  <a:srgbClr val="A9B2BE"/>
                </a:solidFill>
                <a:latin typeface="Arial" pitchFamily="34" charset="0"/>
                <a:ea typeface="Arial" pitchFamily="34" charset="-122"/>
                <a:cs typeface="Arial" pitchFamily="34" charset="-120"/>
              </a:rPr>
              <a:t>Fairness audit fails for the standard plan</a:t>
            </a:r>
            <a:endParaRPr lang="en-US" sz="1500" dirty="0"/>
          </a:p>
        </p:txBody>
      </p:sp>
      <p:sp>
        <p:nvSpPr>
          <p:cNvPr id="18" name="Shape 16"/>
          <p:cNvSpPr/>
          <p:nvPr/>
        </p:nvSpPr>
        <p:spPr>
          <a:xfrm>
            <a:off x="594360" y="5687568"/>
            <a:ext cx="128016" cy="128016"/>
          </a:xfrm>
          <a:prstGeom prst="ellipse">
            <a:avLst/>
          </a:prstGeom>
          <a:solidFill>
            <a:srgbClr val="3ED6C0"/>
          </a:solidFill>
          <a:ln w="12700">
            <a:solidFill>
              <a:srgbClr val="3ED6C0"/>
            </a:solidFill>
            <a:prstDash val="solid"/>
          </a:ln>
        </p:spPr>
      </p:sp>
      <p:sp>
        <p:nvSpPr>
          <p:cNvPr id="19" name="Text 17"/>
          <p:cNvSpPr txBox="1"/>
          <p:nvPr/>
        </p:nvSpPr>
        <p:spPr>
          <a:xfrm>
            <a:off x="914400" y="5577840"/>
            <a:ext cx="10789920" cy="347472"/>
          </a:xfrm>
          <a:prstGeom prst="rect">
            <a:avLst/>
          </a:prstGeom>
          <a:noFill/>
          <a:ln/>
        </p:spPr>
        <p:txBody>
          <a:bodyPr wrap="square" lIns="0" tIns="0" rIns="0" bIns="0" rtlCol="0" anchor="ctr"/>
          <a:lstStyle/>
          <a:p>
            <a:pPr indent="0" marL="0">
              <a:buNone/>
            </a:pPr>
            <a:r>
              <a:rPr lang="en-US" sz="1500" dirty="0">
                <a:solidFill>
                  <a:srgbClr val="A9B2BE"/>
                </a:solidFill>
                <a:latin typeface="Arial" pitchFamily="34" charset="0"/>
                <a:ea typeface="Arial" pitchFamily="34" charset="-122"/>
                <a:cs typeface="Arial" pitchFamily="34" charset="-120"/>
              </a:rPr>
              <a:t>Cost figures are placeholders; the cost audit recommends 0.43 over the F1-tuned 0.05</a:t>
            </a:r>
            <a:endParaRPr lang="en-US" sz="1500" dirty="0"/>
          </a:p>
        </p:txBody>
      </p:sp>
      <p:sp>
        <p:nvSpPr>
          <p:cNvPr id="20" name="Shape 18"/>
          <p:cNvSpPr/>
          <p:nvPr/>
        </p:nvSpPr>
        <p:spPr>
          <a:xfrm>
            <a:off x="594360" y="6144768"/>
            <a:ext cx="128016" cy="128016"/>
          </a:xfrm>
          <a:prstGeom prst="ellipse">
            <a:avLst/>
          </a:prstGeom>
          <a:solidFill>
            <a:srgbClr val="3ED6C0"/>
          </a:solidFill>
          <a:ln w="12700">
            <a:solidFill>
              <a:srgbClr val="3ED6C0"/>
            </a:solidFill>
            <a:prstDash val="solid"/>
          </a:ln>
        </p:spPr>
      </p:sp>
      <p:sp>
        <p:nvSpPr>
          <p:cNvPr id="21" name="Text 19"/>
          <p:cNvSpPr txBox="1"/>
          <p:nvPr/>
        </p:nvSpPr>
        <p:spPr>
          <a:xfrm>
            <a:off x="914400" y="6035040"/>
            <a:ext cx="10789920" cy="347472"/>
          </a:xfrm>
          <a:prstGeom prst="rect">
            <a:avLst/>
          </a:prstGeom>
          <a:noFill/>
          <a:ln/>
        </p:spPr>
        <p:txBody>
          <a:bodyPr wrap="square" lIns="0" tIns="0" rIns="0" bIns="0" rtlCol="0" anchor="ctr"/>
          <a:lstStyle/>
          <a:p>
            <a:pPr indent="0" marL="0">
              <a:buNone/>
            </a:pPr>
            <a:r>
              <a:rPr lang="en-US" sz="1500" dirty="0">
                <a:solidFill>
                  <a:srgbClr val="A9B2BE"/>
                </a:solidFill>
                <a:latin typeface="Arial" pitchFamily="34" charset="0"/>
                <a:ea typeface="Arial" pitchFamily="34" charset="-122"/>
                <a:cs typeface="Arial" pitchFamily="34" charset="-120"/>
              </a:rPr>
              <a:t>Runs on Docker locally: a 15 GB warehouse fits no free cloud tier</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090B"/>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1005840"/>
          </a:xfrm>
          <a:prstGeom prst="rect">
            <a:avLst/>
          </a:prstGeom>
          <a:noFill/>
          <a:ln/>
        </p:spPr>
        <p:txBody>
          <a:bodyPr wrap="square" lIns="0" tIns="0" rIns="0" bIns="0" rtlCol="0" anchor="ctr"/>
          <a:lstStyle/>
          <a:p>
            <a:pPr indent="0" marL="0">
              <a:buNone/>
            </a:pPr>
            <a:r>
              <a:rPr lang="en-US" sz="5400" dirty="0">
                <a:solidFill>
                  <a:srgbClr val="F4F6F8"/>
                </a:solidFill>
                <a:latin typeface="Georgia" pitchFamily="34" charset="0"/>
                <a:ea typeface="Georgia" pitchFamily="34" charset="-122"/>
                <a:cs typeface="Georgia" pitchFamily="34" charset="-120"/>
              </a:rPr>
              <a:t>Thank you</a:t>
            </a:r>
            <a:endParaRPr lang="en-US" sz="5400" dirty="0"/>
          </a:p>
        </p:txBody>
      </p:sp>
      <p:sp>
        <p:nvSpPr>
          <p:cNvPr id="3" name="Text 1"/>
          <p:cNvSpPr txBox="1"/>
          <p:nvPr/>
        </p:nvSpPr>
        <p:spPr>
          <a:xfrm>
            <a:off x="548640" y="2926080"/>
            <a:ext cx="5486400" cy="457200"/>
          </a:xfrm>
          <a:prstGeom prst="rect">
            <a:avLst/>
          </a:prstGeom>
          <a:noFill/>
          <a:ln/>
        </p:spPr>
        <p:txBody>
          <a:bodyPr wrap="square" lIns="0" tIns="0" rIns="0" bIns="0" rtlCol="0" anchor="ctr"/>
          <a:lstStyle/>
          <a:p>
            <a:pPr indent="0" marL="0">
              <a:buNone/>
            </a:pPr>
            <a:r>
              <a:rPr lang="en-US" sz="1400" b="1" spc="300" kern="0" dirty="0">
                <a:solidFill>
                  <a:srgbClr val="3ED6C0"/>
                </a:solidFill>
                <a:latin typeface="Arial" pitchFamily="34" charset="0"/>
                <a:ea typeface="Arial" pitchFamily="34" charset="-122"/>
                <a:cs typeface="Arial" pitchFamily="34" charset="-120"/>
              </a:rPr>
              <a:t>Next steps</a:t>
            </a:r>
            <a:endParaRPr lang="en-US" sz="1400" dirty="0"/>
          </a:p>
        </p:txBody>
      </p:sp>
      <p:sp>
        <p:nvSpPr>
          <p:cNvPr id="4" name="Shape 2"/>
          <p:cNvSpPr/>
          <p:nvPr/>
        </p:nvSpPr>
        <p:spPr>
          <a:xfrm>
            <a:off x="548640" y="3520440"/>
            <a:ext cx="384048" cy="384048"/>
          </a:xfrm>
          <a:prstGeom prst="ellipse">
            <a:avLst/>
          </a:prstGeom>
          <a:solidFill>
            <a:srgbClr val="123F3A"/>
          </a:solidFill>
          <a:ln w="15875">
            <a:solidFill>
              <a:srgbClr val="3ED6C0"/>
            </a:solidFill>
            <a:prstDash val="solid"/>
          </a:ln>
        </p:spPr>
      </p:sp>
      <p:sp>
        <p:nvSpPr>
          <p:cNvPr id="5" name="Text 3"/>
          <p:cNvSpPr txBox="1"/>
          <p:nvPr/>
        </p:nvSpPr>
        <p:spPr>
          <a:xfrm>
            <a:off x="548640" y="3520440"/>
            <a:ext cx="384048" cy="384048"/>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1</a:t>
            </a:r>
            <a:endParaRPr lang="en-US" sz="1400" dirty="0"/>
          </a:p>
        </p:txBody>
      </p:sp>
      <p:sp>
        <p:nvSpPr>
          <p:cNvPr id="6" name="Text 4"/>
          <p:cNvSpPr txBox="1"/>
          <p:nvPr/>
        </p:nvSpPr>
        <p:spPr>
          <a:xfrm>
            <a:off x="1143000" y="3520440"/>
            <a:ext cx="9144000" cy="384048"/>
          </a:xfrm>
          <a:prstGeom prst="rect">
            <a:avLst/>
          </a:prstGeom>
          <a:noFill/>
          <a:ln/>
        </p:spPr>
        <p:txBody>
          <a:bodyPr wrap="square" lIns="0" tIns="0" rIns="0" bIns="0" rtlCol="0" anchor="ctr"/>
          <a:lstStyle/>
          <a:p>
            <a:pPr indent="0" marL="0">
              <a:buNone/>
            </a:pPr>
            <a:r>
              <a:rPr lang="en-US" sz="1700" dirty="0">
                <a:solidFill>
                  <a:srgbClr val="A9B2BE"/>
                </a:solidFill>
                <a:latin typeface="Arial" pitchFamily="34" charset="0"/>
                <a:ea typeface="Arial" pitchFamily="34" charset="-122"/>
                <a:cs typeface="Arial" pitchFamily="34" charset="-120"/>
              </a:rPr>
              <a:t>Richer listening features from the full 392M-row logs</a:t>
            </a:r>
            <a:endParaRPr lang="en-US" sz="1700" dirty="0"/>
          </a:p>
        </p:txBody>
      </p:sp>
      <p:sp>
        <p:nvSpPr>
          <p:cNvPr id="7" name="Shape 5"/>
          <p:cNvSpPr/>
          <p:nvPr/>
        </p:nvSpPr>
        <p:spPr>
          <a:xfrm>
            <a:off x="548640" y="4160520"/>
            <a:ext cx="384048" cy="384048"/>
          </a:xfrm>
          <a:prstGeom prst="ellipse">
            <a:avLst/>
          </a:prstGeom>
          <a:solidFill>
            <a:srgbClr val="123F3A"/>
          </a:solidFill>
          <a:ln w="15875">
            <a:solidFill>
              <a:srgbClr val="3ED6C0"/>
            </a:solidFill>
            <a:prstDash val="solid"/>
          </a:ln>
        </p:spPr>
      </p:sp>
      <p:sp>
        <p:nvSpPr>
          <p:cNvPr id="8" name="Text 6"/>
          <p:cNvSpPr txBox="1"/>
          <p:nvPr/>
        </p:nvSpPr>
        <p:spPr>
          <a:xfrm>
            <a:off x="548640" y="4160520"/>
            <a:ext cx="384048" cy="384048"/>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2</a:t>
            </a:r>
            <a:endParaRPr lang="en-US" sz="1400" dirty="0"/>
          </a:p>
        </p:txBody>
      </p:sp>
      <p:sp>
        <p:nvSpPr>
          <p:cNvPr id="9" name="Text 7"/>
          <p:cNvSpPr txBox="1"/>
          <p:nvPr/>
        </p:nvSpPr>
        <p:spPr>
          <a:xfrm>
            <a:off x="1143000" y="4160520"/>
            <a:ext cx="9144000" cy="384048"/>
          </a:xfrm>
          <a:prstGeom prst="rect">
            <a:avLst/>
          </a:prstGeom>
          <a:noFill/>
          <a:ln/>
        </p:spPr>
        <p:txBody>
          <a:bodyPr wrap="square" lIns="0" tIns="0" rIns="0" bIns="0" rtlCol="0" anchor="ctr"/>
          <a:lstStyle/>
          <a:p>
            <a:pPr indent="0" marL="0">
              <a:buNone/>
            </a:pPr>
            <a:r>
              <a:rPr lang="en-US" sz="1700" dirty="0">
                <a:solidFill>
                  <a:srgbClr val="A9B2BE"/>
                </a:solidFill>
                <a:latin typeface="Arial" pitchFamily="34" charset="0"/>
                <a:ea typeface="Arial" pitchFamily="34" charset="-122"/>
                <a:cs typeface="Arial" pitchFamily="34" charset="-120"/>
              </a:rPr>
              <a:t>Real offer costs, so the threshold is set by money, not F1</a:t>
            </a:r>
            <a:endParaRPr lang="en-US" sz="1700" dirty="0"/>
          </a:p>
        </p:txBody>
      </p:sp>
      <p:sp>
        <p:nvSpPr>
          <p:cNvPr id="10" name="Shape 8"/>
          <p:cNvSpPr/>
          <p:nvPr/>
        </p:nvSpPr>
        <p:spPr>
          <a:xfrm>
            <a:off x="548640" y="4800600"/>
            <a:ext cx="384048" cy="384048"/>
          </a:xfrm>
          <a:prstGeom prst="ellipse">
            <a:avLst/>
          </a:prstGeom>
          <a:solidFill>
            <a:srgbClr val="123F3A"/>
          </a:solidFill>
          <a:ln w="15875">
            <a:solidFill>
              <a:srgbClr val="3ED6C0"/>
            </a:solidFill>
            <a:prstDash val="solid"/>
          </a:ln>
        </p:spPr>
      </p:sp>
      <p:sp>
        <p:nvSpPr>
          <p:cNvPr id="11" name="Text 9"/>
          <p:cNvSpPr txBox="1"/>
          <p:nvPr/>
        </p:nvSpPr>
        <p:spPr>
          <a:xfrm>
            <a:off x="548640" y="4800600"/>
            <a:ext cx="384048" cy="384048"/>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3</a:t>
            </a:r>
            <a:endParaRPr lang="en-US" sz="1400" dirty="0"/>
          </a:p>
        </p:txBody>
      </p:sp>
      <p:sp>
        <p:nvSpPr>
          <p:cNvPr id="12" name="Text 10"/>
          <p:cNvSpPr txBox="1"/>
          <p:nvPr/>
        </p:nvSpPr>
        <p:spPr>
          <a:xfrm>
            <a:off x="1143000" y="4800600"/>
            <a:ext cx="9144000" cy="384048"/>
          </a:xfrm>
          <a:prstGeom prst="rect">
            <a:avLst/>
          </a:prstGeom>
          <a:noFill/>
          <a:ln/>
        </p:spPr>
        <p:txBody>
          <a:bodyPr wrap="square" lIns="0" tIns="0" rIns="0" bIns="0" rtlCol="0" anchor="ctr"/>
          <a:lstStyle/>
          <a:p>
            <a:pPr indent="0" marL="0">
              <a:buNone/>
            </a:pPr>
            <a:r>
              <a:rPr lang="en-US" sz="1700" dirty="0">
                <a:solidFill>
                  <a:srgbClr val="A9B2BE"/>
                </a:solidFill>
                <a:latin typeface="Arial" pitchFamily="34" charset="0"/>
                <a:ea typeface="Arial" pitchFamily="34" charset="-122"/>
                <a:cs typeface="Arial" pitchFamily="34" charset="-120"/>
              </a:rPr>
              <a:t>The competition's churn definition, alongside ours</a:t>
            </a:r>
            <a:endParaRPr lang="en-US" sz="1700" dirty="0"/>
          </a:p>
        </p:txBody>
      </p:sp>
      <p:sp>
        <p:nvSpPr>
          <p:cNvPr id="13" name="Shape 11"/>
          <p:cNvSpPr/>
          <p:nvPr/>
        </p:nvSpPr>
        <p:spPr>
          <a:xfrm>
            <a:off x="548640" y="5440680"/>
            <a:ext cx="384048" cy="384048"/>
          </a:xfrm>
          <a:prstGeom prst="ellipse">
            <a:avLst/>
          </a:prstGeom>
          <a:solidFill>
            <a:srgbClr val="123F3A"/>
          </a:solidFill>
          <a:ln w="15875">
            <a:solidFill>
              <a:srgbClr val="3ED6C0"/>
            </a:solidFill>
            <a:prstDash val="solid"/>
          </a:ln>
        </p:spPr>
      </p:sp>
      <p:sp>
        <p:nvSpPr>
          <p:cNvPr id="14" name="Text 12"/>
          <p:cNvSpPr txBox="1"/>
          <p:nvPr/>
        </p:nvSpPr>
        <p:spPr>
          <a:xfrm>
            <a:off x="548640" y="5440680"/>
            <a:ext cx="384048" cy="384048"/>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4</a:t>
            </a:r>
            <a:endParaRPr lang="en-US" sz="1400" dirty="0"/>
          </a:p>
        </p:txBody>
      </p:sp>
      <p:sp>
        <p:nvSpPr>
          <p:cNvPr id="15" name="Text 13"/>
          <p:cNvSpPr txBox="1"/>
          <p:nvPr/>
        </p:nvSpPr>
        <p:spPr>
          <a:xfrm>
            <a:off x="1143000" y="5440680"/>
            <a:ext cx="9144000" cy="384048"/>
          </a:xfrm>
          <a:prstGeom prst="rect">
            <a:avLst/>
          </a:prstGeom>
          <a:noFill/>
          <a:ln/>
        </p:spPr>
        <p:txBody>
          <a:bodyPr wrap="square" lIns="0" tIns="0" rIns="0" bIns="0" rtlCol="0" anchor="ctr"/>
          <a:lstStyle/>
          <a:p>
            <a:pPr indent="0" marL="0">
              <a:buNone/>
            </a:pPr>
            <a:r>
              <a:rPr lang="en-US" sz="1700" dirty="0">
                <a:solidFill>
                  <a:srgbClr val="A9B2BE"/>
                </a:solidFill>
                <a:latin typeface="Arial" pitchFamily="34" charset="0"/>
                <a:ea typeface="Arial" pitchFamily="34" charset="-122"/>
                <a:cs typeface="Arial" pitchFamily="34" charset="-120"/>
              </a:rPr>
              <a:t>A managed Kubernetes deployment</a:t>
            </a:r>
            <a:endParaRPr lang="en-US" sz="1700" dirty="0"/>
          </a:p>
        </p:txBody>
      </p:sp>
      <p:sp>
        <p:nvSpPr>
          <p:cNvPr id="16" name="Text 14"/>
          <p:cNvSpPr txBox="1"/>
          <p:nvPr/>
        </p:nvSpPr>
        <p:spPr>
          <a:xfrm>
            <a:off x="548640" y="6172200"/>
            <a:ext cx="10972800" cy="320040"/>
          </a:xfrm>
          <a:prstGeom prst="rect">
            <a:avLst/>
          </a:prstGeom>
          <a:noFill/>
          <a:ln/>
        </p:spPr>
        <p:txBody>
          <a:bodyPr wrap="square" lIns="0" tIns="0" rIns="0" bIns="0" rtlCol="0" anchor="ctr"/>
          <a:lstStyle/>
          <a:p>
            <a:pPr indent="0" marL="0">
              <a:buNone/>
            </a:pPr>
            <a:r>
              <a:rPr lang="en-US" sz="1200" dirty="0">
                <a:solidFill>
                  <a:srgbClr val="7A8396"/>
                </a:solidFill>
                <a:latin typeface="Arial" pitchFamily="34" charset="0"/>
                <a:ea typeface="Arial" pitchFamily="34" charset="-122"/>
                <a:cs typeface="Arial" pitchFamily="34" charset="-120"/>
              </a:rPr>
              <a:t>github.com/markandeyavarma3-lab/subscriber-dropout-detection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090B"/>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100" b="1" spc="300" kern="0" dirty="0">
                <a:solidFill>
                  <a:srgbClr val="3ED6C0"/>
                </a:solidFill>
                <a:latin typeface="Arial" pitchFamily="34" charset="0"/>
                <a:ea typeface="Arial" pitchFamily="34" charset="-122"/>
                <a:cs typeface="Arial" pitchFamily="34" charset="-120"/>
              </a:rPr>
              <a:t>LIVE PIPELINE · RETRAIN, GATE, DEPLOY</a:t>
            </a:r>
            <a:endParaRPr lang="en-US" sz="1100" dirty="0"/>
          </a:p>
        </p:txBody>
      </p:sp>
      <p:sp>
        <p:nvSpPr>
          <p:cNvPr id="3" name="Text 1"/>
          <p:cNvSpPr txBox="1"/>
          <p:nvPr/>
        </p:nvSpPr>
        <p:spPr>
          <a:xfrm>
            <a:off x="548640" y="685800"/>
            <a:ext cx="11094415" cy="731520"/>
          </a:xfrm>
          <a:prstGeom prst="rect">
            <a:avLst/>
          </a:prstGeom>
          <a:noFill/>
          <a:ln/>
        </p:spPr>
        <p:txBody>
          <a:bodyPr wrap="square" lIns="0" tIns="0" rIns="0" bIns="0" rtlCol="0" anchor="ctr"/>
          <a:lstStyle/>
          <a:p>
            <a:pPr indent="0" marL="0">
              <a:buNone/>
            </a:pPr>
            <a:r>
              <a:rPr lang="en-US" sz="3200" dirty="0">
                <a:solidFill>
                  <a:srgbClr val="F4F6F8"/>
                </a:solidFill>
                <a:latin typeface="Georgia" pitchFamily="34" charset="0"/>
                <a:ea typeface="Georgia" pitchFamily="34" charset="-122"/>
                <a:cs typeface="Georgia" pitchFamily="34" charset="-120"/>
              </a:rPr>
              <a:t>Press Run: it retrains on real months</a:t>
            </a:r>
            <a:endParaRPr lang="en-US" sz="3200" dirty="0"/>
          </a:p>
        </p:txBody>
      </p:sp>
      <p:pic>
        <p:nvPicPr>
          <p:cNvPr id="4" name="Image 0" descr="Dashboard Overview: the live pipeline">    </p:cNvPr>
          <p:cNvPicPr>
            <a:picLocks noChangeAspect="1"/>
          </p:cNvPicPr>
          <p:nvPr/>
        </p:nvPicPr>
        <p:blipFill>
          <a:blip r:embed="rId1"/>
          <a:stretch>
            <a:fillRect/>
          </a:stretch>
        </p:blipFill>
        <p:spPr>
          <a:xfrm>
            <a:off x="548640" y="1691640"/>
            <a:ext cx="6309360" cy="4732020"/>
          </a:xfrm>
          <a:prstGeom prst="rect">
            <a:avLst/>
          </a:prstGeom>
        </p:spPr>
      </p:pic>
      <p:sp>
        <p:nvSpPr>
          <p:cNvPr id="5" name="Shape 2"/>
          <p:cNvSpPr/>
          <p:nvPr/>
        </p:nvSpPr>
        <p:spPr>
          <a:xfrm>
            <a:off x="7635240" y="1783080"/>
            <a:ext cx="420624" cy="420624"/>
          </a:xfrm>
          <a:prstGeom prst="ellipse">
            <a:avLst/>
          </a:prstGeom>
          <a:solidFill>
            <a:srgbClr val="123F3A"/>
          </a:solidFill>
          <a:ln w="15875">
            <a:solidFill>
              <a:srgbClr val="3ED6C0"/>
            </a:solidFill>
            <a:prstDash val="solid"/>
          </a:ln>
        </p:spPr>
      </p:sp>
      <p:sp>
        <p:nvSpPr>
          <p:cNvPr id="6" name="Text 3"/>
          <p:cNvSpPr txBox="1"/>
          <p:nvPr/>
        </p:nvSpPr>
        <p:spPr>
          <a:xfrm>
            <a:off x="7635240" y="1783080"/>
            <a:ext cx="420624" cy="420624"/>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1</a:t>
            </a:r>
            <a:endParaRPr lang="en-US" sz="1400" dirty="0"/>
          </a:p>
        </p:txBody>
      </p:sp>
      <p:sp>
        <p:nvSpPr>
          <p:cNvPr id="7" name="Text 4"/>
          <p:cNvSpPr txBox="1"/>
          <p:nvPr/>
        </p:nvSpPr>
        <p:spPr>
          <a:xfrm>
            <a:off x="8229600" y="1737360"/>
            <a:ext cx="3474720" cy="411480"/>
          </a:xfrm>
          <a:prstGeom prst="rect">
            <a:avLst/>
          </a:prstGeom>
          <a:noFill/>
          <a:ln/>
        </p:spPr>
        <p:txBody>
          <a:bodyPr wrap="square" lIns="0" tIns="0" rIns="0" bIns="0" rtlCol="0" anchor="ctr"/>
          <a:lstStyle/>
          <a:p>
            <a:pPr indent="0" marL="0">
              <a:buNone/>
            </a:pPr>
            <a:r>
              <a:rPr lang="en-US" sz="1600" b="1" dirty="0">
                <a:solidFill>
                  <a:srgbClr val="F4F6F8"/>
                </a:solidFill>
                <a:latin typeface="Arial" pitchFamily="34" charset="0"/>
                <a:ea typeface="Arial" pitchFamily="34" charset="-122"/>
                <a:cs typeface="Arial" pitchFamily="34" charset="-120"/>
              </a:rPr>
              <a:t>Real data, the real pipeline</a:t>
            </a:r>
            <a:endParaRPr lang="en-US" sz="1600" dirty="0"/>
          </a:p>
        </p:txBody>
      </p:sp>
      <p:sp>
        <p:nvSpPr>
          <p:cNvPr id="8" name="Text 5"/>
          <p:cNvSpPr txBox="1"/>
          <p:nvPr/>
        </p:nvSpPr>
        <p:spPr>
          <a:xfrm>
            <a:off x="8229600" y="2167128"/>
            <a:ext cx="3474720" cy="1005840"/>
          </a:xfrm>
          <a:prstGeom prst="rect">
            <a:avLst/>
          </a:prstGeom>
          <a:noFill/>
          <a:ln/>
        </p:spPr>
        <p:txBody>
          <a:bodyPr wrap="square" lIns="0" tIns="0" rIns="0" bIns="0" rtlCol="0" anchor="ctr"/>
          <a:lstStyle/>
          <a:p>
            <a:pPr indent="0" marL="0">
              <a:buNone/>
            </a:pPr>
            <a:r>
              <a:rPr lang="en-US" sz="1350" dirty="0">
                <a:solidFill>
                  <a:srgbClr val="A9B2BE"/>
                </a:solidFill>
                <a:latin typeface="Arial" pitchFamily="34" charset="0"/>
                <a:ea typeface="Arial" pitchFamily="34" charset="-122"/>
                <a:cs typeface="Arial" pitchFamily="34" charset="-120"/>
              </a:rPr>
              <a:t>one click replays three months of KKBox (Jan–Feb 2017) through features, validation, drift, training and evaluation</a:t>
            </a:r>
            <a:endParaRPr lang="en-US" sz="1350" dirty="0"/>
          </a:p>
        </p:txBody>
      </p:sp>
      <p:sp>
        <p:nvSpPr>
          <p:cNvPr id="9" name="Shape 6"/>
          <p:cNvSpPr/>
          <p:nvPr/>
        </p:nvSpPr>
        <p:spPr>
          <a:xfrm>
            <a:off x="7635240" y="3264408"/>
            <a:ext cx="420624" cy="420624"/>
          </a:xfrm>
          <a:prstGeom prst="ellipse">
            <a:avLst/>
          </a:prstGeom>
          <a:solidFill>
            <a:srgbClr val="123F3A"/>
          </a:solidFill>
          <a:ln w="15875">
            <a:solidFill>
              <a:srgbClr val="3ED6C0"/>
            </a:solidFill>
            <a:prstDash val="solid"/>
          </a:ln>
        </p:spPr>
      </p:sp>
      <p:sp>
        <p:nvSpPr>
          <p:cNvPr id="10" name="Text 7"/>
          <p:cNvSpPr txBox="1"/>
          <p:nvPr/>
        </p:nvSpPr>
        <p:spPr>
          <a:xfrm>
            <a:off x="7635240" y="3264408"/>
            <a:ext cx="420624" cy="420624"/>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2</a:t>
            </a:r>
            <a:endParaRPr lang="en-US" sz="1400" dirty="0"/>
          </a:p>
        </p:txBody>
      </p:sp>
      <p:sp>
        <p:nvSpPr>
          <p:cNvPr id="11" name="Text 8"/>
          <p:cNvSpPr txBox="1"/>
          <p:nvPr/>
        </p:nvSpPr>
        <p:spPr>
          <a:xfrm>
            <a:off x="8229600" y="3218688"/>
            <a:ext cx="3474720" cy="411480"/>
          </a:xfrm>
          <a:prstGeom prst="rect">
            <a:avLst/>
          </a:prstGeom>
          <a:noFill/>
          <a:ln/>
        </p:spPr>
        <p:txBody>
          <a:bodyPr wrap="square" lIns="0" tIns="0" rIns="0" bIns="0" rtlCol="0" anchor="ctr"/>
          <a:lstStyle/>
          <a:p>
            <a:pPr indent="0" marL="0">
              <a:buNone/>
            </a:pPr>
            <a:r>
              <a:rPr lang="en-US" sz="1600" b="1" dirty="0">
                <a:solidFill>
                  <a:srgbClr val="F4F6F8"/>
                </a:solidFill>
                <a:latin typeface="Arial" pitchFamily="34" charset="0"/>
                <a:ea typeface="Arial" pitchFamily="34" charset="-122"/>
                <a:cs typeface="Arial" pitchFamily="34" charset="-120"/>
              </a:rPr>
              <a:t>The gate decides, live</a:t>
            </a:r>
            <a:endParaRPr lang="en-US" sz="1600" dirty="0"/>
          </a:p>
        </p:txBody>
      </p:sp>
      <p:sp>
        <p:nvSpPr>
          <p:cNvPr id="12" name="Text 9"/>
          <p:cNvSpPr txBox="1"/>
          <p:nvPr/>
        </p:nvSpPr>
        <p:spPr>
          <a:xfrm>
            <a:off x="8229600" y="3648456"/>
            <a:ext cx="3474720" cy="1005840"/>
          </a:xfrm>
          <a:prstGeom prst="rect">
            <a:avLst/>
          </a:prstGeom>
          <a:noFill/>
          <a:ln/>
        </p:spPr>
        <p:txBody>
          <a:bodyPr wrap="square" lIns="0" tIns="0" rIns="0" bIns="0" rtlCol="0" anchor="ctr"/>
          <a:lstStyle/>
          <a:p>
            <a:pPr indent="0" marL="0">
              <a:buNone/>
            </a:pPr>
            <a:r>
              <a:rPr lang="en-US" sz="1350" dirty="0">
                <a:solidFill>
                  <a:srgbClr val="A9B2BE"/>
                </a:solidFill>
                <a:latin typeface="Arial" pitchFamily="34" charset="0"/>
                <a:ea typeface="Arial" pitchFamily="34" charset="-122"/>
                <a:cs typeface="Arial" pitchFamily="34" charset="-120"/>
              </a:rPr>
              <a:t>month 1 promoted; month 2 rejected (+0.0001, needs +0.005); month 3 promoted (0.0568 vs 0.0489)</a:t>
            </a:r>
            <a:endParaRPr lang="en-US" sz="1350" dirty="0"/>
          </a:p>
        </p:txBody>
      </p:sp>
      <p:sp>
        <p:nvSpPr>
          <p:cNvPr id="13" name="Shape 10"/>
          <p:cNvSpPr/>
          <p:nvPr/>
        </p:nvSpPr>
        <p:spPr>
          <a:xfrm>
            <a:off x="7635240" y="4745736"/>
            <a:ext cx="420624" cy="420624"/>
          </a:xfrm>
          <a:prstGeom prst="ellipse">
            <a:avLst/>
          </a:prstGeom>
          <a:solidFill>
            <a:srgbClr val="123F3A"/>
          </a:solidFill>
          <a:ln w="15875">
            <a:solidFill>
              <a:srgbClr val="3ED6C0"/>
            </a:solidFill>
            <a:prstDash val="solid"/>
          </a:ln>
        </p:spPr>
      </p:sp>
      <p:sp>
        <p:nvSpPr>
          <p:cNvPr id="14" name="Text 11"/>
          <p:cNvSpPr txBox="1"/>
          <p:nvPr/>
        </p:nvSpPr>
        <p:spPr>
          <a:xfrm>
            <a:off x="7635240" y="4745736"/>
            <a:ext cx="420624" cy="420624"/>
          </a:xfrm>
          <a:prstGeom prst="rect">
            <a:avLst/>
          </a:prstGeom>
          <a:noFill/>
          <a:ln/>
        </p:spPr>
        <p:txBody>
          <a:bodyPr wrap="square" lIns="0" tIns="0" rIns="0" bIns="0" rtlCol="0" anchor="ctr"/>
          <a:lstStyle/>
          <a:p>
            <a:pPr algn="ctr" indent="0" marL="0">
              <a:buNone/>
            </a:pPr>
            <a:r>
              <a:rPr lang="en-US" sz="1400" b="1" dirty="0">
                <a:solidFill>
                  <a:srgbClr val="3ED6C0"/>
                </a:solidFill>
                <a:latin typeface="Arial" pitchFamily="34" charset="0"/>
                <a:ea typeface="Arial" pitchFamily="34" charset="-122"/>
                <a:cs typeface="Arial" pitchFamily="34" charset="-120"/>
              </a:rPr>
              <a:t>3</a:t>
            </a:r>
            <a:endParaRPr lang="en-US" sz="1400" dirty="0"/>
          </a:p>
        </p:txBody>
      </p:sp>
      <p:sp>
        <p:nvSpPr>
          <p:cNvPr id="15" name="Text 12"/>
          <p:cNvSpPr txBox="1"/>
          <p:nvPr/>
        </p:nvSpPr>
        <p:spPr>
          <a:xfrm>
            <a:off x="8229600" y="4700016"/>
            <a:ext cx="3474720" cy="411480"/>
          </a:xfrm>
          <a:prstGeom prst="rect">
            <a:avLst/>
          </a:prstGeom>
          <a:noFill/>
          <a:ln/>
        </p:spPr>
        <p:txBody>
          <a:bodyPr wrap="square" lIns="0" tIns="0" rIns="0" bIns="0" rtlCol="0" anchor="ctr"/>
          <a:lstStyle/>
          <a:p>
            <a:pPr indent="0" marL="0">
              <a:buNone/>
            </a:pPr>
            <a:r>
              <a:rPr lang="en-US" sz="1600" b="1" dirty="0">
                <a:solidFill>
                  <a:srgbClr val="F4F6F8"/>
                </a:solidFill>
                <a:latin typeface="Arial" pitchFamily="34" charset="0"/>
                <a:ea typeface="Arial" pitchFamily="34" charset="-122"/>
                <a:cs typeface="Arial" pitchFamily="34" charset="-120"/>
              </a:rPr>
              <a:t>A win really deploys</a:t>
            </a:r>
            <a:endParaRPr lang="en-US" sz="1600" dirty="0"/>
          </a:p>
        </p:txBody>
      </p:sp>
      <p:sp>
        <p:nvSpPr>
          <p:cNvPr id="16" name="Text 13"/>
          <p:cNvSpPr txBox="1"/>
          <p:nvPr/>
        </p:nvSpPr>
        <p:spPr>
          <a:xfrm>
            <a:off x="8229600" y="5129784"/>
            <a:ext cx="3474720" cy="1005840"/>
          </a:xfrm>
          <a:prstGeom prst="rect">
            <a:avLst/>
          </a:prstGeom>
          <a:noFill/>
          <a:ln/>
        </p:spPr>
        <p:txBody>
          <a:bodyPr wrap="square" lIns="0" tIns="0" rIns="0" bIns="0" rtlCol="0" anchor="ctr"/>
          <a:lstStyle/>
          <a:p>
            <a:pPr indent="0" marL="0">
              <a:buNone/>
            </a:pPr>
            <a:r>
              <a:rPr lang="en-US" sz="1350" dirty="0">
                <a:solidFill>
                  <a:srgbClr val="A9B2BE"/>
                </a:solidFill>
                <a:latin typeface="Arial" pitchFamily="34" charset="0"/>
                <a:ea typeface="Arial" pitchFamily="34" charset="-122"/>
                <a:cs typeface="Arial" pitchFamily="34" charset="-120"/>
              </a:rPr>
              <a:t>the API hot-loads the new model and MLflow moves @champion. Restore puts the tested model back</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Subscriber Dropout Detection</dc:title>
  <dc:subject>PptxGenJS Presentation</dc:subject>
  <dc:creator>PptxGenJS</dc:creator>
  <cp:lastModifiedBy>PptxGenJS</cp:lastModifiedBy>
  <cp:revision>1</cp:revision>
  <dcterms:created xsi:type="dcterms:W3CDTF">2026-09-23T16:35:26Z</dcterms:created>
  <dcterms:modified xsi:type="dcterms:W3CDTF">2026-09-23T16:35:26Z</dcterms:modified>
</cp:coreProperties>
</file>